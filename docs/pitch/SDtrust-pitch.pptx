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e7807f90-629d-d86c-f2fa-57a645bbe65b}">
          <p14:sldIdLst>
            <p14:sldId id="256"/>
            <p14:sldId id="257"/>
          </p14:sldIdLst>
        </p14:section>
        <p14:section name="Solution" id="{f2420705-dd6e-0e25-3f60-d7ab178fe7a3}">
          <p14:sldIdLst>
            <p14:sldId id="258"/>
          </p14:sldIdLst>
        </p14:section>
        <p14:section name="Demo" id="{6d02414d-9cec-3ccf-e2de-abb5dd22d914}">
          <p14:sldIdLst>
            <p14:sldId id="259"/>
            <p14:sldId id="260"/>
            <p14:sldId id="261"/>
            <p14:sldId id="262"/>
          </p14:sldIdLst>
        </p14:section>
        <p14:section name="Call" id="{d6a85a07-5bb9-970b-85ee-1569dbdd7b1a}">
          <p14:sldIdLst>
            <p14:sldId id="263"/>
          </p14:sldIdLst>
        </p14:section>
        <p14:section name="Close" id="{67946816-167f-e07a-1b40-9254fb346def}">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21 October. Lotte is a payroll consultant at SD Worx. Her client Atlas calls: can we still submit a payroll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procedure says the 20th. A Teams meeting said the 23rd. Someone in chat says the 25th. None of them is right: the real answer is the 22nd, an exception Roy agreed with Atlas. It was never written down, it only lives in Roy's head. Lotte doesn't lack information, she has too much of it, and nothing tells her which version to trust. If she guesses wrong, real people get the wrong salary.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problem SD Worx asked us to solve: turn scattered knowledge into something people can trust, without anyone writing documentation. Our answer is SDtrust. It reads what your company already writes in Teams, mail, the CRM and procedures, decides which version to trust, and shows you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1: Meet Finn. It plays by itself with its own narration; stay quiet and click when it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2: Sebastien's clip 2 is not in docs/presentation/video yet. Rebuild the deck once it is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3: Sebastien's clip 3 is not in docs/presentation/video yet. Rebuild the deck once it is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4: Sebastien's clip 4 is not in docs/presentation/video yet. Rebuild the deck once it is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CALL. Roy stands up holding his phone as if he picks up.
On entering: the call rings for 2 seconds, then Finn speaks (audio plays by itself):
  FINN: Hi Roy, it's Finn. You own the Atlas account, so you're the one who knows. Until when can Atlas submit payroll changes this October? I can't find anything approved.
CLICK 1, Roy answers live, loud and clear:
  ROY: Hi Finn! Until the 22nd. I agreed it with Atlas, but I never put it in the CRM.
CLICK 2, Finn answers (audio):
  FINN: Got it. I'll update the CRM myself, and let Lotte know.
CLICK 3, Roy answers live:
  ROY: Thanks, Finn!
CLICK 4, the CRM card appears. PRESENTER: Roy never opened the CRM. Finn wrote the agreement there himself, so the next person who asks gets the 22nd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SDtrust: an answer you can trust, or an honest I don't know plus the right colleague. Zero unnecessary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jury and open for questions.
If asked how trust is scored: four factors. Authority: an approved statement from the owner beats a proposal or a chat message. Scope: valid for this country, client and period. Validity: superseded or expired versions lose. Agreement: conflicting sources lower trust, and when trust is too low Finn asks the owner.
If asked whether this is real: the desktop app, the answer and evidence screens and the trust display are built. Sources and the call are simulated with demo data. Connecting Teams, mail and the CRM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Dtrust Dark">
    <p:bg>
      <p:bgPr>
        <a:solidFill>
          <a:schemeClr val="tx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Dtrust Light">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09360"/>
            <a:ext cx="289560" cy="289560"/>
          </a:xfrm>
          <a:prstGeom prst="rect">
            <a:avLst/>
          </a:prstGeom>
        </p:spPr>
      </p:pic>
      <p:sp>
        <p:nvSpPr>
          <p:cNvPr id="3" name="Text 0"/>
          <p:cNvSpPr/>
          <p:nvPr/>
        </p:nvSpPr>
        <p:spPr>
          <a:xfrm>
            <a:off x="929640" y="6309360"/>
            <a:ext cx="5486400" cy="289560"/>
          </a:xfrm>
          <a:prstGeom prst="rect">
            <a:avLst/>
          </a:prstGeom>
          <a:noFill/>
          <a:ln/>
        </p:spPr>
        <p:txBody>
          <a:bodyPr wrap="square" lIns="0" tIns="0" rIns="0" bIns="0" rtlCol="0" anchor="ctr"/>
          <a:lstStyle/>
          <a:p>
            <a:pPr indent="0" marL="0">
              <a:buNone/>
            </a:pPr>
            <a:r>
              <a:rPr lang="en-US" sz="900" dirty="0">
                <a:solidFill>
                  <a:schemeClr val="accent6"/>
                </a:solidFill>
              </a:rPr>
              <a:t>SDtrust · Tectonic hackathon finals · SD Worx challenge</a:t>
            </a:r>
            <a:endParaRPr lang="en-US" sz="90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gif"/><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audio" Target="../media/media-8-4.mp3"/><Relationship Id="rId5" Type="http://schemas.microsoft.com/office/2007/relationships/media" Target="../media/media-8-4.mp3"/><Relationship Id="rId6" Type="http://schemas.openxmlformats.org/officeDocument/2006/relationships/image" Target="../media/image-8-6.png"/><Relationship Id="rId7" Type="http://schemas.openxmlformats.org/officeDocument/2006/relationships/audio" Target="../media/media-8-7.mp3"/><Relationship Id="rId8" Type="http://schemas.microsoft.com/office/2007/relationships/media" Target="../media/media-8-7.mp3"/><Relationship Id="rId9" Type="http://schemas.openxmlformats.org/officeDocument/2006/relationships/image" Target="../media/image-8-9.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gif"/><Relationship Id="rId2" Type="http://schemas.openxmlformats.org/officeDocument/2006/relationships/image" Target="../media/image-9-2.gif"/><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gif"/><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ate"/>
          <p:cNvSpPr txBox="1"/>
          <p:nvPr/>
        </p:nvSpPr>
        <p:spPr>
          <a:xfrm>
            <a:off x="731520" y="838200"/>
            <a:ext cx="6858000" cy="1066800"/>
          </a:xfrm>
          <a:prstGeom prst="rect">
            <a:avLst/>
          </a:prstGeom>
          <a:noFill/>
          <a:ln/>
        </p:spPr>
        <p:txBody>
          <a:bodyPr wrap="square" lIns="0" tIns="0" rIns="0" bIns="0" rtlCol="0" anchor="t"/>
          <a:lstStyle/>
          <a:p>
            <a:pPr indent="0" marL="0">
              <a:buNone/>
            </a:pPr>
            <a:r>
              <a:rPr lang="en-US" sz="7200" b="1" dirty="0">
                <a:solidFill>
                  <a:schemeClr val="accent1"/>
                </a:solidFill>
              </a:rPr>
              <a:t>21 October</a:t>
            </a:r>
            <a:endParaRPr lang="en-US" sz="7200" dirty="0"/>
          </a:p>
        </p:txBody>
      </p:sp>
      <p:sp>
        <p:nvSpPr>
          <p:cNvPr id="3" name="Lead"/>
          <p:cNvSpPr txBox="1"/>
          <p:nvPr/>
        </p:nvSpPr>
        <p:spPr>
          <a:xfrm>
            <a:off x="731520" y="2514600"/>
            <a:ext cx="6248400" cy="838200"/>
          </a:xfrm>
          <a:prstGeom prst="rect">
            <a:avLst/>
          </a:prstGeom>
          <a:noFill/>
          <a:ln/>
        </p:spPr>
        <p:txBody>
          <a:bodyPr wrap="square" lIns="0" tIns="0" rIns="0" bIns="0" rtlCol="0" anchor="t"/>
          <a:lstStyle/>
          <a:p>
            <a:pPr indent="0" marL="0">
              <a:buNone/>
            </a:pPr>
            <a:r>
              <a:rPr lang="en-US" sz="2160" dirty="0">
                <a:solidFill>
                  <a:schemeClr val="bg1"/>
                </a:solidFill>
              </a:rPr>
              <a:t>Lotte is a payroll consultant at SD Worx.</a:t>
            </a:r>
            <a:endParaRPr lang="en-US" sz="2160" dirty="0"/>
          </a:p>
          <a:p>
            <a:pPr indent="0" marL="0">
              <a:buNone/>
            </a:pPr>
            <a:r>
              <a:rPr lang="en-US" sz="2160" dirty="0">
                <a:solidFill>
                  <a:schemeClr val="bg1"/>
                </a:solidFill>
              </a:rPr>
              <a:t>Her client Atlas calls:</a:t>
            </a:r>
            <a:endParaRPr lang="en-US" sz="2160" dirty="0"/>
          </a:p>
        </p:txBody>
      </p:sp>
      <p:sp>
        <p:nvSpPr>
          <p:cNvPr id="4" name="Quote"/>
          <p:cNvSpPr/>
          <p:nvPr/>
        </p:nvSpPr>
        <p:spPr>
          <a:xfrm>
            <a:off x="731520" y="3794760"/>
            <a:ext cx="6035040" cy="1280160"/>
          </a:xfrm>
          <a:prstGeom prst="roundRect">
            <a:avLst>
              <a:gd name="adj" fmla="val 14286"/>
            </a:avLst>
          </a:prstGeom>
          <a:solidFill>
            <a:schemeClr val="tx1"/>
          </a:solidFill>
          <a:ln/>
        </p:spPr>
      </p:sp>
      <p:sp>
        <p:nvSpPr>
          <p:cNvPr id="5" name="Quote text"/>
          <p:cNvSpPr txBox="1"/>
          <p:nvPr/>
        </p:nvSpPr>
        <p:spPr>
          <a:xfrm>
            <a:off x="1051560" y="3794760"/>
            <a:ext cx="5486400" cy="1280160"/>
          </a:xfrm>
          <a:prstGeom prst="rect">
            <a:avLst/>
          </a:prstGeom>
          <a:noFill/>
          <a:ln/>
        </p:spPr>
        <p:txBody>
          <a:bodyPr wrap="square" lIns="0" tIns="0" rIns="0" bIns="0" rtlCol="0" anchor="ctr"/>
          <a:lstStyle/>
          <a:p>
            <a:pPr indent="0" marL="0">
              <a:buNone/>
            </a:pPr>
            <a:r>
              <a:rPr lang="en-US" sz="2280" b="1" i="1" dirty="0">
                <a:solidFill>
                  <a:schemeClr val="bg1"/>
                </a:solidFill>
              </a:rPr>
              <a:t>“Can we still submit a payroll change?”</a:t>
            </a:r>
            <a:endParaRPr lang="en-US" sz="2280" dirty="0"/>
          </a:p>
        </p:txBody>
      </p:sp>
      <p:sp>
        <p:nvSpPr>
          <p:cNvPr id="6" name="Halo"/>
          <p:cNvSpPr/>
          <p:nvPr/>
        </p:nvSpPr>
        <p:spPr>
          <a:xfrm>
            <a:off x="7635240" y="914400"/>
            <a:ext cx="3840480" cy="3840480"/>
          </a:xfrm>
          <a:prstGeom prst="ellipse">
            <a:avLst/>
          </a:prstGeom>
          <a:solidFill>
            <a:schemeClr val="tx1"/>
          </a:solidFill>
          <a:ln/>
        </p:spPr>
      </p:sp>
      <p:pic>
        <p:nvPicPr>
          <p:cNvPr id="7" name="Lotte puzzled" descr="/tmp/sdtrust-deck/gifs/lotte-puzzled.gif">    </p:cNvPr>
          <p:cNvPicPr>
            <a:picLocks noChangeAspect="1"/>
          </p:cNvPicPr>
          <p:nvPr/>
        </p:nvPicPr>
        <p:blipFill>
          <a:blip r:embed="rId1"/>
          <a:stretch>
            <a:fillRect/>
          </a:stretch>
        </p:blipFill>
        <p:spPr>
          <a:xfrm>
            <a:off x="8229600" y="685800"/>
            <a:ext cx="3177540" cy="5577840"/>
          </a:xfrm>
          <a:prstGeom prst="rect">
            <a:avLst/>
          </a:prstGeom>
        </p:spPr>
      </p:pic>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9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457200"/>
            <a:ext cx="10668000" cy="609600"/>
          </a:xfrm>
          <a:prstGeom prst="rect">
            <a:avLst/>
          </a:prstGeom>
          <a:noFill/>
          <a:ln/>
        </p:spPr>
        <p:txBody>
          <a:bodyPr wrap="square" lIns="0" tIns="0" rIns="0" bIns="0" rtlCol="0" anchor="t"/>
          <a:lstStyle/>
          <a:p>
            <a:pPr indent="0" marL="0">
              <a:buNone/>
            </a:pPr>
            <a:r>
              <a:rPr lang="en-US" sz="3240" b="1" dirty="0">
                <a:solidFill>
                  <a:schemeClr val="tx1"/>
                </a:solidFill>
              </a:rPr>
              <a:t>Three answers. None of them is right</a:t>
            </a:r>
            <a:endParaRPr lang="en-US" sz="3240" dirty="0"/>
          </a:p>
        </p:txBody>
      </p:sp>
      <p:sp>
        <p:nvSpPr>
          <p:cNvPr id="3" name="Sticky 20th"/>
          <p:cNvSpPr/>
          <p:nvPr/>
        </p:nvSpPr>
        <p:spPr>
          <a:xfrm rot="-180000">
            <a:off x="548640" y="1691640"/>
            <a:ext cx="2514600" cy="2514600"/>
          </a:xfrm>
          <a:prstGeom prst="rect">
            <a:avLst/>
          </a:prstGeom>
          <a:solidFill>
            <a:schemeClr val="accent2"/>
          </a:solidFill>
          <a:ln/>
          <a:effectLst>
            <a:outerShdw sx="100000" sy="100000" kx="0" ky="0" algn="bl" rotWithShape="0" blurRad="152400" dist="50800" dir="5400000">
              <a:srgbClr val="192D46">
                <a:alpha val="12000"/>
              </a:srgbClr>
            </a:outerShdw>
          </a:effectLst>
        </p:spPr>
        <p:txBody>
          <a:bodyPr wrap="square" lIns="76200" tIns="76200" rIns="76200" bIns="76200" rtlCol="0" anchor="ctr"/>
          <a:lstStyle/>
          <a:p>
            <a:pPr algn="ctr" indent="0" marL="0">
              <a:buNone/>
            </a:pPr>
            <a:r>
              <a:rPr lang="en-US" sz="5520" b="1" dirty="0">
                <a:solidFill>
                  <a:schemeClr val="tx1"/>
                </a:solidFill>
              </a:rPr>
              <a:t>20th</a:t>
            </a:r>
            <a:endParaRPr lang="en-US" sz="5520" dirty="0"/>
          </a:p>
          <a:p>
            <a:pPr algn="ctr" indent="0" marL="0">
              <a:buNone/>
            </a:pPr>
            <a:r>
              <a:rPr lang="en-US" sz="1300" b="1" dirty="0">
                <a:solidFill>
                  <a:schemeClr val="tx1"/>
                </a:solidFill>
              </a:rPr>
              <a:t>Procedure Belgium</a:t>
            </a:r>
            <a:endParaRPr lang="en-US" sz="5520" dirty="0"/>
          </a:p>
          <a:p>
            <a:pPr algn="ctr" indent="0" marL="0">
              <a:buNone/>
            </a:pPr>
            <a:r>
              <a:rPr lang="en-US" sz="1100" dirty="0">
                <a:solidFill>
                  <a:schemeClr val="tx1"/>
                </a:solidFill>
              </a:rPr>
              <a:t>General rule</a:t>
            </a:r>
            <a:endParaRPr lang="en-US" sz="5520" dirty="0"/>
          </a:p>
        </p:txBody>
      </p:sp>
      <p:sp>
        <p:nvSpPr>
          <p:cNvPr id="4" name="Sticky 23rd"/>
          <p:cNvSpPr/>
          <p:nvPr/>
        </p:nvSpPr>
        <p:spPr>
          <a:xfrm rot="120000">
            <a:off x="3429000" y="1691640"/>
            <a:ext cx="2514600" cy="2514600"/>
          </a:xfrm>
          <a:prstGeom prst="rect">
            <a:avLst/>
          </a:prstGeom>
          <a:solidFill>
            <a:schemeClr val="accent2"/>
          </a:solidFill>
          <a:ln/>
          <a:effectLst>
            <a:outerShdw sx="100000" sy="100000" kx="0" ky="0" algn="bl" rotWithShape="0" blurRad="152400" dist="50800" dir="5400000">
              <a:srgbClr val="192D46">
                <a:alpha val="12000"/>
              </a:srgbClr>
            </a:outerShdw>
          </a:effectLst>
        </p:spPr>
        <p:txBody>
          <a:bodyPr wrap="square" lIns="76200" tIns="76200" rIns="76200" bIns="76200" rtlCol="0" anchor="ctr"/>
          <a:lstStyle/>
          <a:p>
            <a:pPr algn="ctr" indent="0" marL="0">
              <a:buNone/>
            </a:pPr>
            <a:r>
              <a:rPr lang="en-US" sz="5520" b="1" dirty="0">
                <a:solidFill>
                  <a:schemeClr val="tx1"/>
                </a:solidFill>
              </a:rPr>
              <a:t>23rd</a:t>
            </a:r>
            <a:endParaRPr lang="en-US" sz="5520" dirty="0"/>
          </a:p>
          <a:p>
            <a:pPr algn="ctr" indent="0" marL="0">
              <a:buNone/>
            </a:pPr>
            <a:r>
              <a:rPr lang="en-US" sz="1300" b="1" dirty="0">
                <a:solidFill>
                  <a:schemeClr val="tx1"/>
                </a:solidFill>
              </a:rPr>
              <a:t>Atlas meeting</a:t>
            </a:r>
            <a:endParaRPr lang="en-US" sz="5520" dirty="0"/>
          </a:p>
          <a:p>
            <a:pPr algn="ctr" indent="0" marL="0">
              <a:buNone/>
            </a:pPr>
            <a:r>
              <a:rPr lang="en-US" sz="1100" dirty="0">
                <a:solidFill>
                  <a:schemeClr val="tx1"/>
                </a:solidFill>
              </a:rPr>
              <a:t>A proposal on the board</a:t>
            </a:r>
            <a:endParaRPr lang="en-US" sz="5520" dirty="0"/>
          </a:p>
        </p:txBody>
      </p:sp>
      <p:sp>
        <p:nvSpPr>
          <p:cNvPr id="5" name="Sticky 25th"/>
          <p:cNvSpPr/>
          <p:nvPr/>
        </p:nvSpPr>
        <p:spPr>
          <a:xfrm rot="-120000">
            <a:off x="6309360" y="1691640"/>
            <a:ext cx="2514600" cy="2514600"/>
          </a:xfrm>
          <a:prstGeom prst="rect">
            <a:avLst/>
          </a:prstGeom>
          <a:solidFill>
            <a:schemeClr val="accent2"/>
          </a:solidFill>
          <a:ln/>
          <a:effectLst>
            <a:outerShdw sx="100000" sy="100000" kx="0" ky="0" algn="bl" rotWithShape="0" blurRad="152400" dist="50800" dir="5400000">
              <a:srgbClr val="192D46">
                <a:alpha val="12000"/>
              </a:srgbClr>
            </a:outerShdw>
          </a:effectLst>
        </p:spPr>
        <p:txBody>
          <a:bodyPr wrap="square" lIns="76200" tIns="76200" rIns="76200" bIns="76200" rtlCol="0" anchor="ctr"/>
          <a:lstStyle/>
          <a:p>
            <a:pPr algn="ctr" indent="0" marL="0">
              <a:buNone/>
            </a:pPr>
            <a:r>
              <a:rPr lang="en-US" sz="5520" b="1" dirty="0">
                <a:solidFill>
                  <a:schemeClr val="tx1"/>
                </a:solidFill>
              </a:rPr>
              <a:t>25th</a:t>
            </a:r>
            <a:endParaRPr lang="en-US" sz="5520" dirty="0"/>
          </a:p>
          <a:p>
            <a:pPr algn="ctr" indent="0" marL="0">
              <a:buNone/>
            </a:pPr>
            <a:r>
              <a:rPr lang="en-US" sz="1300" b="1" dirty="0">
                <a:solidFill>
                  <a:schemeClr val="tx1"/>
                </a:solidFill>
              </a:rPr>
              <a:t>Teams chat</a:t>
            </a:r>
            <a:endParaRPr lang="en-US" sz="5520" dirty="0"/>
          </a:p>
          <a:p>
            <a:pPr algn="ctr" indent="0" marL="0">
              <a:buNone/>
            </a:pPr>
            <a:r>
              <a:rPr lang="en-US" sz="1100" dirty="0">
                <a:solidFill>
                  <a:schemeClr val="tx1"/>
                </a:solidFill>
              </a:rPr>
              <a:t>A question, no owner</a:t>
            </a:r>
            <a:endParaRPr lang="en-US" sz="5520" dirty="0"/>
          </a:p>
        </p:txBody>
      </p:sp>
      <p:sp>
        <p:nvSpPr>
          <p:cNvPr id="6" name="Hidden answer"/>
          <p:cNvSpPr/>
          <p:nvPr/>
        </p:nvSpPr>
        <p:spPr>
          <a:xfrm>
            <a:off x="9189720" y="1691640"/>
            <a:ext cx="2423160" cy="2514600"/>
          </a:xfrm>
          <a:prstGeom prst="roundRect">
            <a:avLst>
              <a:gd name="adj" fmla="val 5660"/>
            </a:avLst>
          </a:prstGeom>
          <a:solidFill>
            <a:schemeClr val="bg1"/>
          </a:solidFill>
          <a:ln w="19050">
            <a:solidFill>
              <a:srgbClr val="EE6558"/>
            </a:solidFill>
            <a:prstDash val="dash"/>
          </a:ln>
        </p:spPr>
        <p:txBody>
          <a:bodyPr wrap="square" lIns="76200" tIns="76200" rIns="76200" bIns="76200" rtlCol="0" anchor="ctr"/>
          <a:lstStyle/>
          <a:p>
            <a:pPr algn="ctr" indent="0" marL="0">
              <a:buNone/>
            </a:pPr>
            <a:r>
              <a:rPr lang="en-US" sz="5520" b="1" dirty="0">
                <a:solidFill>
                  <a:schemeClr val="accent6"/>
                </a:solidFill>
              </a:rPr>
              <a:t>22nd</a:t>
            </a:r>
            <a:endParaRPr lang="en-US" sz="5520" dirty="0"/>
          </a:p>
          <a:p>
            <a:pPr algn="ctr" indent="0" marL="0">
              <a:buNone/>
            </a:pPr>
            <a:r>
              <a:rPr lang="en-US" sz="1300" b="1" dirty="0">
                <a:solidFill>
                  <a:schemeClr val="tx1"/>
                </a:solidFill>
              </a:rPr>
              <a:t>Roy's agreement</a:t>
            </a:r>
            <a:endParaRPr lang="en-US" sz="5520" dirty="0"/>
          </a:p>
          <a:p>
            <a:pPr algn="ctr" indent="0" marL="0">
              <a:buNone/>
            </a:pPr>
            <a:r>
              <a:rPr lang="en-US" sz="1100" dirty="0">
                <a:solidFill>
                  <a:schemeClr val="accent6"/>
                </a:solidFill>
              </a:rPr>
              <a:t>Only in Roy's head</a:t>
            </a:r>
            <a:endParaRPr lang="en-US" sz="5520" dirty="0"/>
          </a:p>
        </p:txBody>
      </p:sp>
      <p:sp>
        <p:nvSpPr>
          <p:cNvPr id="7" name="Body"/>
          <p:cNvSpPr txBox="1"/>
          <p:nvPr/>
        </p:nvSpPr>
        <p:spPr>
          <a:xfrm>
            <a:off x="548640" y="4709160"/>
            <a:ext cx="8763000" cy="914400"/>
          </a:xfrm>
          <a:prstGeom prst="rect">
            <a:avLst/>
          </a:prstGeom>
          <a:noFill/>
          <a:ln/>
        </p:spPr>
        <p:txBody>
          <a:bodyPr wrap="square" lIns="0" tIns="0" rIns="0" bIns="0" rtlCol="0" anchor="t"/>
          <a:lstStyle/>
          <a:p>
            <a:pPr indent="0" marL="0">
              <a:buNone/>
            </a:pPr>
            <a:r>
              <a:rPr lang="en-US" sz="1560" b="1" dirty="0">
                <a:solidFill>
                  <a:schemeClr val="tx1"/>
                </a:solidFill>
              </a:rPr>
              <a:t>Lotte doesn't lack information. </a:t>
            </a:r>
            <a:pPr indent="0" marL="0">
              <a:buNone/>
            </a:pPr>
            <a:r>
              <a:rPr lang="en-US" sz="1560" dirty="0">
                <a:solidFill>
                  <a:schemeClr val="tx1"/>
                </a:solidFill>
              </a:rPr>
              <a:t>Nothing tells her which version to trust. Today she searches for 20 minutes and pings three colleagues. If she guesses wrong, real people get the wrong salary.</a:t>
            </a:r>
            <a:endParaRPr lang="en-US" sz="1560" dirty="0"/>
          </a:p>
        </p:txBody>
      </p:sp>
      <p:pic>
        <p:nvPicPr>
          <p:cNvPr id="8" name="Lotte shrug" descr="/tmp/sdtrust-deck/gifs/lotte-shrug.gif">    </p:cNvPr>
          <p:cNvPicPr>
            <a:picLocks noChangeAspect="1"/>
          </p:cNvPicPr>
          <p:nvPr/>
        </p:nvPicPr>
        <p:blipFill>
          <a:blip r:embed="rId1"/>
          <a:stretch>
            <a:fillRect/>
          </a:stretch>
        </p:blipFill>
        <p:spPr>
          <a:xfrm>
            <a:off x="9906000" y="4373880"/>
            <a:ext cx="1379220" cy="2286000"/>
          </a:xfrm>
          <a:prstGeom prst="rect">
            <a:avLst/>
          </a:prstGeom>
        </p:spPr>
      </p:pic>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15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600" fill="hold"/>
                                        <p:tgtEl>
                                          <p:spTgt spid="3"/>
                                        </p:tgtEl>
                                        <p:attrNameLst>
                                          <p:attrName>ppt_x</p:attrName>
                                        </p:attrNameLst>
                                      </p:cBhvr>
                                      <p:tavLst>
                                        <p:tav tm="0">
                                          <p:val>
                                            <p:strVal val="#ppt_x"/>
                                          </p:val>
                                        </p:tav>
                                        <p:tav tm="100000">
                                          <p:val>
                                            <p:strVal val="#ppt_x"/>
                                          </p:val>
                                        </p:tav>
                                      </p:tavLst>
                                    </p:anim>
                                    <p:anim calcmode="lin" valueType="num">
                                      <p:cBhvr additive="base">
                                        <p:cTn id="8" dur="6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45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600" fill="hold"/>
                                        <p:tgtEl>
                                          <p:spTgt spid="4"/>
                                        </p:tgtEl>
                                        <p:attrNameLst>
                                          <p:attrName>ppt_x</p:attrName>
                                        </p:attrNameLst>
                                      </p:cBhvr>
                                      <p:tavLst>
                                        <p:tav tm="0">
                                          <p:val>
                                            <p:strVal val="#ppt_x"/>
                                          </p:val>
                                        </p:tav>
                                        <p:tav tm="100000">
                                          <p:val>
                                            <p:strVal val="#ppt_x"/>
                                          </p:val>
                                        </p:tav>
                                      </p:tavLst>
                                    </p:anim>
                                    <p:anim calcmode="lin" valueType="num">
                                      <p:cBhvr additive="base">
                                        <p:cTn id="12" dur="600" fill="hold"/>
                                        <p:tgtEl>
                                          <p:spTgt spid="4"/>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75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600" fill="hold"/>
                                        <p:tgtEl>
                                          <p:spTgt spid="5"/>
                                        </p:tgtEl>
                                        <p:attrNameLst>
                                          <p:attrName>ppt_x</p:attrName>
                                        </p:attrNameLst>
                                      </p:cBhvr>
                                      <p:tavLst>
                                        <p:tav tm="0">
                                          <p:val>
                                            <p:strVal val="#ppt_x"/>
                                          </p:val>
                                        </p:tav>
                                        <p:tav tm="100000">
                                          <p:val>
                                            <p:strVal val="#ppt_x"/>
                                          </p:val>
                                        </p:tav>
                                      </p:tavLst>
                                    </p:anim>
                                    <p:anim calcmode="lin" valueType="num">
                                      <p:cBhvr additive="base">
                                        <p:cTn id="16" dur="600" fill="hold"/>
                                        <p:tgtEl>
                                          <p:spTgt spid="5"/>
                                        </p:tgtEl>
                                        <p:attrNameLst>
                                          <p:attrName>ppt_y</p:attrName>
                                        </p:attrNameLst>
                                      </p:cBhvr>
                                      <p:tavLst>
                                        <p:tav tm="0">
                                          <p:val>
                                            <p:strVal val="0-#ppt_h/2"/>
                                          </p:val>
                                        </p:tav>
                                        <p:tav tm="100000">
                                          <p:val>
                                            <p:strVal val="#ppt_y"/>
                                          </p:val>
                                        </p:tav>
                                      </p:tavLst>
                                    </p:anim>
                                  </p:childTnLst>
                                </p:cTn>
                              </p:par>
                              <p:par>
                                <p:cTn id="17" presetID="10" presetClass="entr" presetSubtype="0" fill="hold" grpId="0" nodeType="withEffect">
                                  <p:stCondLst>
                                    <p:cond delay="12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700"/>
                                        <p:tgtEl>
                                          <p:spTgt spid="8"/>
                                        </p:tgtEl>
                                      </p:cBhvr>
                                    </p:animEffect>
                                  </p:childTnLst>
                                </p:cTn>
                              </p:par>
                              <p:par>
                                <p:cTn id="20" presetID="10" presetClass="entr" presetSubtype="0" fill="hold" grpId="0" nodeType="withEffect">
                                  <p:stCondLst>
                                    <p:cond delay="17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731520" y="1143000"/>
            <a:ext cx="4572000" cy="228600"/>
          </a:xfrm>
          <a:prstGeom prst="rect">
            <a:avLst/>
          </a:prstGeom>
          <a:noFill/>
          <a:ln/>
        </p:spPr>
        <p:txBody>
          <a:bodyPr wrap="square" lIns="0" tIns="0" rIns="0" bIns="0" rtlCol="0" anchor="t"/>
          <a:lstStyle/>
          <a:p>
            <a:pPr indent="0" marL="0">
              <a:buNone/>
            </a:pPr>
            <a:r>
              <a:rPr lang="en-US" sz="1080" b="1" spc="300" kern="0" dirty="0">
                <a:solidFill>
                  <a:schemeClr val="accent2"/>
                </a:solidFill>
              </a:rPr>
              <a:t>THE SOLUTION</a:t>
            </a:r>
            <a:endParaRPr lang="en-US" sz="1080" dirty="0"/>
          </a:p>
        </p:txBody>
      </p:sp>
      <p:pic>
        <p:nvPicPr>
          <p:cNvPr id="3" name="Logo" descr="preencoded.png">    </p:cNvPr>
          <p:cNvPicPr>
            <a:picLocks noChangeAspect="1"/>
          </p:cNvPicPr>
          <p:nvPr/>
        </p:nvPicPr>
        <p:blipFill>
          <a:blip r:embed="rId1"/>
          <a:stretch>
            <a:fillRect/>
          </a:stretch>
        </p:blipFill>
        <p:spPr>
          <a:xfrm>
            <a:off x="731520" y="1493520"/>
            <a:ext cx="822960" cy="822960"/>
          </a:xfrm>
          <a:prstGeom prst="rect">
            <a:avLst/>
          </a:prstGeom>
        </p:spPr>
      </p:pic>
      <p:sp>
        <p:nvSpPr>
          <p:cNvPr id="4" name="Brand"/>
          <p:cNvSpPr txBox="1"/>
          <p:nvPr/>
        </p:nvSpPr>
        <p:spPr>
          <a:xfrm>
            <a:off x="1722120" y="1493520"/>
            <a:ext cx="4572000" cy="822960"/>
          </a:xfrm>
          <a:prstGeom prst="rect">
            <a:avLst/>
          </a:prstGeom>
          <a:noFill/>
          <a:ln/>
        </p:spPr>
        <p:txBody>
          <a:bodyPr wrap="square" lIns="0" tIns="0" rIns="0" bIns="0" rtlCol="0" anchor="ctr"/>
          <a:lstStyle/>
          <a:p>
            <a:pPr indent="0" marL="0">
              <a:buNone/>
            </a:pPr>
            <a:r>
              <a:rPr lang="en-US" sz="4560" b="1" dirty="0">
                <a:solidFill>
                  <a:schemeClr val="bg1"/>
                </a:solidFill>
              </a:rPr>
              <a:t>SDtrust</a:t>
            </a:r>
            <a:endParaRPr lang="en-US" sz="4560" dirty="0"/>
          </a:p>
        </p:txBody>
      </p:sp>
      <p:sp>
        <p:nvSpPr>
          <p:cNvPr id="5" name="Lead"/>
          <p:cNvSpPr txBox="1"/>
          <p:nvPr/>
        </p:nvSpPr>
        <p:spPr>
          <a:xfrm>
            <a:off x="731520" y="2667000"/>
            <a:ext cx="5791200" cy="838200"/>
          </a:xfrm>
          <a:prstGeom prst="rect">
            <a:avLst/>
          </a:prstGeom>
          <a:noFill/>
          <a:ln/>
        </p:spPr>
        <p:txBody>
          <a:bodyPr wrap="square" lIns="0" tIns="0" rIns="0" bIns="0" rtlCol="0" anchor="t"/>
          <a:lstStyle/>
          <a:p>
            <a:pPr indent="0" marL="0">
              <a:buNone/>
            </a:pPr>
            <a:r>
              <a:rPr lang="en-US" sz="2160" dirty="0">
                <a:solidFill>
                  <a:schemeClr val="bg1"/>
                </a:solidFill>
              </a:rPr>
              <a:t>Knowledge you can trust,</a:t>
            </a:r>
            <a:endParaRPr lang="en-US" sz="2160" dirty="0"/>
          </a:p>
          <a:p>
            <a:pPr indent="0" marL="0">
              <a:buNone/>
            </a:pPr>
            <a:r>
              <a:rPr lang="en-US" sz="2160" dirty="0">
                <a:solidFill>
                  <a:schemeClr val="bg1"/>
                </a:solidFill>
              </a:rPr>
              <a:t>without anyone writing it down</a:t>
            </a:r>
            <a:endParaRPr lang="en-US" sz="2160" dirty="0"/>
          </a:p>
        </p:txBody>
      </p:sp>
      <p:sp>
        <p:nvSpPr>
          <p:cNvPr id="6" name="Body"/>
          <p:cNvSpPr txBox="1"/>
          <p:nvPr/>
        </p:nvSpPr>
        <p:spPr>
          <a:xfrm>
            <a:off x="731520" y="3794760"/>
            <a:ext cx="5334000" cy="609600"/>
          </a:xfrm>
          <a:prstGeom prst="rect">
            <a:avLst/>
          </a:prstGeom>
          <a:noFill/>
          <a:ln/>
        </p:spPr>
        <p:txBody>
          <a:bodyPr wrap="square" lIns="0" tIns="0" rIns="0" bIns="0" rtlCol="0" anchor="t"/>
          <a:lstStyle/>
          <a:p>
            <a:pPr indent="0" marL="0">
              <a:buNone/>
            </a:pPr>
            <a:r>
              <a:rPr lang="en-US" sz="1440" dirty="0">
                <a:solidFill>
                  <a:srgbClr val="C8D2DF"/>
                </a:solidFill>
              </a:rPr>
              <a:t>SDtrust reads what your company already writes, decides which version to trust, and shows you why.</a:t>
            </a:r>
            <a:endParaRPr lang="en-US" sz="1440" dirty="0"/>
          </a:p>
        </p:txBody>
      </p:sp>
      <p:sp>
        <p:nvSpPr>
          <p:cNvPr id="7" name="Team"/>
          <p:cNvSpPr txBox="1"/>
          <p:nvPr/>
        </p:nvSpPr>
        <p:spPr>
          <a:xfrm>
            <a:off x="731520" y="5334000"/>
            <a:ext cx="5334000" cy="228600"/>
          </a:xfrm>
          <a:prstGeom prst="rect">
            <a:avLst/>
          </a:prstGeom>
          <a:noFill/>
          <a:ln/>
        </p:spPr>
        <p:txBody>
          <a:bodyPr wrap="square" lIns="0" tIns="0" rIns="0" bIns="0" rtlCol="0" anchor="t"/>
          <a:lstStyle/>
          <a:p>
            <a:pPr indent="0" marL="0">
              <a:buNone/>
            </a:pPr>
            <a:r>
              <a:rPr lang="en-US" sz="1200" b="1" dirty="0">
                <a:solidFill>
                  <a:schemeClr val="accent2"/>
                </a:solidFill>
              </a:rPr>
              <a:t>Sebastien · Roy · Wanne</a:t>
            </a:r>
            <a:endParaRPr lang="en-US" sz="1200" dirty="0"/>
          </a:p>
        </p:txBody>
      </p:sp>
      <p:sp>
        <p:nvSpPr>
          <p:cNvPr id="8" name="Meta"/>
          <p:cNvSpPr txBox="1"/>
          <p:nvPr/>
        </p:nvSpPr>
        <p:spPr>
          <a:xfrm>
            <a:off x="731520" y="5654040"/>
            <a:ext cx="6096000" cy="228600"/>
          </a:xfrm>
          <a:prstGeom prst="rect">
            <a:avLst/>
          </a:prstGeom>
          <a:noFill/>
          <a:ln/>
        </p:spPr>
        <p:txBody>
          <a:bodyPr wrap="square" lIns="0" tIns="0" rIns="0" bIns="0" rtlCol="0" anchor="t"/>
          <a:lstStyle/>
          <a:p>
            <a:pPr indent="0" marL="0">
              <a:buNone/>
            </a:pPr>
            <a:r>
              <a:rPr lang="en-US" sz="1020" dirty="0">
                <a:solidFill>
                  <a:schemeClr val="bg2"/>
                </a:solidFill>
              </a:rPr>
              <a:t>Tectonic hackathon finals · SD Worx challenge · 20 October 2026</a:t>
            </a:r>
            <a:endParaRPr lang="en-US" sz="1020" dirty="0"/>
          </a:p>
        </p:txBody>
      </p:sp>
      <p:sp>
        <p:nvSpPr>
          <p:cNvPr id="9" name="Source Teams"/>
          <p:cNvSpPr/>
          <p:nvPr/>
        </p:nvSpPr>
        <p:spPr>
          <a:xfrm>
            <a:off x="6858000" y="1645920"/>
            <a:ext cx="1752600" cy="548640"/>
          </a:xfrm>
          <a:prstGeom prst="roundRect">
            <a:avLst>
              <a:gd name="adj" fmla="val 25000"/>
            </a:avLst>
          </a:prstGeom>
          <a:solidFill>
            <a:schemeClr val="tx1"/>
          </a:solidFill>
          <a:ln/>
        </p:spPr>
      </p:sp>
      <p:pic>
        <p:nvPicPr>
          <p:cNvPr id="10" name="Source icon Teams" descr="preencoded.png">    </p:cNvPr>
          <p:cNvPicPr>
            <a:picLocks noChangeAspect="1"/>
          </p:cNvPicPr>
          <p:nvPr/>
        </p:nvPicPr>
        <p:blipFill>
          <a:blip r:embed="rId2"/>
          <a:stretch>
            <a:fillRect/>
          </a:stretch>
        </p:blipFill>
        <p:spPr>
          <a:xfrm>
            <a:off x="7025640" y="1805940"/>
            <a:ext cx="228600" cy="228600"/>
          </a:xfrm>
          <a:prstGeom prst="rect">
            <a:avLst/>
          </a:prstGeom>
        </p:spPr>
      </p:pic>
      <p:sp>
        <p:nvSpPr>
          <p:cNvPr id="11" name="Source label Teams"/>
          <p:cNvSpPr txBox="1"/>
          <p:nvPr/>
        </p:nvSpPr>
        <p:spPr>
          <a:xfrm>
            <a:off x="7376160" y="1645920"/>
            <a:ext cx="1143000" cy="548640"/>
          </a:xfrm>
          <a:prstGeom prst="rect">
            <a:avLst/>
          </a:prstGeom>
          <a:noFill/>
          <a:ln/>
        </p:spPr>
        <p:txBody>
          <a:bodyPr wrap="square" lIns="0" tIns="0" rIns="0" bIns="0" rtlCol="0" anchor="ctr"/>
          <a:lstStyle/>
          <a:p>
            <a:pPr indent="0" marL="0">
              <a:buNone/>
            </a:pPr>
            <a:r>
              <a:rPr lang="en-US" sz="1320" b="1" dirty="0">
                <a:solidFill>
                  <a:schemeClr val="bg1"/>
                </a:solidFill>
              </a:rPr>
              <a:t>Teams</a:t>
            </a:r>
            <a:endParaRPr lang="en-US" sz="1320" dirty="0"/>
          </a:p>
        </p:txBody>
      </p:sp>
      <p:sp>
        <p:nvSpPr>
          <p:cNvPr id="12" name="Flow Teams"/>
          <p:cNvSpPr/>
          <p:nvPr/>
        </p:nvSpPr>
        <p:spPr>
          <a:xfrm>
            <a:off x="8610600" y="1920240"/>
            <a:ext cx="1066800" cy="1280160"/>
          </a:xfrm>
          <a:prstGeom prst="line">
            <a:avLst/>
          </a:prstGeom>
          <a:noFill/>
          <a:ln w="19050">
            <a:solidFill>
              <a:srgbClr val="5F6F85"/>
            </a:solidFill>
            <a:prstDash val="dash"/>
          </a:ln>
        </p:spPr>
      </p:sp>
      <p:sp>
        <p:nvSpPr>
          <p:cNvPr id="13" name="Source Mail"/>
          <p:cNvSpPr/>
          <p:nvPr/>
        </p:nvSpPr>
        <p:spPr>
          <a:xfrm>
            <a:off x="6858000" y="2468880"/>
            <a:ext cx="1752600" cy="548640"/>
          </a:xfrm>
          <a:prstGeom prst="roundRect">
            <a:avLst>
              <a:gd name="adj" fmla="val 25000"/>
            </a:avLst>
          </a:prstGeom>
          <a:solidFill>
            <a:schemeClr val="tx1"/>
          </a:solidFill>
          <a:ln/>
        </p:spPr>
      </p:sp>
      <p:pic>
        <p:nvPicPr>
          <p:cNvPr id="14" name="Source icon Mail" descr="preencoded.png">    </p:cNvPr>
          <p:cNvPicPr>
            <a:picLocks noChangeAspect="1"/>
          </p:cNvPicPr>
          <p:nvPr/>
        </p:nvPicPr>
        <p:blipFill>
          <a:blip r:embed="rId3"/>
          <a:stretch>
            <a:fillRect/>
          </a:stretch>
        </p:blipFill>
        <p:spPr>
          <a:xfrm>
            <a:off x="7025640" y="2628900"/>
            <a:ext cx="228600" cy="228600"/>
          </a:xfrm>
          <a:prstGeom prst="rect">
            <a:avLst/>
          </a:prstGeom>
        </p:spPr>
      </p:pic>
      <p:sp>
        <p:nvSpPr>
          <p:cNvPr id="15" name="Source label Mail"/>
          <p:cNvSpPr txBox="1"/>
          <p:nvPr/>
        </p:nvSpPr>
        <p:spPr>
          <a:xfrm>
            <a:off x="7376160" y="2468880"/>
            <a:ext cx="1143000" cy="548640"/>
          </a:xfrm>
          <a:prstGeom prst="rect">
            <a:avLst/>
          </a:prstGeom>
          <a:noFill/>
          <a:ln/>
        </p:spPr>
        <p:txBody>
          <a:bodyPr wrap="square" lIns="0" tIns="0" rIns="0" bIns="0" rtlCol="0" anchor="ctr"/>
          <a:lstStyle/>
          <a:p>
            <a:pPr indent="0" marL="0">
              <a:buNone/>
            </a:pPr>
            <a:r>
              <a:rPr lang="en-US" sz="1320" b="1" dirty="0">
                <a:solidFill>
                  <a:schemeClr val="bg1"/>
                </a:solidFill>
              </a:rPr>
              <a:t>Mail</a:t>
            </a:r>
            <a:endParaRPr lang="en-US" sz="1320" dirty="0"/>
          </a:p>
        </p:txBody>
      </p:sp>
      <p:sp>
        <p:nvSpPr>
          <p:cNvPr id="16" name="Flow Mail"/>
          <p:cNvSpPr/>
          <p:nvPr/>
        </p:nvSpPr>
        <p:spPr>
          <a:xfrm>
            <a:off x="8610600" y="2743200"/>
            <a:ext cx="1066800" cy="457200"/>
          </a:xfrm>
          <a:prstGeom prst="line">
            <a:avLst/>
          </a:prstGeom>
          <a:noFill/>
          <a:ln w="19050">
            <a:solidFill>
              <a:srgbClr val="5F6F85"/>
            </a:solidFill>
            <a:prstDash val="dash"/>
          </a:ln>
        </p:spPr>
      </p:sp>
      <p:sp>
        <p:nvSpPr>
          <p:cNvPr id="17" name="Source CRM"/>
          <p:cNvSpPr/>
          <p:nvPr/>
        </p:nvSpPr>
        <p:spPr>
          <a:xfrm>
            <a:off x="6858000" y="3291840"/>
            <a:ext cx="1752600" cy="548640"/>
          </a:xfrm>
          <a:prstGeom prst="roundRect">
            <a:avLst>
              <a:gd name="adj" fmla="val 25000"/>
            </a:avLst>
          </a:prstGeom>
          <a:solidFill>
            <a:schemeClr val="tx1"/>
          </a:solidFill>
          <a:ln/>
        </p:spPr>
      </p:sp>
      <p:pic>
        <p:nvPicPr>
          <p:cNvPr id="18" name="Source icon CRM" descr="preencoded.png">    </p:cNvPr>
          <p:cNvPicPr>
            <a:picLocks noChangeAspect="1"/>
          </p:cNvPicPr>
          <p:nvPr/>
        </p:nvPicPr>
        <p:blipFill>
          <a:blip r:embed="rId4"/>
          <a:stretch>
            <a:fillRect/>
          </a:stretch>
        </p:blipFill>
        <p:spPr>
          <a:xfrm>
            <a:off x="7025640" y="3451860"/>
            <a:ext cx="228600" cy="228600"/>
          </a:xfrm>
          <a:prstGeom prst="rect">
            <a:avLst/>
          </a:prstGeom>
        </p:spPr>
      </p:pic>
      <p:sp>
        <p:nvSpPr>
          <p:cNvPr id="19" name="Source label CRM"/>
          <p:cNvSpPr txBox="1"/>
          <p:nvPr/>
        </p:nvSpPr>
        <p:spPr>
          <a:xfrm>
            <a:off x="7376160" y="3291840"/>
            <a:ext cx="1143000" cy="548640"/>
          </a:xfrm>
          <a:prstGeom prst="rect">
            <a:avLst/>
          </a:prstGeom>
          <a:noFill/>
          <a:ln/>
        </p:spPr>
        <p:txBody>
          <a:bodyPr wrap="square" lIns="0" tIns="0" rIns="0" bIns="0" rtlCol="0" anchor="ctr"/>
          <a:lstStyle/>
          <a:p>
            <a:pPr indent="0" marL="0">
              <a:buNone/>
            </a:pPr>
            <a:r>
              <a:rPr lang="en-US" sz="1320" b="1" dirty="0">
                <a:solidFill>
                  <a:schemeClr val="bg1"/>
                </a:solidFill>
              </a:rPr>
              <a:t>CRM</a:t>
            </a:r>
            <a:endParaRPr lang="en-US" sz="1320" dirty="0"/>
          </a:p>
        </p:txBody>
      </p:sp>
      <p:sp>
        <p:nvSpPr>
          <p:cNvPr id="20" name="Flow CRM"/>
          <p:cNvSpPr/>
          <p:nvPr/>
        </p:nvSpPr>
        <p:spPr>
          <a:xfrm flipV="1">
            <a:off x="8610600" y="3200400"/>
            <a:ext cx="1066800" cy="365760"/>
          </a:xfrm>
          <a:prstGeom prst="line">
            <a:avLst/>
          </a:prstGeom>
          <a:noFill/>
          <a:ln w="19050">
            <a:solidFill>
              <a:srgbClr val="5F6F85"/>
            </a:solidFill>
            <a:prstDash val="dash"/>
          </a:ln>
        </p:spPr>
      </p:sp>
      <p:sp>
        <p:nvSpPr>
          <p:cNvPr id="21" name="Source Procedures"/>
          <p:cNvSpPr/>
          <p:nvPr/>
        </p:nvSpPr>
        <p:spPr>
          <a:xfrm>
            <a:off x="6858000" y="4114800"/>
            <a:ext cx="1752600" cy="548640"/>
          </a:xfrm>
          <a:prstGeom prst="roundRect">
            <a:avLst>
              <a:gd name="adj" fmla="val 25000"/>
            </a:avLst>
          </a:prstGeom>
          <a:solidFill>
            <a:schemeClr val="tx1"/>
          </a:solidFill>
          <a:ln/>
        </p:spPr>
      </p:sp>
      <p:pic>
        <p:nvPicPr>
          <p:cNvPr id="22" name="Source icon Procedures" descr="preencoded.png">    </p:cNvPr>
          <p:cNvPicPr>
            <a:picLocks noChangeAspect="1"/>
          </p:cNvPicPr>
          <p:nvPr/>
        </p:nvPicPr>
        <p:blipFill>
          <a:blip r:embed="rId5"/>
          <a:stretch>
            <a:fillRect/>
          </a:stretch>
        </p:blipFill>
        <p:spPr>
          <a:xfrm>
            <a:off x="7025640" y="4274820"/>
            <a:ext cx="228600" cy="228600"/>
          </a:xfrm>
          <a:prstGeom prst="rect">
            <a:avLst/>
          </a:prstGeom>
        </p:spPr>
      </p:pic>
      <p:sp>
        <p:nvSpPr>
          <p:cNvPr id="23" name="Source label Procedures"/>
          <p:cNvSpPr txBox="1"/>
          <p:nvPr/>
        </p:nvSpPr>
        <p:spPr>
          <a:xfrm>
            <a:off x="7376160" y="4114800"/>
            <a:ext cx="1143000" cy="548640"/>
          </a:xfrm>
          <a:prstGeom prst="rect">
            <a:avLst/>
          </a:prstGeom>
          <a:noFill/>
          <a:ln/>
        </p:spPr>
        <p:txBody>
          <a:bodyPr wrap="square" lIns="0" tIns="0" rIns="0" bIns="0" rtlCol="0" anchor="ctr"/>
          <a:lstStyle/>
          <a:p>
            <a:pPr indent="0" marL="0">
              <a:buNone/>
            </a:pPr>
            <a:r>
              <a:rPr lang="en-US" sz="1320" b="1" dirty="0">
                <a:solidFill>
                  <a:schemeClr val="bg1"/>
                </a:solidFill>
              </a:rPr>
              <a:t>Procedures</a:t>
            </a:r>
            <a:endParaRPr lang="en-US" sz="1320" dirty="0"/>
          </a:p>
        </p:txBody>
      </p:sp>
      <p:sp>
        <p:nvSpPr>
          <p:cNvPr id="24" name="Flow Procedures"/>
          <p:cNvSpPr/>
          <p:nvPr/>
        </p:nvSpPr>
        <p:spPr>
          <a:xfrm flipV="1">
            <a:off x="8610600" y="3200400"/>
            <a:ext cx="1066800" cy="1188720"/>
          </a:xfrm>
          <a:prstGeom prst="line">
            <a:avLst/>
          </a:prstGeom>
          <a:noFill/>
          <a:ln w="19050">
            <a:solidFill>
              <a:srgbClr val="5F6F85"/>
            </a:solidFill>
            <a:prstDash val="dash"/>
          </a:ln>
        </p:spPr>
      </p:sp>
      <p:sp>
        <p:nvSpPr>
          <p:cNvPr id="25" name="Answer"/>
          <p:cNvSpPr/>
          <p:nvPr/>
        </p:nvSpPr>
        <p:spPr>
          <a:xfrm>
            <a:off x="9677400" y="2514600"/>
            <a:ext cx="2057400" cy="1371600"/>
          </a:xfrm>
          <a:prstGeom prst="roundRect">
            <a:avLst>
              <a:gd name="adj" fmla="val 12000"/>
            </a:avLst>
          </a:prstGeom>
          <a:solidFill>
            <a:schemeClr val="bg1"/>
          </a:solidFill>
          <a:ln w="31750">
            <a:solidFill>
              <a:srgbClr val="EE6558"/>
            </a:solidFill>
          </a:ln>
        </p:spPr>
        <p:txBody>
          <a:bodyPr wrap="square" lIns="177800" tIns="177800" rIns="177800" bIns="177800" rtlCol="0" anchor="ctr"/>
          <a:lstStyle/>
          <a:p>
            <a:pPr indent="0" marL="0">
              <a:spcAft>
                <a:spcPts val="400"/>
              </a:spcAft>
              <a:buNone/>
            </a:pPr>
            <a:r>
              <a:rPr lang="en-US" sz="900" b="1" spc="150" kern="0" dirty="0">
                <a:solidFill>
                  <a:schemeClr val="accent6"/>
                </a:solidFill>
              </a:rPr>
              <a:t>ONE ANSWER</a:t>
            </a:r>
            <a:endParaRPr lang="en-US" sz="900" dirty="0"/>
          </a:p>
          <a:p>
            <a:pPr indent="0" marL="0">
              <a:spcAft>
                <a:spcPts val="400"/>
              </a:spcAft>
              <a:buNone/>
            </a:pPr>
            <a:r>
              <a:rPr lang="en-US" sz="1800" b="1" dirty="0">
                <a:solidFill>
                  <a:schemeClr val="tx1"/>
                </a:solidFill>
              </a:rPr>
              <a:t>22 October 2026</a:t>
            </a:r>
            <a:endParaRPr lang="en-US" sz="900" dirty="0"/>
          </a:p>
          <a:p>
            <a:pPr indent="0" marL="0">
              <a:spcAft>
                <a:spcPts val="400"/>
              </a:spcAft>
              <a:buNone/>
            </a:pPr>
            <a:r>
              <a:rPr lang="en-US" sz="1100" b="1" dirty="0">
                <a:solidFill>
                  <a:schemeClr val="accent4"/>
                </a:solidFill>
              </a:rPr>
              <a:t>Confirmed by Roy</a:t>
            </a:r>
            <a:endParaRPr lang="en-US" sz="900" dirty="0"/>
          </a:p>
          <a:p>
            <a:pPr indent="0" marL="0">
              <a:spcAft>
                <a:spcPts val="400"/>
              </a:spcAft>
              <a:buNone/>
            </a:pPr>
            <a:r>
              <a:rPr lang="en-US" sz="900" dirty="0">
                <a:solidFill>
                  <a:schemeClr val="accent6"/>
                </a:solidFill>
              </a:rPr>
              <a:t>Account owner, Atlas</a:t>
            </a:r>
            <a:endParaRPr lang="en-US" sz="900" dirty="0"/>
          </a:p>
        </p:txBody>
      </p:sp>
      <p:sp>
        <p:nvSpPr>
          <p:cNvPr id="26"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15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22" presetClass="entr" presetSubtype="8" fill="hold" grpId="0" nodeType="withEffect">
                                  <p:stCondLst>
                                    <p:cond delay="90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3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22" presetClass="entr" presetSubtype="8" fill="hold" grpId="0" nodeType="withEffect">
                                  <p:stCondLst>
                                    <p:cond delay="100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par>
                                <p:cTn id="29" presetID="10" presetClass="entr" presetSubtype="0" fill="hold" grpId="0" nodeType="withEffect">
                                  <p:stCondLst>
                                    <p:cond delay="45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45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45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22" presetClass="entr" presetSubtype="8" fill="hold" grpId="0" nodeType="withEffect">
                                  <p:stCondLst>
                                    <p:cond delay="110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500"/>
                                        <p:tgtEl>
                                          <p:spTgt spid="20"/>
                                        </p:tgtEl>
                                      </p:cBhvr>
                                    </p:animEffect>
                                  </p:childTnLst>
                                </p:cTn>
                              </p:par>
                              <p:par>
                                <p:cTn id="41" presetID="10" presetClass="entr" presetSubtype="0" fill="hold" grpId="0" nodeType="withEffect">
                                  <p:stCondLst>
                                    <p:cond delay="60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withEffect">
                                  <p:stCondLst>
                                    <p:cond delay="60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par>
                                <p:cTn id="47" presetID="10" presetClass="entr" presetSubtype="0" fill="hold" grpId="0" nodeType="withEffect">
                                  <p:stCondLst>
                                    <p:cond delay="60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00"/>
                                        <p:tgtEl>
                                          <p:spTgt spid="23"/>
                                        </p:tgtEl>
                                      </p:cBhvr>
                                    </p:animEffect>
                                  </p:childTnLst>
                                </p:cTn>
                              </p:par>
                              <p:par>
                                <p:cTn id="50" presetID="22" presetClass="entr" presetSubtype="8" fill="hold" grpId="0" nodeType="withEffect">
                                  <p:stCondLst>
                                    <p:cond delay="120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500"/>
                                        <p:tgtEl>
                                          <p:spTgt spid="24"/>
                                        </p:tgtEl>
                                      </p:cBhvr>
                                    </p:animEffect>
                                  </p:childTnLst>
                                </p:cTn>
                              </p:par>
                              <p:par>
                                <p:cTn id="53" presetID="2" presetClass="entr" presetSubtype="4" fill="hold" grpId="0" nodeType="withEffect">
                                  <p:stCondLst>
                                    <p:cond delay="1400"/>
                                  </p:stCondLst>
                                  <p:childTnLst>
                                    <p:set>
                                      <p:cBhvr>
                                        <p:cTn id="54" dur="1" fill="hold">
                                          <p:stCondLst>
                                            <p:cond delay="0"/>
                                          </p:stCondLst>
                                        </p:cTn>
                                        <p:tgtEl>
                                          <p:spTgt spid="25"/>
                                        </p:tgtEl>
                                        <p:attrNameLst>
                                          <p:attrName>style.visibility</p:attrName>
                                        </p:attrNameLst>
                                      </p:cBhvr>
                                      <p:to>
                                        <p:strVal val="visible"/>
                                      </p:to>
                                    </p:set>
                                    <p:anim calcmode="lin" valueType="num">
                                      <p:cBhvr additive="base">
                                        <p:cTn id="55" dur="600" fill="hold"/>
                                        <p:tgtEl>
                                          <p:spTgt spid="25"/>
                                        </p:tgtEl>
                                        <p:attrNameLst>
                                          <p:attrName>ppt_x</p:attrName>
                                        </p:attrNameLst>
                                      </p:cBhvr>
                                      <p:tavLst>
                                        <p:tav tm="0">
                                          <p:val>
                                            <p:strVal val="#ppt_x"/>
                                          </p:val>
                                        </p:tav>
                                        <p:tav tm="100000">
                                          <p:val>
                                            <p:strVal val="#ppt_x"/>
                                          </p:val>
                                        </p:tav>
                                      </p:tavLst>
                                    </p:anim>
                                    <p:anim calcmode="lin" valueType="num">
                                      <p:cBhvr additive="base">
                                        <p:cTn id="56" dur="6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lip label"/>
          <p:cNvSpPr txBox="1"/>
          <p:nvPr/>
        </p:nvSpPr>
        <p:spPr>
          <a:xfrm>
            <a:off x="822960" y="6446520"/>
            <a:ext cx="6096000" cy="213360"/>
          </a:xfrm>
          <a:prstGeom prst="rect">
            <a:avLst/>
          </a:prstGeom>
          <a:noFill/>
          <a:ln/>
        </p:spPr>
        <p:txBody>
          <a:bodyPr wrap="square" lIns="0" tIns="0" rIns="0" bIns="0" rtlCol="0" anchor="t"/>
          <a:lstStyle/>
          <a:p>
            <a:pPr indent="0" marL="0">
              <a:buNone/>
            </a:pPr>
            <a:r>
              <a:rPr lang="en-US" sz="1000" b="1" dirty="0">
                <a:solidFill>
                  <a:srgbClr val="8FA0B5"/>
                </a:solidFill>
              </a:rPr>
              <a:t>Video 1 · Meet Finn</a:t>
            </a:r>
            <a:endParaRPr lang="en-US" sz="1000" dirty="0"/>
          </a:p>
        </p:txBody>
      </p:sp>
      <p:pic>
        <p:nvPicPr>
          <p:cNvPr id="26" name="Video 1"/>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822960" y="381000"/>
            <a:ext cx="10546080" cy="5935980"/>
          </a:xfrm>
          <a:prstGeom prst="rect">
            <a:avLst/>
          </a:prstGeom>
        </p:spPr>
      </p:pic>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0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display="0" fill="hold">
                  <p:stCondLst>
                    <p:cond delay="indefinite"/>
                  </p:stCondLst>
                </p:cTn>
                <p:tgtEl>
                  <p:spTgt spid="26"/>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lip label"/>
          <p:cNvSpPr txBox="1"/>
          <p:nvPr/>
        </p:nvSpPr>
        <p:spPr>
          <a:xfrm>
            <a:off x="822960" y="6446520"/>
            <a:ext cx="6096000" cy="213360"/>
          </a:xfrm>
          <a:prstGeom prst="rect">
            <a:avLst/>
          </a:prstGeom>
          <a:noFill/>
          <a:ln/>
        </p:spPr>
        <p:txBody>
          <a:bodyPr wrap="square" lIns="0" tIns="0" rIns="0" bIns="0" rtlCol="0" anchor="t"/>
          <a:lstStyle/>
          <a:p>
            <a:pPr indent="0" marL="0">
              <a:buNone/>
            </a:pPr>
            <a:r>
              <a:rPr lang="en-US" sz="1000" b="1" dirty="0">
                <a:solidFill>
                  <a:srgbClr val="8FA0B5"/>
                </a:solidFill>
              </a:rPr>
              <a:t>Video 2 · Clip 2</a:t>
            </a:r>
            <a:endParaRPr lang="en-US" sz="1000" dirty="0"/>
          </a:p>
        </p:txBody>
      </p:sp>
      <p:sp>
        <p:nvSpPr>
          <p:cNvPr id="3" name="Video placeholder"/>
          <p:cNvSpPr/>
          <p:nvPr/>
        </p:nvSpPr>
        <p:spPr>
          <a:xfrm>
            <a:off x="822960" y="381000"/>
            <a:ext cx="10546080" cy="5935980"/>
          </a:xfrm>
          <a:prstGeom prst="roundRect">
            <a:avLst>
              <a:gd name="adj" fmla="val 3081"/>
            </a:avLst>
          </a:prstGeom>
          <a:solidFill>
            <a:schemeClr val="tx1"/>
          </a:solidFill>
          <a:ln w="12700">
            <a:solidFill>
              <a:srgbClr val="5F6F85"/>
            </a:solidFill>
            <a:prstDash val="dash"/>
          </a:ln>
        </p:spPr>
      </p:sp>
      <p:sp>
        <p:nvSpPr>
          <p:cNvPr id="4" name="Play"/>
          <p:cNvSpPr/>
          <p:nvPr/>
        </p:nvSpPr>
        <p:spPr>
          <a:xfrm>
            <a:off x="5638800" y="2286000"/>
            <a:ext cx="914400" cy="914400"/>
          </a:xfrm>
          <a:prstGeom prst="ellipse">
            <a:avLst/>
          </a:prstGeom>
          <a:solidFill>
            <a:schemeClr val="accent1"/>
          </a:solidFill>
          <a:ln/>
        </p:spPr>
      </p:sp>
      <p:pic>
        <p:nvPicPr>
          <p:cNvPr id="5" name="Play icon" descr="preencoded.png">    </p:cNvPr>
          <p:cNvPicPr>
            <a:picLocks noChangeAspect="1"/>
          </p:cNvPicPr>
          <p:nvPr/>
        </p:nvPicPr>
        <p:blipFill>
          <a:blip r:embed="rId1"/>
          <a:stretch>
            <a:fillRect/>
          </a:stretch>
        </p:blipFill>
        <p:spPr>
          <a:xfrm>
            <a:off x="5913120" y="2560320"/>
            <a:ext cx="396240" cy="396240"/>
          </a:xfrm>
          <a:prstGeom prst="rect">
            <a:avLst/>
          </a:prstGeom>
        </p:spPr>
      </p:pic>
      <p:sp>
        <p:nvSpPr>
          <p:cNvPr id="6" name="Video title"/>
          <p:cNvSpPr txBox="1"/>
          <p:nvPr/>
        </p:nvSpPr>
        <p:spPr>
          <a:xfrm>
            <a:off x="822960" y="3505200"/>
            <a:ext cx="10546080" cy="381000"/>
          </a:xfrm>
          <a:prstGeom prst="rect">
            <a:avLst/>
          </a:prstGeom>
          <a:noFill/>
          <a:ln/>
        </p:spPr>
        <p:txBody>
          <a:bodyPr wrap="square" lIns="0" tIns="0" rIns="0" bIns="0" rtlCol="0" anchor="t"/>
          <a:lstStyle/>
          <a:p>
            <a:pPr algn="ctr" indent="0" marL="0">
              <a:buNone/>
            </a:pPr>
            <a:r>
              <a:rPr lang="en-US" sz="1800" b="1" dirty="0">
                <a:solidFill>
                  <a:schemeClr val="bg1"/>
                </a:solidFill>
              </a:rPr>
              <a:t>Video 2 · coming from Sebastien</a:t>
            </a:r>
            <a:endParaRPr lang="en-US" sz="1800" dirty="0"/>
          </a:p>
        </p:txBody>
      </p:sp>
      <p:sp>
        <p:nvSpPr>
          <p:cNvPr id="7" name="Video hint"/>
          <p:cNvSpPr txBox="1"/>
          <p:nvPr/>
        </p:nvSpPr>
        <p:spPr>
          <a:xfrm>
            <a:off x="822960" y="3947160"/>
            <a:ext cx="10546080" cy="304800"/>
          </a:xfrm>
          <a:prstGeom prst="rect">
            <a:avLst/>
          </a:prstGeom>
          <a:noFill/>
          <a:ln/>
        </p:spPr>
        <p:txBody>
          <a:bodyPr wrap="square" lIns="0" tIns="0" rIns="0" bIns="0" rtlCol="0" anchor="t"/>
          <a:lstStyle/>
          <a:p>
            <a:pPr algn="ctr" indent="0" marL="0">
              <a:buNone/>
            </a:pPr>
            <a:r>
              <a:rPr lang="en-US" sz="1140" dirty="0">
                <a:solidFill>
                  <a:schemeClr val="bg2"/>
                </a:solidFill>
              </a:rPr>
              <a:t>Replace this box: Insert › Video › This Device, then Playback › Start: Automatically</a:t>
            </a:r>
            <a:endParaRPr lang="en-US" sz="114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lip label"/>
          <p:cNvSpPr txBox="1"/>
          <p:nvPr/>
        </p:nvSpPr>
        <p:spPr>
          <a:xfrm>
            <a:off x="822960" y="6446520"/>
            <a:ext cx="6096000" cy="213360"/>
          </a:xfrm>
          <a:prstGeom prst="rect">
            <a:avLst/>
          </a:prstGeom>
          <a:noFill/>
          <a:ln/>
        </p:spPr>
        <p:txBody>
          <a:bodyPr wrap="square" lIns="0" tIns="0" rIns="0" bIns="0" rtlCol="0" anchor="t"/>
          <a:lstStyle/>
          <a:p>
            <a:pPr indent="0" marL="0">
              <a:buNone/>
            </a:pPr>
            <a:r>
              <a:rPr lang="en-US" sz="1000" b="1" dirty="0">
                <a:solidFill>
                  <a:srgbClr val="8FA0B5"/>
                </a:solidFill>
              </a:rPr>
              <a:t>Video 3 · Clip 3</a:t>
            </a:r>
            <a:endParaRPr lang="en-US" sz="1000" dirty="0"/>
          </a:p>
        </p:txBody>
      </p:sp>
      <p:sp>
        <p:nvSpPr>
          <p:cNvPr id="3" name="Video placeholder"/>
          <p:cNvSpPr/>
          <p:nvPr/>
        </p:nvSpPr>
        <p:spPr>
          <a:xfrm>
            <a:off x="822960" y="381000"/>
            <a:ext cx="10546080" cy="5935980"/>
          </a:xfrm>
          <a:prstGeom prst="roundRect">
            <a:avLst>
              <a:gd name="adj" fmla="val 3081"/>
            </a:avLst>
          </a:prstGeom>
          <a:solidFill>
            <a:schemeClr val="tx1"/>
          </a:solidFill>
          <a:ln w="12700">
            <a:solidFill>
              <a:srgbClr val="5F6F85"/>
            </a:solidFill>
            <a:prstDash val="dash"/>
          </a:ln>
        </p:spPr>
      </p:sp>
      <p:sp>
        <p:nvSpPr>
          <p:cNvPr id="4" name="Play"/>
          <p:cNvSpPr/>
          <p:nvPr/>
        </p:nvSpPr>
        <p:spPr>
          <a:xfrm>
            <a:off x="5638800" y="2286000"/>
            <a:ext cx="914400" cy="914400"/>
          </a:xfrm>
          <a:prstGeom prst="ellipse">
            <a:avLst/>
          </a:prstGeom>
          <a:solidFill>
            <a:schemeClr val="accent1"/>
          </a:solidFill>
          <a:ln/>
        </p:spPr>
      </p:sp>
      <p:pic>
        <p:nvPicPr>
          <p:cNvPr id="5" name="Play icon" descr="preencoded.png">    </p:cNvPr>
          <p:cNvPicPr>
            <a:picLocks noChangeAspect="1"/>
          </p:cNvPicPr>
          <p:nvPr/>
        </p:nvPicPr>
        <p:blipFill>
          <a:blip r:embed="rId1"/>
          <a:stretch>
            <a:fillRect/>
          </a:stretch>
        </p:blipFill>
        <p:spPr>
          <a:xfrm>
            <a:off x="5913120" y="2560320"/>
            <a:ext cx="396240" cy="396240"/>
          </a:xfrm>
          <a:prstGeom prst="rect">
            <a:avLst/>
          </a:prstGeom>
        </p:spPr>
      </p:pic>
      <p:sp>
        <p:nvSpPr>
          <p:cNvPr id="6" name="Video title"/>
          <p:cNvSpPr txBox="1"/>
          <p:nvPr/>
        </p:nvSpPr>
        <p:spPr>
          <a:xfrm>
            <a:off x="822960" y="3505200"/>
            <a:ext cx="10546080" cy="381000"/>
          </a:xfrm>
          <a:prstGeom prst="rect">
            <a:avLst/>
          </a:prstGeom>
          <a:noFill/>
          <a:ln/>
        </p:spPr>
        <p:txBody>
          <a:bodyPr wrap="square" lIns="0" tIns="0" rIns="0" bIns="0" rtlCol="0" anchor="t"/>
          <a:lstStyle/>
          <a:p>
            <a:pPr algn="ctr" indent="0" marL="0">
              <a:buNone/>
            </a:pPr>
            <a:r>
              <a:rPr lang="en-US" sz="1800" b="1" dirty="0">
                <a:solidFill>
                  <a:schemeClr val="bg1"/>
                </a:solidFill>
              </a:rPr>
              <a:t>Video 3 · coming from Sebastien</a:t>
            </a:r>
            <a:endParaRPr lang="en-US" sz="1800" dirty="0"/>
          </a:p>
        </p:txBody>
      </p:sp>
      <p:sp>
        <p:nvSpPr>
          <p:cNvPr id="7" name="Video hint"/>
          <p:cNvSpPr txBox="1"/>
          <p:nvPr/>
        </p:nvSpPr>
        <p:spPr>
          <a:xfrm>
            <a:off x="822960" y="3947160"/>
            <a:ext cx="10546080" cy="304800"/>
          </a:xfrm>
          <a:prstGeom prst="rect">
            <a:avLst/>
          </a:prstGeom>
          <a:noFill/>
          <a:ln/>
        </p:spPr>
        <p:txBody>
          <a:bodyPr wrap="square" lIns="0" tIns="0" rIns="0" bIns="0" rtlCol="0" anchor="t"/>
          <a:lstStyle/>
          <a:p>
            <a:pPr algn="ctr" indent="0" marL="0">
              <a:buNone/>
            </a:pPr>
            <a:r>
              <a:rPr lang="en-US" sz="1140" dirty="0">
                <a:solidFill>
                  <a:schemeClr val="bg2"/>
                </a:solidFill>
              </a:rPr>
              <a:t>Replace this box: Insert › Video › This Device, then Playback › Start: Automatically</a:t>
            </a:r>
            <a:endParaRPr lang="en-US" sz="114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lip label"/>
          <p:cNvSpPr txBox="1"/>
          <p:nvPr/>
        </p:nvSpPr>
        <p:spPr>
          <a:xfrm>
            <a:off x="822960" y="6446520"/>
            <a:ext cx="6096000" cy="213360"/>
          </a:xfrm>
          <a:prstGeom prst="rect">
            <a:avLst/>
          </a:prstGeom>
          <a:noFill/>
          <a:ln/>
        </p:spPr>
        <p:txBody>
          <a:bodyPr wrap="square" lIns="0" tIns="0" rIns="0" bIns="0" rtlCol="0" anchor="t"/>
          <a:lstStyle/>
          <a:p>
            <a:pPr indent="0" marL="0">
              <a:buNone/>
            </a:pPr>
            <a:r>
              <a:rPr lang="en-US" sz="1000" b="1" dirty="0">
                <a:solidFill>
                  <a:srgbClr val="8FA0B5"/>
                </a:solidFill>
              </a:rPr>
              <a:t>Video 4 · Clip 4</a:t>
            </a:r>
            <a:endParaRPr lang="en-US" sz="1000" dirty="0"/>
          </a:p>
        </p:txBody>
      </p:sp>
      <p:sp>
        <p:nvSpPr>
          <p:cNvPr id="3" name="Video placeholder"/>
          <p:cNvSpPr/>
          <p:nvPr/>
        </p:nvSpPr>
        <p:spPr>
          <a:xfrm>
            <a:off x="822960" y="381000"/>
            <a:ext cx="10546080" cy="5935980"/>
          </a:xfrm>
          <a:prstGeom prst="roundRect">
            <a:avLst>
              <a:gd name="adj" fmla="val 3081"/>
            </a:avLst>
          </a:prstGeom>
          <a:solidFill>
            <a:schemeClr val="tx1"/>
          </a:solidFill>
          <a:ln w="12700">
            <a:solidFill>
              <a:srgbClr val="5F6F85"/>
            </a:solidFill>
            <a:prstDash val="dash"/>
          </a:ln>
        </p:spPr>
      </p:sp>
      <p:sp>
        <p:nvSpPr>
          <p:cNvPr id="4" name="Play"/>
          <p:cNvSpPr/>
          <p:nvPr/>
        </p:nvSpPr>
        <p:spPr>
          <a:xfrm>
            <a:off x="5638800" y="2286000"/>
            <a:ext cx="914400" cy="914400"/>
          </a:xfrm>
          <a:prstGeom prst="ellipse">
            <a:avLst/>
          </a:prstGeom>
          <a:solidFill>
            <a:schemeClr val="accent1"/>
          </a:solidFill>
          <a:ln/>
        </p:spPr>
      </p:sp>
      <p:pic>
        <p:nvPicPr>
          <p:cNvPr id="5" name="Play icon" descr="preencoded.png">    </p:cNvPr>
          <p:cNvPicPr>
            <a:picLocks noChangeAspect="1"/>
          </p:cNvPicPr>
          <p:nvPr/>
        </p:nvPicPr>
        <p:blipFill>
          <a:blip r:embed="rId1"/>
          <a:stretch>
            <a:fillRect/>
          </a:stretch>
        </p:blipFill>
        <p:spPr>
          <a:xfrm>
            <a:off x="5913120" y="2560320"/>
            <a:ext cx="396240" cy="396240"/>
          </a:xfrm>
          <a:prstGeom prst="rect">
            <a:avLst/>
          </a:prstGeom>
        </p:spPr>
      </p:pic>
      <p:sp>
        <p:nvSpPr>
          <p:cNvPr id="6" name="Video title"/>
          <p:cNvSpPr txBox="1"/>
          <p:nvPr/>
        </p:nvSpPr>
        <p:spPr>
          <a:xfrm>
            <a:off x="822960" y="3505200"/>
            <a:ext cx="10546080" cy="381000"/>
          </a:xfrm>
          <a:prstGeom prst="rect">
            <a:avLst/>
          </a:prstGeom>
          <a:noFill/>
          <a:ln/>
        </p:spPr>
        <p:txBody>
          <a:bodyPr wrap="square" lIns="0" tIns="0" rIns="0" bIns="0" rtlCol="0" anchor="t"/>
          <a:lstStyle/>
          <a:p>
            <a:pPr algn="ctr" indent="0" marL="0">
              <a:buNone/>
            </a:pPr>
            <a:r>
              <a:rPr lang="en-US" sz="1800" b="1" dirty="0">
                <a:solidFill>
                  <a:schemeClr val="bg1"/>
                </a:solidFill>
              </a:rPr>
              <a:t>Video 4 · coming from Sebastien</a:t>
            </a:r>
            <a:endParaRPr lang="en-US" sz="1800" dirty="0"/>
          </a:p>
        </p:txBody>
      </p:sp>
      <p:sp>
        <p:nvSpPr>
          <p:cNvPr id="7" name="Video hint"/>
          <p:cNvSpPr txBox="1"/>
          <p:nvPr/>
        </p:nvSpPr>
        <p:spPr>
          <a:xfrm>
            <a:off x="822960" y="3947160"/>
            <a:ext cx="10546080" cy="304800"/>
          </a:xfrm>
          <a:prstGeom prst="rect">
            <a:avLst/>
          </a:prstGeom>
          <a:noFill/>
          <a:ln/>
        </p:spPr>
        <p:txBody>
          <a:bodyPr wrap="square" lIns="0" tIns="0" rIns="0" bIns="0" rtlCol="0" anchor="t"/>
          <a:lstStyle/>
          <a:p>
            <a:pPr algn="ctr" indent="0" marL="0">
              <a:buNone/>
            </a:pPr>
            <a:r>
              <a:rPr lang="en-US" sz="1140" dirty="0">
                <a:solidFill>
                  <a:schemeClr val="bg2"/>
                </a:solidFill>
              </a:rPr>
              <a:t>Replace this box: Insert › Video › This Device, then Playback › Start: Automatically</a:t>
            </a:r>
            <a:endParaRPr lang="en-US" sz="114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457200"/>
            <a:ext cx="10668000" cy="609600"/>
          </a:xfrm>
          <a:prstGeom prst="rect">
            <a:avLst/>
          </a:prstGeom>
          <a:noFill/>
          <a:ln/>
        </p:spPr>
        <p:txBody>
          <a:bodyPr wrap="square" lIns="0" tIns="0" rIns="0" bIns="0" rtlCol="0" anchor="t"/>
          <a:lstStyle/>
          <a:p>
            <a:pPr indent="0" marL="0">
              <a:buNone/>
            </a:pPr>
            <a:r>
              <a:rPr lang="en-US" sz="3240" b="1" dirty="0">
                <a:solidFill>
                  <a:schemeClr val="bg1"/>
                </a:solidFill>
              </a:rPr>
              <a:t>Finn calls the one person who knows</a:t>
            </a:r>
            <a:endParaRPr lang="en-US" sz="3240" dirty="0"/>
          </a:p>
        </p:txBody>
      </p:sp>
      <p:sp>
        <p:nvSpPr>
          <p:cNvPr id="3" name="Call card"/>
          <p:cNvSpPr/>
          <p:nvPr/>
        </p:nvSpPr>
        <p:spPr>
          <a:xfrm>
            <a:off x="548640" y="1295400"/>
            <a:ext cx="4876800" cy="2628900"/>
          </a:xfrm>
          <a:prstGeom prst="roundRect">
            <a:avLst>
              <a:gd name="adj" fmla="val 6957"/>
            </a:avLst>
          </a:prstGeom>
          <a:solidFill>
            <a:schemeClr val="tx1"/>
          </a:solidFill>
          <a:ln/>
        </p:spPr>
      </p:sp>
      <p:sp>
        <p:nvSpPr>
          <p:cNvPr id="4" name="Dot calling"/>
          <p:cNvSpPr/>
          <p:nvPr/>
        </p:nvSpPr>
        <p:spPr>
          <a:xfrm>
            <a:off x="792480" y="1539240"/>
            <a:ext cx="91440" cy="91440"/>
          </a:xfrm>
          <a:prstGeom prst="ellipse">
            <a:avLst/>
          </a:prstGeom>
          <a:solidFill>
            <a:schemeClr val="accent2"/>
          </a:solidFill>
          <a:ln/>
        </p:spPr>
      </p:sp>
      <p:sp>
        <p:nvSpPr>
          <p:cNvPr id="5" name="Dot live"/>
          <p:cNvSpPr/>
          <p:nvPr/>
        </p:nvSpPr>
        <p:spPr>
          <a:xfrm>
            <a:off x="792480" y="1539240"/>
            <a:ext cx="91440" cy="91440"/>
          </a:xfrm>
          <a:prstGeom prst="ellipse">
            <a:avLst/>
          </a:prstGeom>
          <a:solidFill>
            <a:srgbClr val="3CCF7A"/>
          </a:solidFill>
          <a:ln/>
        </p:spPr>
      </p:sp>
      <p:sp>
        <p:nvSpPr>
          <p:cNvPr id="6" name="Call label"/>
          <p:cNvSpPr txBox="1"/>
          <p:nvPr/>
        </p:nvSpPr>
        <p:spPr>
          <a:xfrm>
            <a:off x="960120" y="1478280"/>
            <a:ext cx="1524000" cy="213360"/>
          </a:xfrm>
          <a:prstGeom prst="rect">
            <a:avLst/>
          </a:prstGeom>
          <a:noFill/>
          <a:ln/>
        </p:spPr>
        <p:txBody>
          <a:bodyPr wrap="square" lIns="0" tIns="0" rIns="0" bIns="0" rtlCol="0" anchor="ctr"/>
          <a:lstStyle/>
          <a:p>
            <a:pPr indent="0" marL="0">
              <a:buNone/>
            </a:pPr>
            <a:r>
              <a:rPr lang="en-US" sz="1080" b="1" dirty="0">
                <a:solidFill>
                  <a:schemeClr val="bg2"/>
                </a:solidFill>
              </a:rPr>
              <a:t>Teams call</a:t>
            </a:r>
            <a:endParaRPr lang="en-US" sz="1080" dirty="0"/>
          </a:p>
        </p:txBody>
      </p:sp>
      <p:sp>
        <p:nvSpPr>
          <p:cNvPr id="7" name="Status calling"/>
          <p:cNvSpPr txBox="1"/>
          <p:nvPr/>
        </p:nvSpPr>
        <p:spPr>
          <a:xfrm>
            <a:off x="3352800" y="1478280"/>
            <a:ext cx="1828800" cy="213360"/>
          </a:xfrm>
          <a:prstGeom prst="rect">
            <a:avLst/>
          </a:prstGeom>
          <a:noFill/>
          <a:ln/>
        </p:spPr>
        <p:txBody>
          <a:bodyPr wrap="square" lIns="0" tIns="0" rIns="0" bIns="0" rtlCol="0" anchor="ctr"/>
          <a:lstStyle/>
          <a:p>
            <a:pPr algn="r" indent="0" marL="0">
              <a:buNone/>
            </a:pPr>
            <a:r>
              <a:rPr lang="en-US" sz="1080" b="1" dirty="0">
                <a:solidFill>
                  <a:schemeClr val="accent2"/>
                </a:solidFill>
              </a:rPr>
              <a:t>Calling Roy…</a:t>
            </a:r>
            <a:endParaRPr lang="en-US" sz="1080" dirty="0"/>
          </a:p>
        </p:txBody>
      </p:sp>
      <p:sp>
        <p:nvSpPr>
          <p:cNvPr id="8" name="Status live"/>
          <p:cNvSpPr txBox="1"/>
          <p:nvPr/>
        </p:nvSpPr>
        <p:spPr>
          <a:xfrm>
            <a:off x="3352800" y="1478280"/>
            <a:ext cx="1828800" cy="213360"/>
          </a:xfrm>
          <a:prstGeom prst="rect">
            <a:avLst/>
          </a:prstGeom>
          <a:noFill/>
          <a:ln/>
        </p:spPr>
        <p:txBody>
          <a:bodyPr wrap="square" lIns="0" tIns="0" rIns="0" bIns="0" rtlCol="0" anchor="ctr"/>
          <a:lstStyle/>
          <a:p>
            <a:pPr algn="r" indent="0" marL="0">
              <a:buNone/>
            </a:pPr>
            <a:r>
              <a:rPr lang="en-US" sz="1080" b="1" dirty="0">
                <a:solidFill>
                  <a:srgbClr val="3CCF7A"/>
                </a:solidFill>
              </a:rPr>
              <a:t>Connected</a:t>
            </a:r>
            <a:endParaRPr lang="en-US" sz="1080" dirty="0"/>
          </a:p>
        </p:txBody>
      </p:sp>
      <p:sp>
        <p:nvSpPr>
          <p:cNvPr id="9" name="Finn avatar bg"/>
          <p:cNvSpPr/>
          <p:nvPr/>
        </p:nvSpPr>
        <p:spPr>
          <a:xfrm>
            <a:off x="1318260" y="1813560"/>
            <a:ext cx="853440" cy="853440"/>
          </a:xfrm>
          <a:prstGeom prst="ellipse">
            <a:avLst/>
          </a:prstGeom>
          <a:solidFill>
            <a:srgbClr val="2A3D57"/>
          </a:solidFill>
          <a:ln/>
        </p:spPr>
      </p:sp>
      <p:pic>
        <p:nvPicPr>
          <p:cNvPr id="10" name="Finn avatar" descr="preencoded.png">    </p:cNvPr>
          <p:cNvPicPr>
            <a:picLocks noChangeAspect="1"/>
          </p:cNvPicPr>
          <p:nvPr/>
        </p:nvPicPr>
        <p:blipFill>
          <a:blip r:embed="rId1"/>
          <a:stretch>
            <a:fillRect/>
          </a:stretch>
        </p:blipFill>
        <p:spPr>
          <a:xfrm>
            <a:off x="1318260" y="1813560"/>
            <a:ext cx="853440" cy="853440"/>
          </a:xfrm>
          <a:prstGeom prst="ellipse">
            <a:avLst/>
          </a:prstGeom>
        </p:spPr>
      </p:pic>
      <p:sp>
        <p:nvSpPr>
          <p:cNvPr id="11" name="Finn name"/>
          <p:cNvSpPr txBox="1"/>
          <p:nvPr/>
        </p:nvSpPr>
        <p:spPr>
          <a:xfrm>
            <a:off x="1021080" y="2758440"/>
            <a:ext cx="1447800" cy="457200"/>
          </a:xfrm>
          <a:prstGeom prst="rect">
            <a:avLst/>
          </a:prstGeom>
          <a:noFill/>
          <a:ln/>
        </p:spPr>
        <p:txBody>
          <a:bodyPr wrap="square" lIns="0" tIns="0" rIns="0" bIns="0" rtlCol="0" anchor="t"/>
          <a:lstStyle/>
          <a:p>
            <a:pPr algn="ctr" indent="0" marL="0">
              <a:buNone/>
            </a:pPr>
            <a:r>
              <a:rPr lang="en-US" sz="1320" b="1" dirty="0">
                <a:solidFill>
                  <a:schemeClr val="bg1"/>
                </a:solidFill>
              </a:rPr>
              <a:t>Finn</a:t>
            </a:r>
            <a:endParaRPr lang="en-US" sz="1320" dirty="0"/>
          </a:p>
          <a:p>
            <a:pPr algn="ctr" indent="0" marL="0">
              <a:buNone/>
            </a:pPr>
            <a:r>
              <a:rPr lang="en-US" sz="900" dirty="0">
                <a:solidFill>
                  <a:srgbClr val="C8D2DF"/>
                </a:solidFill>
              </a:rPr>
              <a:t>SDtrust</a:t>
            </a:r>
            <a:endParaRPr lang="en-US" sz="1320" dirty="0"/>
          </a:p>
        </p:txBody>
      </p:sp>
      <p:sp>
        <p:nvSpPr>
          <p:cNvPr id="12" name="Line"/>
          <p:cNvSpPr/>
          <p:nvPr/>
        </p:nvSpPr>
        <p:spPr>
          <a:xfrm>
            <a:off x="2286000" y="2240280"/>
            <a:ext cx="1409700" cy="0"/>
          </a:xfrm>
          <a:prstGeom prst="line">
            <a:avLst/>
          </a:prstGeom>
          <a:noFill/>
          <a:ln w="19050">
            <a:solidFill>
              <a:srgbClr val="5F6F85"/>
            </a:solidFill>
            <a:prstDash val="sysDot"/>
          </a:ln>
        </p:spPr>
      </p:sp>
      <p:sp>
        <p:nvSpPr>
          <p:cNvPr id="13" name="Phone calling"/>
          <p:cNvSpPr/>
          <p:nvPr/>
        </p:nvSpPr>
        <p:spPr>
          <a:xfrm>
            <a:off x="2788920" y="2042160"/>
            <a:ext cx="396240" cy="396240"/>
          </a:xfrm>
          <a:prstGeom prst="ellipse">
            <a:avLst/>
          </a:prstGeom>
          <a:solidFill>
            <a:schemeClr val="accent2"/>
          </a:solidFill>
          <a:ln/>
        </p:spPr>
      </p:sp>
      <p:sp>
        <p:nvSpPr>
          <p:cNvPr id="14" name="Phone live"/>
          <p:cNvSpPr/>
          <p:nvPr/>
        </p:nvSpPr>
        <p:spPr>
          <a:xfrm>
            <a:off x="2788920" y="2042160"/>
            <a:ext cx="396240" cy="396240"/>
          </a:xfrm>
          <a:prstGeom prst="ellipse">
            <a:avLst/>
          </a:prstGeom>
          <a:solidFill>
            <a:srgbClr val="3CCF7A"/>
          </a:solidFill>
          <a:ln/>
        </p:spPr>
      </p:sp>
      <p:pic>
        <p:nvPicPr>
          <p:cNvPr id="15" name="Phone icon" descr="preencoded.png">    </p:cNvPr>
          <p:cNvPicPr>
            <a:picLocks noChangeAspect="1"/>
          </p:cNvPicPr>
          <p:nvPr/>
        </p:nvPicPr>
        <p:blipFill>
          <a:blip r:embed="rId2"/>
          <a:stretch>
            <a:fillRect/>
          </a:stretch>
        </p:blipFill>
        <p:spPr>
          <a:xfrm>
            <a:off x="2887980" y="2141220"/>
            <a:ext cx="198120" cy="198120"/>
          </a:xfrm>
          <a:prstGeom prst="rect">
            <a:avLst/>
          </a:prstGeom>
        </p:spPr>
      </p:pic>
      <p:sp>
        <p:nvSpPr>
          <p:cNvPr id="16" name="Roy avatar"/>
          <p:cNvSpPr/>
          <p:nvPr/>
        </p:nvSpPr>
        <p:spPr>
          <a:xfrm>
            <a:off x="3802380" y="1813560"/>
            <a:ext cx="853440" cy="853440"/>
          </a:xfrm>
          <a:prstGeom prst="ellipse">
            <a:avLst/>
          </a:prstGeom>
          <a:solidFill>
            <a:schemeClr val="accent1"/>
          </a:solidFill>
          <a:ln/>
        </p:spPr>
      </p:sp>
      <p:sp>
        <p:nvSpPr>
          <p:cNvPr id="17" name="Roy initial"/>
          <p:cNvSpPr txBox="1"/>
          <p:nvPr/>
        </p:nvSpPr>
        <p:spPr>
          <a:xfrm>
            <a:off x="3802380" y="1813560"/>
            <a:ext cx="853440" cy="853440"/>
          </a:xfrm>
          <a:prstGeom prst="rect">
            <a:avLst/>
          </a:prstGeom>
          <a:noFill/>
          <a:ln/>
        </p:spPr>
        <p:txBody>
          <a:bodyPr wrap="square" lIns="0" tIns="0" rIns="0" bIns="0" rtlCol="0" anchor="ctr"/>
          <a:lstStyle/>
          <a:p>
            <a:pPr algn="ctr" indent="0" marL="0">
              <a:buNone/>
            </a:pPr>
            <a:r>
              <a:rPr lang="en-US" sz="3240" b="1" dirty="0">
                <a:solidFill>
                  <a:schemeClr val="bg1"/>
                </a:solidFill>
              </a:rPr>
              <a:t>R</a:t>
            </a:r>
            <a:endParaRPr lang="en-US" sz="3240" dirty="0"/>
          </a:p>
        </p:txBody>
      </p:sp>
      <p:sp>
        <p:nvSpPr>
          <p:cNvPr id="18" name="Roy name"/>
          <p:cNvSpPr txBox="1"/>
          <p:nvPr/>
        </p:nvSpPr>
        <p:spPr>
          <a:xfrm>
            <a:off x="3505200" y="2758440"/>
            <a:ext cx="1447800" cy="457200"/>
          </a:xfrm>
          <a:prstGeom prst="rect">
            <a:avLst/>
          </a:prstGeom>
          <a:noFill/>
          <a:ln/>
        </p:spPr>
        <p:txBody>
          <a:bodyPr wrap="square" lIns="0" tIns="0" rIns="0" bIns="0" rtlCol="0" anchor="t"/>
          <a:lstStyle/>
          <a:p>
            <a:pPr algn="ctr" indent="0" marL="0">
              <a:buNone/>
            </a:pPr>
            <a:r>
              <a:rPr lang="en-US" sz="1320" b="1" dirty="0">
                <a:solidFill>
                  <a:schemeClr val="bg1"/>
                </a:solidFill>
              </a:rPr>
              <a:t>Roy</a:t>
            </a:r>
            <a:endParaRPr lang="en-US" sz="1320" dirty="0"/>
          </a:p>
          <a:p>
            <a:pPr algn="ctr" indent="0" marL="0">
              <a:buNone/>
            </a:pPr>
            <a:r>
              <a:rPr lang="en-US" sz="900" dirty="0">
                <a:solidFill>
                  <a:srgbClr val="C8D2DF"/>
                </a:solidFill>
              </a:rPr>
              <a:t>Account owner, Atlas</a:t>
            </a:r>
            <a:endParaRPr lang="en-US" sz="1320" dirty="0"/>
          </a:p>
        </p:txBody>
      </p:sp>
      <p:sp>
        <p:nvSpPr>
          <p:cNvPr id="19" name="Why"/>
          <p:cNvSpPr/>
          <p:nvPr/>
        </p:nvSpPr>
        <p:spPr>
          <a:xfrm>
            <a:off x="792480" y="3291840"/>
            <a:ext cx="4389120" cy="472440"/>
          </a:xfrm>
          <a:prstGeom prst="roundRect">
            <a:avLst>
              <a:gd name="adj" fmla="val 19355"/>
            </a:avLst>
          </a:prstGeom>
          <a:solidFill>
            <a:schemeClr val="tx2"/>
          </a:solidFill>
          <a:ln/>
        </p:spPr>
        <p:txBody>
          <a:bodyPr wrap="square" lIns="101600" tIns="101600" rIns="101600" bIns="101600" rtlCol="0" anchor="ctr"/>
          <a:lstStyle/>
          <a:p>
            <a:pPr indent="0" marL="0">
              <a:buNone/>
            </a:pPr>
            <a:r>
              <a:rPr lang="en-US" sz="1020" b="1" dirty="0">
                <a:solidFill>
                  <a:schemeClr val="accent2"/>
                </a:solidFill>
              </a:rPr>
              <a:t>Why Roy? </a:t>
            </a:r>
            <a:pPr indent="0" marL="0">
              <a:buNone/>
            </a:pPr>
            <a:r>
              <a:rPr lang="en-US" sz="1020" dirty="0">
                <a:solidFill>
                  <a:schemeClr val="bg2"/>
                </a:solidFill>
              </a:rPr>
              <a:t>He is the Atlas account owner in the CRM</a:t>
            </a:r>
            <a:endParaRPr lang="en-US" sz="1020" dirty="0"/>
          </a:p>
        </p:txBody>
      </p:sp>
      <p:sp>
        <p:nvSpPr>
          <p:cNvPr id="20" name="Transcript label"/>
          <p:cNvSpPr txBox="1"/>
          <p:nvPr/>
        </p:nvSpPr>
        <p:spPr>
          <a:xfrm>
            <a:off x="5791200" y="1295400"/>
            <a:ext cx="3048000" cy="182880"/>
          </a:xfrm>
          <a:prstGeom prst="rect">
            <a:avLst/>
          </a:prstGeom>
          <a:noFill/>
          <a:ln/>
        </p:spPr>
        <p:txBody>
          <a:bodyPr wrap="square" lIns="0" tIns="0" rIns="0" bIns="0" rtlCol="0" anchor="t"/>
          <a:lstStyle/>
          <a:p>
            <a:pPr indent="0" marL="0">
              <a:buNone/>
            </a:pPr>
            <a:r>
              <a:rPr lang="en-US" sz="960" b="1" spc="150" kern="0" dirty="0">
                <a:solidFill>
                  <a:srgbClr val="8FA0B5"/>
                </a:solidFill>
              </a:rPr>
              <a:t>LIVE TRANSCRIPT</a:t>
            </a:r>
            <a:endParaRPr lang="en-US" sz="960" dirty="0"/>
          </a:p>
        </p:txBody>
      </p:sp>
      <p:sp>
        <p:nvSpPr>
          <p:cNvPr id="21" name="Bubble Finn 1"/>
          <p:cNvSpPr/>
          <p:nvPr/>
        </p:nvSpPr>
        <p:spPr>
          <a:xfrm>
            <a:off x="5791200" y="1600200"/>
            <a:ext cx="5334000" cy="1143000"/>
          </a:xfrm>
          <a:prstGeom prst="roundRect">
            <a:avLst>
              <a:gd name="adj" fmla="val 12000"/>
            </a:avLst>
          </a:prstGeom>
          <a:solidFill>
            <a:schemeClr val="tx1"/>
          </a:solidFill>
          <a:ln/>
        </p:spPr>
        <p:txBody>
          <a:bodyPr wrap="square" lIns="127000" tIns="127000" rIns="127000" bIns="127000" rtlCol="0" anchor="ctr"/>
          <a:lstStyle/>
          <a:p>
            <a:pPr indent="0" marL="0">
              <a:spcAft>
                <a:spcPts val="200"/>
              </a:spcAft>
              <a:buNone/>
            </a:pPr>
            <a:r>
              <a:rPr lang="en-US" sz="900" b="1" dirty="0">
                <a:solidFill>
                  <a:schemeClr val="accent2"/>
                </a:solidFill>
              </a:rPr>
              <a:t>Finn</a:t>
            </a:r>
            <a:endParaRPr lang="en-US" sz="900" dirty="0"/>
          </a:p>
          <a:p>
            <a:pPr indent="0" marL="0">
              <a:spcAft>
                <a:spcPts val="200"/>
              </a:spcAft>
              <a:buNone/>
            </a:pPr>
            <a:r>
              <a:rPr lang="en-US" sz="1260" dirty="0">
                <a:solidFill>
                  <a:schemeClr val="bg1"/>
                </a:solidFill>
              </a:rPr>
              <a:t>Hi Roy, it's Finn. You own the Atlas account, so you're the one who knows. Until when can Atlas submit payroll changes this October? I can't find anything approved.</a:t>
            </a:r>
            <a:endParaRPr lang="en-US" sz="900" dirty="0"/>
          </a:p>
        </p:txBody>
      </p:sp>
      <p:sp>
        <p:nvSpPr>
          <p:cNvPr id="22" name="Bubble Roy"/>
          <p:cNvSpPr/>
          <p:nvPr/>
        </p:nvSpPr>
        <p:spPr>
          <a:xfrm>
            <a:off x="6309360" y="2895600"/>
            <a:ext cx="5334000" cy="838200"/>
          </a:xfrm>
          <a:prstGeom prst="roundRect">
            <a:avLst>
              <a:gd name="adj" fmla="val 16364"/>
            </a:avLst>
          </a:prstGeom>
          <a:solidFill>
            <a:schemeClr val="accent1"/>
          </a:solidFill>
          <a:ln/>
        </p:spPr>
        <p:txBody>
          <a:bodyPr wrap="square" lIns="127000" tIns="127000" rIns="127000" bIns="127000" rtlCol="0" anchor="ctr"/>
          <a:lstStyle/>
          <a:p>
            <a:pPr indent="0" marL="0">
              <a:spcAft>
                <a:spcPts val="200"/>
              </a:spcAft>
              <a:buNone/>
            </a:pPr>
            <a:r>
              <a:rPr lang="en-US" sz="900" b="1" dirty="0">
                <a:solidFill>
                  <a:schemeClr val="bg1"/>
                </a:solidFill>
              </a:rPr>
              <a:t>Roy</a:t>
            </a:r>
            <a:endParaRPr lang="en-US" sz="900" dirty="0"/>
          </a:p>
          <a:p>
            <a:pPr indent="0" marL="0">
              <a:spcAft>
                <a:spcPts val="200"/>
              </a:spcAft>
              <a:buNone/>
            </a:pPr>
            <a:r>
              <a:rPr lang="en-US" sz="1260" dirty="0">
                <a:solidFill>
                  <a:schemeClr val="bg1"/>
                </a:solidFill>
              </a:rPr>
              <a:t>Hi Finn! Until the 22nd. I agreed it with Atlas, but I never put it in the CRM.</a:t>
            </a:r>
            <a:endParaRPr lang="en-US" sz="900" dirty="0"/>
          </a:p>
        </p:txBody>
      </p:sp>
      <p:sp>
        <p:nvSpPr>
          <p:cNvPr id="23" name="Bubble Finn 2"/>
          <p:cNvSpPr/>
          <p:nvPr/>
        </p:nvSpPr>
        <p:spPr>
          <a:xfrm>
            <a:off x="5791200" y="3886200"/>
            <a:ext cx="5334000" cy="685800"/>
          </a:xfrm>
          <a:prstGeom prst="roundRect">
            <a:avLst>
              <a:gd name="adj" fmla="val 20000"/>
            </a:avLst>
          </a:prstGeom>
          <a:solidFill>
            <a:schemeClr val="tx1"/>
          </a:solidFill>
          <a:ln/>
        </p:spPr>
        <p:txBody>
          <a:bodyPr wrap="square" lIns="127000" tIns="127000" rIns="127000" bIns="127000" rtlCol="0" anchor="ctr"/>
          <a:lstStyle/>
          <a:p>
            <a:pPr indent="0" marL="0">
              <a:spcAft>
                <a:spcPts val="200"/>
              </a:spcAft>
              <a:buNone/>
            </a:pPr>
            <a:r>
              <a:rPr lang="en-US" sz="900" b="1" dirty="0">
                <a:solidFill>
                  <a:schemeClr val="accent2"/>
                </a:solidFill>
              </a:rPr>
              <a:t>Finn</a:t>
            </a:r>
            <a:endParaRPr lang="en-US" sz="900" dirty="0"/>
          </a:p>
          <a:p>
            <a:pPr indent="0" marL="0">
              <a:spcAft>
                <a:spcPts val="200"/>
              </a:spcAft>
              <a:buNone/>
            </a:pPr>
            <a:r>
              <a:rPr lang="en-US" sz="1260" dirty="0">
                <a:solidFill>
                  <a:schemeClr val="bg1"/>
                </a:solidFill>
              </a:rPr>
              <a:t>Got it. I'll update the CRM myself, and let Lotte know.</a:t>
            </a:r>
            <a:endParaRPr lang="en-US" sz="900" dirty="0"/>
          </a:p>
        </p:txBody>
      </p:sp>
      <p:sp>
        <p:nvSpPr>
          <p:cNvPr id="24" name="Bubble Roy 2"/>
          <p:cNvSpPr/>
          <p:nvPr/>
        </p:nvSpPr>
        <p:spPr>
          <a:xfrm>
            <a:off x="8595360" y="4724400"/>
            <a:ext cx="3048000" cy="533400"/>
          </a:xfrm>
          <a:prstGeom prst="roundRect">
            <a:avLst>
              <a:gd name="adj" fmla="val 25714"/>
            </a:avLst>
          </a:prstGeom>
          <a:solidFill>
            <a:schemeClr val="accent1"/>
          </a:solidFill>
          <a:ln/>
        </p:spPr>
        <p:txBody>
          <a:bodyPr wrap="square" lIns="127000" tIns="127000" rIns="127000" bIns="127000" rtlCol="0" anchor="ctr"/>
          <a:lstStyle/>
          <a:p>
            <a:pPr indent="0" marL="0">
              <a:spcAft>
                <a:spcPts val="200"/>
              </a:spcAft>
              <a:buNone/>
            </a:pPr>
            <a:r>
              <a:rPr lang="en-US" sz="900" b="1" dirty="0">
                <a:solidFill>
                  <a:schemeClr val="bg1"/>
                </a:solidFill>
              </a:rPr>
              <a:t>Roy</a:t>
            </a:r>
            <a:endParaRPr lang="en-US" sz="900" dirty="0"/>
          </a:p>
          <a:p>
            <a:pPr indent="0" marL="0">
              <a:spcAft>
                <a:spcPts val="200"/>
              </a:spcAft>
              <a:buNone/>
            </a:pPr>
            <a:r>
              <a:rPr lang="en-US" sz="1260" dirty="0">
                <a:solidFill>
                  <a:schemeClr val="bg1"/>
                </a:solidFill>
              </a:rPr>
              <a:t>Thanks, Finn!</a:t>
            </a:r>
            <a:endParaRPr lang="en-US" sz="900" dirty="0"/>
          </a:p>
        </p:txBody>
      </p:sp>
      <p:sp>
        <p:nvSpPr>
          <p:cNvPr id="25" name="Knowledge card"/>
          <p:cNvSpPr/>
          <p:nvPr/>
        </p:nvSpPr>
        <p:spPr>
          <a:xfrm>
            <a:off x="548640" y="4152900"/>
            <a:ext cx="4876800" cy="2209800"/>
          </a:xfrm>
          <a:prstGeom prst="roundRect">
            <a:avLst>
              <a:gd name="adj" fmla="val 8276"/>
            </a:avLst>
          </a:prstGeom>
          <a:solidFill>
            <a:schemeClr val="bg1"/>
          </a:solidFill>
          <a:ln w="38100">
            <a:solidFill>
              <a:srgbClr val="3CCF7A"/>
            </a:solidFill>
            <a:prstDash val="solid"/>
          </a:ln>
        </p:spPr>
      </p:sp>
      <p:pic>
        <p:nvPicPr>
          <p:cNvPr id="26" name="Knowledge icon" descr="preencoded.png">    </p:cNvPr>
          <p:cNvPicPr>
            <a:picLocks noChangeAspect="1"/>
          </p:cNvPicPr>
          <p:nvPr/>
        </p:nvPicPr>
        <p:blipFill>
          <a:blip r:embed="rId3"/>
          <a:stretch>
            <a:fillRect/>
          </a:stretch>
        </p:blipFill>
        <p:spPr>
          <a:xfrm>
            <a:off x="792480" y="4351020"/>
            <a:ext cx="228600" cy="228600"/>
          </a:xfrm>
          <a:prstGeom prst="rect">
            <a:avLst/>
          </a:prstGeom>
        </p:spPr>
      </p:pic>
      <p:sp>
        <p:nvSpPr>
          <p:cNvPr id="27" name="Knowledge head"/>
          <p:cNvSpPr txBox="1"/>
          <p:nvPr/>
        </p:nvSpPr>
        <p:spPr>
          <a:xfrm>
            <a:off x="1112520" y="4328160"/>
            <a:ext cx="4114800" cy="274320"/>
          </a:xfrm>
          <a:prstGeom prst="rect">
            <a:avLst/>
          </a:prstGeom>
          <a:noFill/>
          <a:ln/>
        </p:spPr>
        <p:txBody>
          <a:bodyPr wrap="square" lIns="0" tIns="0" rIns="0" bIns="0" rtlCol="0" anchor="ctr"/>
          <a:lstStyle/>
          <a:p>
            <a:pPr indent="0" marL="0">
              <a:buNone/>
            </a:pPr>
            <a:r>
              <a:rPr lang="en-US" sz="1260" b="1" dirty="0">
                <a:solidFill>
                  <a:schemeClr val="tx1"/>
                </a:solidFill>
              </a:rPr>
              <a:t>Saved to the CRM by Finn</a:t>
            </a:r>
            <a:endParaRPr lang="en-US" sz="1260" dirty="0"/>
          </a:p>
        </p:txBody>
      </p:sp>
      <p:sp>
        <p:nvSpPr>
          <p:cNvPr id="28" name="Knowledge source"/>
          <p:cNvSpPr txBox="1"/>
          <p:nvPr/>
        </p:nvSpPr>
        <p:spPr>
          <a:xfrm>
            <a:off x="792480" y="4648200"/>
            <a:ext cx="4419600" cy="182880"/>
          </a:xfrm>
          <a:prstGeom prst="rect">
            <a:avLst/>
          </a:prstGeom>
          <a:noFill/>
          <a:ln/>
        </p:spPr>
        <p:txBody>
          <a:bodyPr wrap="square" lIns="0" tIns="0" rIns="0" bIns="0" rtlCol="0" anchor="t"/>
          <a:lstStyle/>
          <a:p>
            <a:pPr indent="0" marL="0">
              <a:buNone/>
            </a:pPr>
            <a:r>
              <a:rPr lang="en-US" sz="900" dirty="0">
                <a:solidFill>
                  <a:schemeClr val="accent6"/>
                </a:solidFill>
              </a:rPr>
              <a:t>S35 · Teams call with Roy · 21 October 2026</a:t>
            </a:r>
            <a:endParaRPr lang="en-US" sz="900" dirty="0"/>
          </a:p>
        </p:txBody>
      </p:sp>
      <p:sp>
        <p:nvSpPr>
          <p:cNvPr id="29" name="Knowledge quote"/>
          <p:cNvSpPr txBox="1"/>
          <p:nvPr/>
        </p:nvSpPr>
        <p:spPr>
          <a:xfrm>
            <a:off x="792480" y="4861560"/>
            <a:ext cx="4419600" cy="487680"/>
          </a:xfrm>
          <a:prstGeom prst="rect">
            <a:avLst/>
          </a:prstGeom>
          <a:noFill/>
          <a:ln/>
        </p:spPr>
        <p:txBody>
          <a:bodyPr wrap="square" lIns="0" tIns="0" rIns="0" bIns="0" rtlCol="0" anchor="t"/>
          <a:lstStyle/>
          <a:p>
            <a:pPr indent="0" marL="0">
              <a:buNone/>
            </a:pPr>
            <a:r>
              <a:rPr lang="en-US" sz="1380" b="1" dirty="0">
                <a:solidFill>
                  <a:schemeClr val="tx1"/>
                </a:solidFill>
              </a:rPr>
              <a:t>“Atlas may submit payroll changes until 22 October 2026.”</a:t>
            </a:r>
            <a:endParaRPr lang="en-US" sz="1380" dirty="0"/>
          </a:p>
        </p:txBody>
      </p:sp>
      <p:sp>
        <p:nvSpPr>
          <p:cNvPr id="30" name="Chip owner"/>
          <p:cNvSpPr/>
          <p:nvPr/>
        </p:nvSpPr>
        <p:spPr>
          <a:xfrm>
            <a:off x="792480" y="5410200"/>
            <a:ext cx="1600200" cy="228600"/>
          </a:xfrm>
          <a:prstGeom prst="roundRect">
            <a:avLst>
              <a:gd name="adj" fmla="val 48000"/>
            </a:avLst>
          </a:prstGeom>
          <a:solidFill>
            <a:srgbClr val="E7F5EC"/>
          </a:solidFill>
          <a:ln/>
        </p:spPr>
        <p:txBody>
          <a:bodyPr wrap="square" lIns="0" tIns="0" rIns="0" bIns="0" rtlCol="0" anchor="ctr"/>
          <a:lstStyle/>
          <a:p>
            <a:pPr algn="ctr" indent="0" marL="0">
              <a:buNone/>
            </a:pPr>
            <a:r>
              <a:rPr lang="en-US" sz="900" b="1" dirty="0">
                <a:solidFill>
                  <a:schemeClr val="accent4"/>
                </a:solidFill>
              </a:rPr>
              <a:t>Confirmed by the owner</a:t>
            </a:r>
            <a:endParaRPr lang="en-US" sz="900" dirty="0"/>
          </a:p>
        </p:txBody>
      </p:sp>
      <p:sp>
        <p:nvSpPr>
          <p:cNvPr id="31" name="Chip scope"/>
          <p:cNvSpPr/>
          <p:nvPr/>
        </p:nvSpPr>
        <p:spPr>
          <a:xfrm>
            <a:off x="2468880" y="5410200"/>
            <a:ext cx="1905000" cy="228600"/>
          </a:xfrm>
          <a:prstGeom prst="roundRect">
            <a:avLst>
              <a:gd name="adj" fmla="val 48000"/>
            </a:avLst>
          </a:prstGeom>
          <a:solidFill>
            <a:srgbClr val="E9EEF3"/>
          </a:solidFill>
          <a:ln/>
        </p:spPr>
        <p:txBody>
          <a:bodyPr wrap="square" lIns="0" tIns="0" rIns="0" bIns="0" rtlCol="0" anchor="ctr"/>
          <a:lstStyle/>
          <a:p>
            <a:pPr algn="ctr" indent="0" marL="0">
              <a:buNone/>
            </a:pPr>
            <a:r>
              <a:rPr lang="en-US" sz="900" b="1" dirty="0">
                <a:solidFill>
                  <a:schemeClr val="tx1"/>
                </a:solidFill>
              </a:rPr>
              <a:t>Belgium · Atlas · October 2026</a:t>
            </a:r>
            <a:endParaRPr lang="en-US" sz="900" dirty="0"/>
          </a:p>
        </p:txBody>
      </p:sp>
      <p:sp>
        <p:nvSpPr>
          <p:cNvPr id="32" name="Trust label"/>
          <p:cNvSpPr txBox="1"/>
          <p:nvPr/>
        </p:nvSpPr>
        <p:spPr>
          <a:xfrm>
            <a:off x="792480" y="5791200"/>
            <a:ext cx="838200" cy="381000"/>
          </a:xfrm>
          <a:prstGeom prst="rect">
            <a:avLst/>
          </a:prstGeom>
          <a:noFill/>
          <a:ln/>
        </p:spPr>
        <p:txBody>
          <a:bodyPr wrap="square" lIns="0" tIns="0" rIns="0" bIns="0" rtlCol="0" anchor="ctr"/>
          <a:lstStyle/>
          <a:p>
            <a:pPr indent="0" marL="0">
              <a:buNone/>
            </a:pPr>
            <a:r>
              <a:rPr lang="en-US" sz="1000" dirty="0">
                <a:solidFill>
                  <a:schemeClr val="accent6"/>
                </a:solidFill>
              </a:rPr>
              <a:t>Trust  </a:t>
            </a:r>
            <a:pPr indent="0" marL="0">
              <a:buNone/>
            </a:pPr>
            <a:r>
              <a:rPr lang="en-US" sz="1300" strike="sngStrike" dirty="0">
                <a:solidFill>
                  <a:schemeClr val="accent6"/>
                </a:solidFill>
              </a:rPr>
              <a:t>15%</a:t>
            </a:r>
            <a:endParaRPr lang="en-US" sz="1000" dirty="0"/>
          </a:p>
        </p:txBody>
      </p:sp>
      <p:sp>
        <p:nvSpPr>
          <p:cNvPr id="33" name="Trust value"/>
          <p:cNvSpPr txBox="1"/>
          <p:nvPr/>
        </p:nvSpPr>
        <p:spPr>
          <a:xfrm>
            <a:off x="1630680" y="5745480"/>
            <a:ext cx="914400" cy="457200"/>
          </a:xfrm>
          <a:prstGeom prst="rect">
            <a:avLst/>
          </a:prstGeom>
          <a:noFill/>
          <a:ln/>
        </p:spPr>
        <p:txBody>
          <a:bodyPr wrap="square" lIns="0" tIns="0" rIns="0" bIns="0" rtlCol="0" anchor="ctr"/>
          <a:lstStyle/>
          <a:p>
            <a:pPr indent="0" marL="0">
              <a:buNone/>
            </a:pPr>
            <a:r>
              <a:rPr lang="en-US" sz="2400" b="1" dirty="0">
                <a:solidFill>
                  <a:schemeClr val="accent4"/>
                </a:solidFill>
              </a:rPr>
              <a:t>94%</a:t>
            </a:r>
            <a:endParaRPr lang="en-US" sz="2400" dirty="0"/>
          </a:p>
        </p:txBody>
      </p:sp>
      <p:sp>
        <p:nvSpPr>
          <p:cNvPr id="34" name="Meter bg"/>
          <p:cNvSpPr/>
          <p:nvPr/>
        </p:nvSpPr>
        <p:spPr>
          <a:xfrm>
            <a:off x="2621280" y="5928360"/>
            <a:ext cx="2560320" cy="91440"/>
          </a:xfrm>
          <a:prstGeom prst="roundRect">
            <a:avLst>
              <a:gd name="adj" fmla="val 50000"/>
            </a:avLst>
          </a:prstGeom>
          <a:solidFill>
            <a:srgbClr val="EEF0F3"/>
          </a:solidFill>
          <a:ln/>
        </p:spPr>
      </p:sp>
      <p:sp>
        <p:nvSpPr>
          <p:cNvPr id="35" name="Meter fill"/>
          <p:cNvSpPr/>
          <p:nvPr/>
        </p:nvSpPr>
        <p:spPr>
          <a:xfrm>
            <a:off x="2621280" y="5928360"/>
            <a:ext cx="2407920" cy="91440"/>
          </a:xfrm>
          <a:prstGeom prst="roundRect">
            <a:avLst>
              <a:gd name="adj" fmla="val 50000"/>
            </a:avLst>
          </a:prstGeom>
          <a:solidFill>
            <a:schemeClr val="accent4"/>
          </a:solidFill>
          <a:ln/>
        </p:spPr>
      </p:sp>
      <p:pic>
        <p:nvPicPr>
          <p:cNvPr id="39" name="Finn audio 1"/>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12298680" y="274320"/>
            <a:ext cx="457200" cy="457200"/>
          </a:xfrm>
          <a:prstGeom prst="rect">
            <a:avLst/>
          </a:prstGeom>
        </p:spPr>
      </p:pic>
      <p:pic>
        <p:nvPicPr>
          <p:cNvPr id="40" name="Finn audio 2"/>
          <p:cNvPicPr>
            <a:picLocks noChangeAspect="1"/>
          </p:cNvPicPr>
          <p:nvPr>
            <a:audioFile r:link="rId7"/>
            <p:extLst>
              <p:ext uri="{DAA4B4D4-6D71-4841-9C94-3DE7FCFB9230}">
                <p14:media xmlns:p14="http://schemas.microsoft.com/office/powerpoint/2010/main" r:embed="rId8"/>
              </p:ext>
            </p:extLst>
          </p:nvPr>
        </p:nvPicPr>
        <p:blipFill>
          <a:blip r:embed="rId9"/>
          <a:stretch>
            <a:fillRect/>
          </a:stretch>
        </p:blipFill>
        <p:spPr>
          <a:xfrm>
            <a:off x="12298680" y="914400"/>
            <a:ext cx="457200" cy="457200"/>
          </a:xfrm>
          <a:prstGeom prst="rect">
            <a:avLst/>
          </a:prstGeom>
        </p:spPr>
      </p:pic>
      <p:sp>
        <p:nvSpPr>
          <p:cNvPr id="38"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afterEffect">
                                  <p:stCondLst>
                                    <p:cond delay="2000"/>
                                  </p:stCondLst>
                                  <p:childTnLst>
                                    <p:animEffect transition="out" filter="fade">
                                      <p:cBhvr>
                                        <p:cTn id="6" dur="300"/>
                                        <p:tgtEl>
                                          <p:spTgt spid="4"/>
                                        </p:tgtEl>
                                      </p:cBhvr>
                                    </p:animEffect>
                                    <p:set>
                                      <p:cBhvr>
                                        <p:cTn id="7" dur="1" fill="hold">
                                          <p:stCondLst>
                                            <p:cond delay="299"/>
                                          </p:stCondLst>
                                        </p:cTn>
                                        <p:tgtEl>
                                          <p:spTgt spid="4"/>
                                        </p:tgtEl>
                                        <p:attrNameLst>
                                          <p:attrName>style.visibility</p:attrName>
                                        </p:attrNameLst>
                                      </p:cBhvr>
                                      <p:to>
                                        <p:strVal val="hidden"/>
                                      </p:to>
                                    </p:set>
                                  </p:childTnLst>
                                </p:cTn>
                              </p:par>
                              <p:par>
                                <p:cTn id="8" presetID="10" presetClass="exit" presetSubtype="0" fill="hold" grpId="0" nodeType="withEffect">
                                  <p:stCondLst>
                                    <p:cond delay="2000"/>
                                  </p:stCondLst>
                                  <p:childTnLst>
                                    <p:animEffect transition="out" filter="fade">
                                      <p:cBhvr>
                                        <p:cTn id="9" dur="300"/>
                                        <p:tgtEl>
                                          <p:spTgt spid="7"/>
                                        </p:tgtEl>
                                      </p:cBhvr>
                                    </p:animEffect>
                                    <p:set>
                                      <p:cBhvr>
                                        <p:cTn id="10" dur="1" fill="hold">
                                          <p:stCondLst>
                                            <p:cond delay="299"/>
                                          </p:stCondLst>
                                        </p:cTn>
                                        <p:tgtEl>
                                          <p:spTgt spid="7"/>
                                        </p:tgtEl>
                                        <p:attrNameLst>
                                          <p:attrName>style.visibility</p:attrName>
                                        </p:attrNameLst>
                                      </p:cBhvr>
                                      <p:to>
                                        <p:strVal val="hidden"/>
                                      </p:to>
                                    </p:set>
                                  </p:childTnLst>
                                </p:cTn>
                              </p:par>
                              <p:par>
                                <p:cTn id="11" presetID="10" presetClass="exit" presetSubtype="0" fill="hold" grpId="0" nodeType="withEffect">
                                  <p:stCondLst>
                                    <p:cond delay="2000"/>
                                  </p:stCondLst>
                                  <p:childTnLst>
                                    <p:animEffect transition="out" filter="fade">
                                      <p:cBhvr>
                                        <p:cTn id="12" dur="300"/>
                                        <p:tgtEl>
                                          <p:spTgt spid="13"/>
                                        </p:tgtEl>
                                      </p:cBhvr>
                                    </p:animEffect>
                                    <p:set>
                                      <p:cBhvr>
                                        <p:cTn id="13" dur="1" fill="hold">
                                          <p:stCondLst>
                                            <p:cond delay="299"/>
                                          </p:stCondLst>
                                        </p:cTn>
                                        <p:tgtEl>
                                          <p:spTgt spid="13"/>
                                        </p:tgtEl>
                                        <p:attrNameLst>
                                          <p:attrName>style.visibility</p:attrName>
                                        </p:attrNameLst>
                                      </p:cBhvr>
                                      <p:to>
                                        <p:strVal val="hidden"/>
                                      </p:to>
                                    </p:set>
                                  </p:childTnLst>
                                </p:cTn>
                              </p:par>
                              <p:par>
                                <p:cTn id="14" presetID="10" presetClass="entr" presetSubtype="0" fill="hold" grpId="0" nodeType="withEffect">
                                  <p:stCondLst>
                                    <p:cond delay="20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300"/>
                                        <p:tgtEl>
                                          <p:spTgt spid="5"/>
                                        </p:tgtEl>
                                      </p:cBhvr>
                                    </p:animEffect>
                                  </p:childTnLst>
                                </p:cTn>
                              </p:par>
                              <p:par>
                                <p:cTn id="17" presetID="10" presetClass="entr" presetSubtype="0" fill="hold" grpId="0" nodeType="withEffect">
                                  <p:stCondLst>
                                    <p:cond delay="20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00"/>
                                        <p:tgtEl>
                                          <p:spTgt spid="8"/>
                                        </p:tgtEl>
                                      </p:cBhvr>
                                    </p:animEffect>
                                  </p:childTnLst>
                                </p:cTn>
                              </p:par>
                              <p:par>
                                <p:cTn id="20" presetID="10" presetClass="entr" presetSubtype="0" fill="hold" grpId="0" nodeType="withEffect">
                                  <p:stCondLst>
                                    <p:cond delay="20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300"/>
                                        <p:tgtEl>
                                          <p:spTgt spid="14"/>
                                        </p:tgtEl>
                                      </p:cBhvr>
                                    </p:animEffect>
                                  </p:childTnLst>
                                </p:cTn>
                              </p:par>
                              <p:par>
                                <p:cTn id="23" presetID="10" presetClass="entr" presetSubtype="0" fill="hold" grpId="0" nodeType="withEffect">
                                  <p:stCondLst>
                                    <p:cond delay="210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 presetClass="mediacall" presetSubtype="0" fill="hold" nodeType="withEffect">
                                  <p:stCondLst>
                                    <p:cond delay="2100"/>
                                  </p:stCondLst>
                                  <p:childTnLst>
                                    <p:cmd type="call" cmd="playFrom(0.0)">
                                      <p:cBhvr>
                                        <p:cTn id="27" dur="10176" fill="hold"/>
                                        <p:tgtEl>
                                          <p:spTgt spid="39"/>
                                        </p:tgtEl>
                                      </p:cBhvr>
                                    </p:cmd>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additive="base">
                                        <p:cTn id="32" dur="500" fill="hold"/>
                                        <p:tgtEl>
                                          <p:spTgt spid="22"/>
                                        </p:tgtEl>
                                        <p:attrNameLst>
                                          <p:attrName>ppt_x</p:attrName>
                                        </p:attrNameLst>
                                      </p:cBhvr>
                                      <p:tavLst>
                                        <p:tav tm="0">
                                          <p:val>
                                            <p:strVal val="#ppt_x"/>
                                          </p:val>
                                        </p:tav>
                                        <p:tav tm="100000">
                                          <p:val>
                                            <p:strVal val="#ppt_x"/>
                                          </p:val>
                                        </p:tav>
                                      </p:tavLst>
                                    </p:anim>
                                    <p:anim calcmode="lin" valueType="num">
                                      <p:cBhvr additive="base">
                                        <p:cTn id="3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fill="hold"/>
                                        <p:tgtEl>
                                          <p:spTgt spid="23"/>
                                        </p:tgtEl>
                                        <p:attrNameLst>
                                          <p:attrName>ppt_x</p:attrName>
                                        </p:attrNameLst>
                                      </p:cBhvr>
                                      <p:tavLst>
                                        <p:tav tm="0">
                                          <p:val>
                                            <p:strVal val="#ppt_x"/>
                                          </p:val>
                                        </p:tav>
                                        <p:tav tm="100000">
                                          <p:val>
                                            <p:strVal val="#ppt_x"/>
                                          </p:val>
                                        </p:tav>
                                      </p:tavLst>
                                    </p:anim>
                                    <p:anim calcmode="lin" valueType="num">
                                      <p:cBhvr additive="base">
                                        <p:cTn id="39" dur="500" fill="hold"/>
                                        <p:tgtEl>
                                          <p:spTgt spid="23"/>
                                        </p:tgtEl>
                                        <p:attrNameLst>
                                          <p:attrName>ppt_y</p:attrName>
                                        </p:attrNameLst>
                                      </p:cBhvr>
                                      <p:tavLst>
                                        <p:tav tm="0">
                                          <p:val>
                                            <p:strVal val="1+#ppt_h/2"/>
                                          </p:val>
                                        </p:tav>
                                        <p:tav tm="100000">
                                          <p:val>
                                            <p:strVal val="#ppt_y"/>
                                          </p:val>
                                        </p:tav>
                                      </p:tavLst>
                                    </p:anim>
                                  </p:childTnLst>
                                </p:cTn>
                              </p:par>
                              <p:par>
                                <p:cTn id="40" presetID="1" presetClass="mediacall" presetSubtype="0" fill="hold" nodeType="withEffect">
                                  <p:stCondLst>
                                    <p:cond delay="0"/>
                                  </p:stCondLst>
                                  <p:childTnLst>
                                    <p:cmd type="call" cmd="playFrom(0.0)">
                                      <p:cBhvr>
                                        <p:cTn id="41" dur="3888" fill="hold"/>
                                        <p:tgtEl>
                                          <p:spTgt spid="40"/>
                                        </p:tgtEl>
                                      </p:cBhvr>
                                    </p:cmd>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24"/>
                                        </p:tgtEl>
                                        <p:attrNameLst>
                                          <p:attrName>style.visibility</p:attrName>
                                        </p:attrNameLst>
                                      </p:cBhvr>
                                      <p:to>
                                        <p:strVal val="visible"/>
                                      </p:to>
                                    </p:set>
                                    <p:anim calcmode="lin" valueType="num">
                                      <p:cBhvr additive="base">
                                        <p:cTn id="46" dur="500" fill="hold"/>
                                        <p:tgtEl>
                                          <p:spTgt spid="24"/>
                                        </p:tgtEl>
                                        <p:attrNameLst>
                                          <p:attrName>ppt_x</p:attrName>
                                        </p:attrNameLst>
                                      </p:cBhvr>
                                      <p:tavLst>
                                        <p:tav tm="0">
                                          <p:val>
                                            <p:strVal val="#ppt_x"/>
                                          </p:val>
                                        </p:tav>
                                        <p:tav tm="100000">
                                          <p:val>
                                            <p:strVal val="#ppt_x"/>
                                          </p:val>
                                        </p:tav>
                                      </p:tavLst>
                                    </p:anim>
                                    <p:anim calcmode="lin" valueType="num">
                                      <p:cBhvr additive="base">
                                        <p:cTn id="47"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500"/>
                                        <p:tgtEl>
                                          <p:spTgt spid="3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500"/>
                                        <p:tgtEl>
                                          <p:spTgt spid="3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500"/>
                                        <p:tgtEl>
                                          <p:spTgt spid="3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500"/>
                                        <p:tgtEl>
                                          <p:spTgt spid="3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500"/>
                                        <p:tgtEl>
                                          <p:spTgt spid="34"/>
                                        </p:tgtEl>
                                      </p:cBhvr>
                                    </p:animEffect>
                                  </p:childTnLst>
                                </p:cTn>
                              </p:par>
                              <p:par>
                                <p:cTn id="80" presetID="22" presetClass="entr" presetSubtype="8" fill="hold" grpId="0" nodeType="withEffect">
                                  <p:stCondLst>
                                    <p:cond delay="500"/>
                                  </p:stCondLst>
                                  <p:childTnLst>
                                    <p:set>
                                      <p:cBhvr>
                                        <p:cTn id="81" dur="1" fill="hold">
                                          <p:stCondLst>
                                            <p:cond delay="0"/>
                                          </p:stCondLst>
                                        </p:cTn>
                                        <p:tgtEl>
                                          <p:spTgt spid="35"/>
                                        </p:tgtEl>
                                        <p:attrNameLst>
                                          <p:attrName>style.visibility</p:attrName>
                                        </p:attrNameLst>
                                      </p:cBhvr>
                                      <p:to>
                                        <p:strVal val="visible"/>
                                      </p:to>
                                    </p:set>
                                    <p:animEffect transition="in" filter="wipe(left)">
                                      <p:cBhvr>
                                        <p:cTn id="82" dur="1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83" display="0" fill="hold">
                  <p:stCondLst>
                    <p:cond delay="indefinite"/>
                  </p:stCondLst>
                  <p:endCondLst>
                    <p:cond evt="onStopAudio" delay="0">
                      <p:tgtEl>
                        <p:sldTgt/>
                      </p:tgtEl>
                    </p:cond>
                  </p:endCondLst>
                </p:cTn>
                <p:tgtEl>
                  <p:spTgt spid="39"/>
                </p:tgtEl>
              </p:cMediaNode>
            </p:audio>
            <p:audio>
              <p:cMediaNode vol="80000">
                <p:cTn id="84" display="0" fill="hold">
                  <p:stCondLst>
                    <p:cond delay="indefinite"/>
                  </p:stCondLst>
                  <p:endCondLst>
                    <p:cond evt="onStopAudio" delay="0">
                      <p:tgtEl>
                        <p:sldTgt/>
                      </p:tgtEl>
                    </p:cond>
                  </p:endCondLst>
                </p:cTn>
                <p:tgtEl>
                  <p:spTgt spid="40"/>
                </p:tgtEl>
              </p:cMediaNode>
            </p:audio>
          </p:childTnLst>
        </p:cTn>
      </p:par>
    </p:tnLst>
    <p:bldLst>
      <p:bldP spid="4" grpId="0" animBg="1"/>
      <p:bldP spid="7" grpId="0" animBg="1"/>
      <p:bldP spid="13" grpId="0" animBg="1"/>
      <p:bldP spid="5" grpId="0" animBg="1"/>
      <p:bldP spid="8" grpId="0" animBg="1"/>
      <p:bldP spid="14"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Lotte relieved" descr="/tmp/sdtrust-deck/gifs/lotte-relieved.gif">    </p:cNvPr>
          <p:cNvPicPr>
            <a:picLocks noChangeAspect="1"/>
          </p:cNvPicPr>
          <p:nvPr/>
        </p:nvPicPr>
        <p:blipFill>
          <a:blip r:embed="rId1"/>
          <a:stretch>
            <a:fillRect/>
          </a:stretch>
        </p:blipFill>
        <p:spPr>
          <a:xfrm>
            <a:off x="731520" y="1188720"/>
            <a:ext cx="2034540" cy="4389120"/>
          </a:xfrm>
          <a:prstGeom prst="rect">
            <a:avLst/>
          </a:prstGeom>
        </p:spPr>
      </p:pic>
      <p:pic>
        <p:nvPicPr>
          <p:cNvPr id="3" name="Finn waving" descr="/tmp/sdtrust-deck/gifs/finn-waving.gif">    </p:cNvPr>
          <p:cNvPicPr>
            <a:picLocks noChangeAspect="1"/>
          </p:cNvPicPr>
          <p:nvPr/>
        </p:nvPicPr>
        <p:blipFill>
          <a:blip r:embed="rId2"/>
          <a:stretch>
            <a:fillRect/>
          </a:stretch>
        </p:blipFill>
        <p:spPr>
          <a:xfrm>
            <a:off x="2895600" y="2971800"/>
            <a:ext cx="1645920" cy="2590800"/>
          </a:xfrm>
          <a:prstGeom prst="rect">
            <a:avLst/>
          </a:prstGeom>
        </p:spPr>
      </p:pic>
      <p:sp>
        <p:nvSpPr>
          <p:cNvPr id="4" name="Close 1"/>
          <p:cNvSpPr txBox="1"/>
          <p:nvPr/>
        </p:nvSpPr>
        <p:spPr>
          <a:xfrm>
            <a:off x="5212080" y="1371600"/>
            <a:ext cx="6705600" cy="609600"/>
          </a:xfrm>
          <a:prstGeom prst="rect">
            <a:avLst/>
          </a:prstGeom>
          <a:noFill/>
          <a:ln/>
        </p:spPr>
        <p:txBody>
          <a:bodyPr wrap="square" lIns="0" tIns="0" rIns="0" bIns="0" rtlCol="0" anchor="t"/>
          <a:lstStyle/>
          <a:p>
            <a:pPr indent="0" marL="0">
              <a:buNone/>
            </a:pPr>
            <a:r>
              <a:rPr lang="en-US" sz="3240" b="1" dirty="0">
                <a:solidFill>
                  <a:schemeClr val="bg1"/>
                </a:solidFill>
              </a:rPr>
              <a:t>An answer you can trust.</a:t>
            </a:r>
            <a:endParaRPr lang="en-US" sz="3240" dirty="0"/>
          </a:p>
        </p:txBody>
      </p:sp>
      <p:sp>
        <p:nvSpPr>
          <p:cNvPr id="5" name="Close 2"/>
          <p:cNvSpPr txBox="1"/>
          <p:nvPr/>
        </p:nvSpPr>
        <p:spPr>
          <a:xfrm>
            <a:off x="5212080" y="2194560"/>
            <a:ext cx="6705600" cy="990600"/>
          </a:xfrm>
          <a:prstGeom prst="rect">
            <a:avLst/>
          </a:prstGeom>
          <a:noFill/>
          <a:ln/>
        </p:spPr>
        <p:txBody>
          <a:bodyPr wrap="square" lIns="0" tIns="0" rIns="0" bIns="0" rtlCol="0" anchor="t"/>
          <a:lstStyle/>
          <a:p>
            <a:pPr indent="0" marL="0">
              <a:buNone/>
            </a:pPr>
            <a:r>
              <a:rPr lang="en-US" sz="2520" dirty="0">
                <a:solidFill>
                  <a:schemeClr val="accent2"/>
                </a:solidFill>
              </a:rPr>
              <a:t>Or an honest “I don't know”,</a:t>
            </a:r>
            <a:endParaRPr lang="en-US" sz="2520" dirty="0"/>
          </a:p>
          <a:p>
            <a:pPr indent="0" marL="0">
              <a:buNone/>
            </a:pPr>
            <a:r>
              <a:rPr lang="en-US" sz="2520" dirty="0">
                <a:solidFill>
                  <a:schemeClr val="accent2"/>
                </a:solidFill>
              </a:rPr>
              <a:t>plus the right colleague.</a:t>
            </a:r>
            <a:endParaRPr lang="en-US" sz="2520" dirty="0"/>
          </a:p>
        </p:txBody>
      </p:sp>
      <p:sp>
        <p:nvSpPr>
          <p:cNvPr id="6" name="Close 3"/>
          <p:cNvSpPr txBox="1"/>
          <p:nvPr/>
        </p:nvSpPr>
        <p:spPr>
          <a:xfrm>
            <a:off x="5212080" y="3931920"/>
            <a:ext cx="6705600" cy="381000"/>
          </a:xfrm>
          <a:prstGeom prst="rect">
            <a:avLst/>
          </a:prstGeom>
          <a:noFill/>
          <a:ln/>
        </p:spPr>
        <p:txBody>
          <a:bodyPr wrap="square" lIns="0" tIns="0" rIns="0" bIns="0" rtlCol="0" anchor="t"/>
          <a:lstStyle/>
          <a:p>
            <a:pPr indent="0" marL="0">
              <a:buNone/>
            </a:pPr>
            <a:r>
              <a:rPr lang="en-US" sz="1680" i="1" dirty="0">
                <a:solidFill>
                  <a:schemeClr val="bg2"/>
                </a:solidFill>
              </a:rPr>
              <a:t>Zero unnecessary effort.</a:t>
            </a:r>
            <a:endParaRPr lang="en-US" sz="1680" dirty="0"/>
          </a:p>
        </p:txBody>
      </p:sp>
      <p:pic>
        <p:nvPicPr>
          <p:cNvPr id="7" name="Close logo" descr="preencoded.png">    </p:cNvPr>
          <p:cNvPicPr>
            <a:picLocks noChangeAspect="1"/>
          </p:cNvPicPr>
          <p:nvPr/>
        </p:nvPicPr>
        <p:blipFill>
          <a:blip r:embed="rId3"/>
          <a:stretch>
            <a:fillRect/>
          </a:stretch>
        </p:blipFill>
        <p:spPr>
          <a:xfrm>
            <a:off x="5212080" y="4983480"/>
            <a:ext cx="548640" cy="548640"/>
          </a:xfrm>
          <a:prstGeom prst="rect">
            <a:avLst/>
          </a:prstGeom>
        </p:spPr>
      </p:pic>
      <p:sp>
        <p:nvSpPr>
          <p:cNvPr id="8" name="Close brand"/>
          <p:cNvSpPr txBox="1"/>
          <p:nvPr/>
        </p:nvSpPr>
        <p:spPr>
          <a:xfrm>
            <a:off x="5867400" y="4983480"/>
            <a:ext cx="3048000" cy="548640"/>
          </a:xfrm>
          <a:prstGeom prst="rect">
            <a:avLst/>
          </a:prstGeom>
          <a:noFill/>
          <a:ln/>
        </p:spPr>
        <p:txBody>
          <a:bodyPr wrap="square" lIns="0" tIns="0" rIns="0" bIns="0" rtlCol="0" anchor="ctr"/>
          <a:lstStyle/>
          <a:p>
            <a:pPr indent="0" marL="0">
              <a:buNone/>
            </a:pPr>
            <a:r>
              <a:rPr lang="en-US" sz="2040" b="1" dirty="0">
                <a:solidFill>
                  <a:schemeClr val="bg1"/>
                </a:solidFill>
              </a:rPr>
              <a:t>SDtrust</a:t>
            </a:r>
            <a:endParaRPr lang="en-US" sz="2040" dirty="0"/>
          </a:p>
        </p:txBody>
      </p:sp>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15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hanks"/>
          <p:cNvSpPr txBox="1"/>
          <p:nvPr/>
        </p:nvSpPr>
        <p:spPr>
          <a:xfrm>
            <a:off x="731520" y="1447800"/>
            <a:ext cx="6858000" cy="1066800"/>
          </a:xfrm>
          <a:prstGeom prst="rect">
            <a:avLst/>
          </a:prstGeom>
          <a:noFill/>
          <a:ln/>
        </p:spPr>
        <p:txBody>
          <a:bodyPr wrap="square" lIns="0" tIns="0" rIns="0" bIns="0" rtlCol="0" anchor="t"/>
          <a:lstStyle/>
          <a:p>
            <a:pPr indent="0" marL="0">
              <a:buNone/>
            </a:pPr>
            <a:r>
              <a:rPr lang="en-US" sz="7200" b="1" dirty="0">
                <a:solidFill>
                  <a:schemeClr val="bg1"/>
                </a:solidFill>
              </a:rPr>
              <a:t>Thank you</a:t>
            </a:r>
            <a:endParaRPr lang="en-US" sz="7200" dirty="0"/>
          </a:p>
        </p:txBody>
      </p:sp>
      <p:sp>
        <p:nvSpPr>
          <p:cNvPr id="3" name="Questions"/>
          <p:cNvSpPr txBox="1"/>
          <p:nvPr/>
        </p:nvSpPr>
        <p:spPr>
          <a:xfrm>
            <a:off x="731520" y="2667000"/>
            <a:ext cx="6858000" cy="533400"/>
          </a:xfrm>
          <a:prstGeom prst="rect">
            <a:avLst/>
          </a:prstGeom>
          <a:noFill/>
          <a:ln/>
        </p:spPr>
        <p:txBody>
          <a:bodyPr wrap="square" lIns="0" tIns="0" rIns="0" bIns="0" rtlCol="0" anchor="t"/>
          <a:lstStyle/>
          <a:p>
            <a:pPr indent="0" marL="0">
              <a:buNone/>
            </a:pPr>
            <a:r>
              <a:rPr lang="en-US" sz="2520" dirty="0">
                <a:solidFill>
                  <a:schemeClr val="accent2"/>
                </a:solidFill>
              </a:rPr>
              <a:t>Questions? Finn is listening.</a:t>
            </a:r>
            <a:endParaRPr lang="en-US" sz="2520" dirty="0"/>
          </a:p>
        </p:txBody>
      </p:sp>
      <p:sp>
        <p:nvSpPr>
          <p:cNvPr id="4" name="Team"/>
          <p:cNvSpPr txBox="1"/>
          <p:nvPr/>
        </p:nvSpPr>
        <p:spPr>
          <a:xfrm>
            <a:off x="731520" y="4267200"/>
            <a:ext cx="6096000" cy="274320"/>
          </a:xfrm>
          <a:prstGeom prst="rect">
            <a:avLst/>
          </a:prstGeom>
          <a:noFill/>
          <a:ln/>
        </p:spPr>
        <p:txBody>
          <a:bodyPr wrap="square" lIns="0" tIns="0" rIns="0" bIns="0" rtlCol="0" anchor="t"/>
          <a:lstStyle/>
          <a:p>
            <a:pPr indent="0" marL="0">
              <a:buNone/>
            </a:pPr>
            <a:r>
              <a:rPr lang="en-US" sz="1200" b="1" dirty="0">
                <a:solidFill>
                  <a:schemeClr val="accent2"/>
                </a:solidFill>
              </a:rPr>
              <a:t>Sebastien · Roy · Wanne</a:t>
            </a:r>
            <a:endParaRPr lang="en-US" sz="1200" dirty="0"/>
          </a:p>
        </p:txBody>
      </p:sp>
      <p:sp>
        <p:nvSpPr>
          <p:cNvPr id="5" name="Meta"/>
          <p:cNvSpPr txBox="1"/>
          <p:nvPr/>
        </p:nvSpPr>
        <p:spPr>
          <a:xfrm>
            <a:off x="731520" y="4602480"/>
            <a:ext cx="6858000" cy="228600"/>
          </a:xfrm>
          <a:prstGeom prst="rect">
            <a:avLst/>
          </a:prstGeom>
          <a:noFill/>
          <a:ln/>
        </p:spPr>
        <p:txBody>
          <a:bodyPr wrap="square" lIns="0" tIns="0" rIns="0" bIns="0" rtlCol="0" anchor="t"/>
          <a:lstStyle/>
          <a:p>
            <a:pPr indent="0" marL="0">
              <a:buNone/>
            </a:pPr>
            <a:r>
              <a:rPr lang="en-US" sz="1020" dirty="0">
                <a:solidFill>
                  <a:schemeClr val="bg2"/>
                </a:solidFill>
              </a:rPr>
              <a:t>Tectonic hackathon finals · SD Worx challenge · 20 October 2026</a:t>
            </a:r>
            <a:endParaRPr lang="en-US" sz="1020" dirty="0"/>
          </a:p>
        </p:txBody>
      </p:sp>
      <p:pic>
        <p:nvPicPr>
          <p:cNvPr id="6" name="Thanks logo" descr="preencoded.png">    </p:cNvPr>
          <p:cNvPicPr>
            <a:picLocks noChangeAspect="1"/>
          </p:cNvPicPr>
          <p:nvPr/>
        </p:nvPicPr>
        <p:blipFill>
          <a:blip r:embed="rId1"/>
          <a:stretch>
            <a:fillRect/>
          </a:stretch>
        </p:blipFill>
        <p:spPr>
          <a:xfrm>
            <a:off x="731520" y="5181600"/>
            <a:ext cx="548640" cy="548640"/>
          </a:xfrm>
          <a:prstGeom prst="rect">
            <a:avLst/>
          </a:prstGeom>
        </p:spPr>
      </p:pic>
      <p:sp>
        <p:nvSpPr>
          <p:cNvPr id="7" name="Thanks brand"/>
          <p:cNvSpPr txBox="1"/>
          <p:nvPr/>
        </p:nvSpPr>
        <p:spPr>
          <a:xfrm>
            <a:off x="1386840" y="5181600"/>
            <a:ext cx="3048000" cy="548640"/>
          </a:xfrm>
          <a:prstGeom prst="rect">
            <a:avLst/>
          </a:prstGeom>
          <a:noFill/>
          <a:ln/>
        </p:spPr>
        <p:txBody>
          <a:bodyPr wrap="square" lIns="0" tIns="0" rIns="0" bIns="0" rtlCol="0" anchor="ctr"/>
          <a:lstStyle/>
          <a:p>
            <a:pPr indent="0" marL="0">
              <a:buNone/>
            </a:pPr>
            <a:r>
              <a:rPr lang="en-US" sz="2040" b="1" dirty="0">
                <a:solidFill>
                  <a:schemeClr val="bg1"/>
                </a:solidFill>
              </a:rPr>
              <a:t>SDtrust</a:t>
            </a:r>
            <a:endParaRPr lang="en-US" sz="2040" dirty="0"/>
          </a:p>
        </p:txBody>
      </p:sp>
      <p:pic>
        <p:nvPicPr>
          <p:cNvPr id="8" name="Finn proud" descr="/tmp/sdtrust-deck/gifs/finn-proud.gif">    </p:cNvPr>
          <p:cNvPicPr>
            <a:picLocks noChangeAspect="1"/>
          </p:cNvPicPr>
          <p:nvPr/>
        </p:nvPicPr>
        <p:blipFill>
          <a:blip r:embed="rId2"/>
          <a:stretch>
            <a:fillRect/>
          </a:stretch>
        </p:blipFill>
        <p:spPr>
          <a:xfrm>
            <a:off x="8229600" y="1066800"/>
            <a:ext cx="2560320" cy="4876800"/>
          </a:xfrm>
          <a:prstGeom prst="rect">
            <a:avLst/>
          </a:prstGeom>
        </p:spPr>
      </p:pic>
      <p:sp>
        <p:nvSpPr>
          <p:cNvPr id="25" name="Slide Number Placeholder 0"/>
          <p:cNvSpPr>
            <a:spLocks noGrp="1"/>
          </p:cNvSpPr>
          <p:nvPr>
            <p:ph type="sldNum" sz="quarter" idx="4294967295"/>
          </p:nvPr>
        </p:nvSpPr>
        <p:spPr>
          <a:xfrm>
            <a:off x="11338560" y="63550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theme/theme1.xml><?xml version="1.0" encoding="utf-8"?>
<a:theme xmlns:a="http://schemas.openxmlformats.org/drawingml/2006/main" name="SDtrust">
  <a:themeElements>
    <a:clrScheme name="SDtrust">
      <a:dk1>
        <a:srgbClr val="192D46"/>
      </a:dk1>
      <a:lt1>
        <a:srgbClr val="FFFFFF"/>
      </a:lt1>
      <a:dk2>
        <a:srgbClr val="0F1D31"/>
      </a:dk2>
      <a:lt2>
        <a:srgbClr val="F8F6F1"/>
      </a:lt2>
      <a:accent1>
        <a:srgbClr val="EE6558"/>
      </a:accent1>
      <a:accent2>
        <a:srgbClr val="F3BA55"/>
      </a:accent2>
      <a:accent3>
        <a:srgbClr val="6F9BE0"/>
      </a:accent3>
      <a:accent4>
        <a:srgbClr val="0F7A3A"/>
      </a:accent4>
      <a:accent5>
        <a:srgbClr val="D84935"/>
      </a:accent5>
      <a:accent6>
        <a:srgbClr val="5F6F85"/>
      </a:accent6>
      <a:hlink>
        <a:srgbClr val="6F9BE0"/>
      </a:hlink>
      <a:folHlink>
        <a:srgbClr val="5F6F85"/>
      </a:folHlink>
    </a:clrScheme>
    <a:fontScheme name="SDtrus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SDtrust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SDtrust pitch</dc:title>
  <dc:subject>PptxGenJS Presentation</dc:subject>
  <dc:creator>Sebastien, Roy, Wanne</dc:creator>
  <cp:lastModifiedBy>Sebastien, Roy, Wanne</cp:lastModifiedBy>
  <cp:revision>1</cp:revision>
  <dcterms:created xsi:type="dcterms:W3CDTF">2026-10-20T13:26:59Z</dcterms:created>
  <dcterms:modified xsi:type="dcterms:W3CDTF">2026-10-20T13:26:59Z</dcterms:modified>
</cp:coreProperties>
</file>