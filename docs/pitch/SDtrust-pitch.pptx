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c462b7f-c17f-43bb-ca01-29946aea3ca2}">
          <p14:sldIdLst>
            <p14:sldId id="256"/>
            <p14:sldId id="257"/>
          </p14:sldIdLst>
        </p14:section>
        <p14:section name="Solution" id="{f26e5203-c991-3f5c-ba00-e9436d942ab3}">
          <p14:sldIdLst>
            <p14:sldId id="258"/>
          </p14:sldIdLst>
        </p14:section>
        <p14:section name="Demo" id="{a51c75db-064d-c526-bd84-15ee7ba5db0e}">
          <p14:sldIdLst>
            <p14:sldId id="259"/>
            <p14:sldId id="260"/>
            <p14:sldId id="261"/>
          </p14:sldIdLst>
        </p14:section>
        <p14:section name="Call" id="{607bce7c-e1db-0210-149d-c8dbfed91b35}">
          <p14:sldIdLst>
            <p14:sldId id="262"/>
            <p14:sldId id="263"/>
          </p14:sldIdLst>
        </p14:section>
        <p14:section name="Close" id="{4e48a20d-8c96-740a-1494-21ad33b8d35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1 second, then Finn speaks (audio plays by itself):
  FINN: Hi Roy, it's Finn. You own the Atlas account, so you're the one who knows. Until when can Atlas submit payroll changes this October? I can't find anything approved.
CLICK 1, Roy answers live, loud and clear:
  ROY: Hi Finn! Until the 22nd. I agreed it with Atlas, but I never put it in the CRM.
CLICK 2, Finn answers (audio):
  FINN: Got it. I'll update the CRM myself, and let Lotte know.
CLICK 3, Roy answers live:
  ROY: Thanks, Finn!
CLICK 4, the CRM card appears. PRESENTER: Roy never opened the CRM. Finn wrote the agreement there himself, so the next person who asks gets the 22nd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audio" Target="../media/media-7-4.mp3"/><Relationship Id="rId5" Type="http://schemas.microsoft.com/office/2007/relationships/media" Target="../media/media-7-4.mp3"/><Relationship Id="rId6" Type="http://schemas.openxmlformats.org/officeDocument/2006/relationships/image" Target="../media/image-7-6.png"/><Relationship Id="rId7" Type="http://schemas.openxmlformats.org/officeDocument/2006/relationships/audio" Target="../media/media-7-7.mp3"/><Relationship Id="rId8" Type="http://schemas.microsoft.com/office/2007/relationships/media" Target="../media/media-7-7.mp3"/><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Confirmed by Roy</a:t>
            </a:r>
            <a:endParaRPr lang="en-US" sz="900" dirty="0"/>
          </a:p>
          <a:p>
            <a:pPr indent="0" marL="0">
              <a:spcAft>
                <a:spcPts val="400"/>
              </a:spcAft>
              <a:buNone/>
            </a:pPr>
            <a:r>
              <a:rPr lang="en-US" sz="900" dirty="0">
                <a:solidFill>
                  <a:schemeClr val="accent6"/>
                </a:solidFill>
              </a:rPr>
              <a:t>Account owner, Atlas</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The answer and its source</a:t>
            </a:r>
            <a:endParaRPr lang="en-US" sz="1000" dirty="0"/>
          </a:p>
        </p:txBody>
      </p:sp>
      <p:pic>
        <p:nvPicPr>
          <p:cNvPr id="26" name="Video 2"/>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Next month: Finn can't confirm</a:t>
            </a:r>
            <a:endParaRPr lang="en-US" sz="1000" dirty="0"/>
          </a:p>
        </p:txBody>
      </p:sp>
      <p:pic>
        <p:nvPicPr>
          <p:cNvPr id="26" name="Video 3"/>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is the Atlas account owner in the CRM</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account, so you're the one who knows. Until when can Atlas submit payroll changes this October?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22nd. I agreed it with Atlas, but I never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Got it. I'll update the CRM myself, and let Lotte know.</a:t>
            </a:r>
            <a:endParaRPr lang="en-US" sz="900" dirty="0"/>
          </a:p>
        </p:txBody>
      </p:sp>
      <p:sp>
        <p:nvSpPr>
          <p:cNvPr id="24" name="Bubble Roy 2"/>
          <p:cNvSpPr/>
          <p:nvPr/>
        </p:nvSpPr>
        <p:spPr>
          <a:xfrm>
            <a:off x="8595360" y="4724400"/>
            <a:ext cx="3048000" cy="533400"/>
          </a:xfrm>
          <a:prstGeom prst="roundRect">
            <a:avLst>
              <a:gd name="adj" fmla="val 2571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Thanks, Finn!</a:t>
            </a:r>
            <a:endParaRPr lang="en-US" sz="900" dirty="0"/>
          </a:p>
        </p:txBody>
      </p:sp>
      <p:sp>
        <p:nvSpPr>
          <p:cNvPr id="25"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6"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7"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Saved to the CRM by Finn</a:t>
            </a:r>
            <a:endParaRPr lang="en-US" sz="1260" dirty="0"/>
          </a:p>
        </p:txBody>
      </p:sp>
      <p:sp>
        <p:nvSpPr>
          <p:cNvPr id="28"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with Roy · 21 October 2026</a:t>
            </a:r>
            <a:endParaRPr lang="en-US" sz="900" dirty="0"/>
          </a:p>
        </p:txBody>
      </p:sp>
      <p:sp>
        <p:nvSpPr>
          <p:cNvPr id="29"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22 October 2026.”</a:t>
            </a:r>
            <a:endParaRPr lang="en-US" sz="1380" dirty="0"/>
          </a:p>
        </p:txBody>
      </p:sp>
      <p:sp>
        <p:nvSpPr>
          <p:cNvPr id="30"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1"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October 2026</a:t>
            </a:r>
            <a:endParaRPr lang="en-US" sz="900" dirty="0"/>
          </a:p>
        </p:txBody>
      </p:sp>
      <p:sp>
        <p:nvSpPr>
          <p:cNvPr id="32"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3"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4" name="Meter bg"/>
          <p:cNvSpPr/>
          <p:nvPr/>
        </p:nvSpPr>
        <p:spPr>
          <a:xfrm>
            <a:off x="2621280" y="5928360"/>
            <a:ext cx="2560320" cy="91440"/>
          </a:xfrm>
          <a:prstGeom prst="roundRect">
            <a:avLst>
              <a:gd name="adj" fmla="val 50000"/>
            </a:avLst>
          </a:prstGeom>
          <a:solidFill>
            <a:srgbClr val="EEF0F3"/>
          </a:solidFill>
          <a:ln/>
        </p:spPr>
      </p:sp>
      <p:sp>
        <p:nvSpPr>
          <p:cNvPr id="35" name="Meter fill"/>
          <p:cNvSpPr/>
          <p:nvPr/>
        </p:nvSpPr>
        <p:spPr>
          <a:xfrm>
            <a:off x="2621280" y="5928360"/>
            <a:ext cx="2407920" cy="91440"/>
          </a:xfrm>
          <a:prstGeom prst="roundRect">
            <a:avLst>
              <a:gd name="adj" fmla="val 50000"/>
            </a:avLst>
          </a:prstGeom>
          <a:solidFill>
            <a:schemeClr val="accent4"/>
          </a:solidFill>
          <a:ln/>
        </p:spPr>
      </p:sp>
      <p:pic>
        <p:nvPicPr>
          <p:cNvPr id="39"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40"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8"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9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9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9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9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1000"/>
                                  </p:stCondLst>
                                  <p:childTnLst>
                                    <p:cmd type="call" cmd="playFrom(0.0)">
                                      <p:cBhvr>
                                        <p:cTn id="27" dur="10176" fill="hold"/>
                                        <p:tgtEl>
                                          <p:spTgt spid="39"/>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888" fill="hold"/>
                                        <p:tgtEl>
                                          <p:spTgt spid="40"/>
                                        </p:tgtEl>
                                      </p:cBhvr>
                                    </p:cmd>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22" presetClass="entr" presetSubtype="8" fill="hold" grpId="0" nodeType="withEffect">
                                  <p:stCondLst>
                                    <p:cond delay="500"/>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1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83" display="0" fill="hold">
                  <p:stCondLst>
                    <p:cond delay="indefinite"/>
                  </p:stCondLst>
                  <p:endCondLst>
                    <p:cond evt="onStopAudio" delay="0">
                      <p:tgtEl>
                        <p:sldTgt/>
                      </p:tgtEl>
                    </p:cond>
                  </p:endCondLst>
                </p:cTn>
                <p:tgtEl>
                  <p:spTgt spid="39"/>
                </p:tgtEl>
              </p:cMediaNode>
            </p:audio>
            <p:audio>
              <p:cMediaNode vol="80000">
                <p:cTn id="84" display="0" fill="hold">
                  <p:stCondLst>
                    <p:cond delay="indefinite"/>
                  </p:stCondLst>
                  <p:endCondLst>
                    <p:cond evt="onStopAudio" delay="0">
                      <p:tgtEl>
                        <p:sldTgt/>
                      </p:tgtEl>
                    </p:cond>
                  </p:endCondLst>
                </p:cTn>
                <p:tgtEl>
                  <p:spTgt spid="40"/>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After Roy's answer</a:t>
            </a:r>
            <a:endParaRPr lang="en-US" sz="1000" dirty="0"/>
          </a:p>
        </p:txBody>
      </p:sp>
      <p:pic>
        <p:nvPicPr>
          <p:cNvPr id="26" name="Video 4"/>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167"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529840"/>
            <a:ext cx="1996440" cy="30480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proud" descr="/tmp/sdtrust-deck/gifs/finn-proud.gif">    </p:cNvPr>
          <p:cNvPicPr>
            <a:picLocks noChangeAspect="1"/>
          </p:cNvPicPr>
          <p:nvPr/>
        </p:nvPicPr>
        <p:blipFill>
          <a:blip r:embed="rId2"/>
          <a:stretch>
            <a:fillRect/>
          </a:stretch>
        </p:blipFill>
        <p:spPr>
          <a:xfrm>
            <a:off x="8229600" y="1066800"/>
            <a:ext cx="2560320" cy="48768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2026-10-20T13:54:59Z</dcterms:created>
  <dcterms:modified xsi:type="dcterms:W3CDTF">2026-10-20T13:54:59Z</dcterms:modified>
</cp:coreProperties>
</file>