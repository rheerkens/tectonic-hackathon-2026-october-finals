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mp3" ContentType="audio/mpeg"/>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oblem" id="{a396106f-46f5-766d-f84c-7295c6bdef70}">
          <p14:sldIdLst>
            <p14:sldId id="256"/>
            <p14:sldId id="257"/>
          </p14:sldIdLst>
        </p14:section>
        <p14:section name="Solution" id="{500985f7-6399-f060-7bf0-86de8daa3e22}">
          <p14:sldIdLst>
            <p14:sldId id="258"/>
          </p14:sldIdLst>
        </p14:section>
        <p14:section name="Demo" id="{54a70709-14e9-abcc-7e79-2c3cd4a617f0}">
          <p14:sldIdLst>
            <p14:sldId id="259"/>
            <p14:sldId id="260"/>
            <p14:sldId id="261"/>
            <p14:sldId id="262"/>
          </p14:sldIdLst>
        </p14:section>
        <p14:section name="Call" id="{de4c66f9-271a-d715-7d6d-d8610c8d7166}">
          <p14:sldIdLst>
            <p14:sldId id="263"/>
          </p14:sldIdLst>
        </p14:section>
        <p14:section name="Close" id="{ef578aec-2264-4a4e-0b71-8ddf269b02ad}">
          <p14:sldIdLst>
            <p14:sldId id="264"/>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It's 21 October. Lotte is a payroll consultant at SD Worx. Her client Atlas calls: can we still submit a payroll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procedure says the 20th. A Teams meeting said the 23rd. Someone in chat says the 25th. None of them is right: the real answer is the 22nd, an exception Roy agreed with Atlas. It was never written down, it only lives in Roy's head. Lotte doesn't lack information, she has too much of it, and nothing tells her which version to trust. If she guesses wrong, real people get the wrong salary.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That's the problem SD Worx asked us to solve: turn scattered knowledge into something people can trust, without anyone writing documentation. Our answer is SDtrust. It reads what your company already writes in Teams, mail, the CRM and procedures, decides which version to trust, and shows you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undefined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undefined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undefined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undefined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CALL. Roy stands up holding his phone as if he picks up.
On entering: the call rings for 1 second, then Finn speaks (audio plays by itself):
  FINN: Hi Roy, it's Finn. You own the Atlas account, so you're the one who knows. Until when can Atlas submit payroll changes this October? I can't find anything approved.
CLICK 1, Roy answers live, loud and clear:
  ROY: Hi Finn! Until the 22nd. I agreed it with Atlas, but I never put it in the CRM.
CLICK 2, Finn answers (audio):
  FINN: Got it. I'll update the CRM myself, and let Lotte know.
CLICK 3, Roy answers live:
  ROY: Thanks, Finn!
CLICK 4, the CRM card appears. PRESENTER: Roy never opened the CRM. Finn wrote the agreement there himself, so the next person who asks gets the 22nd straight 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SDtrust: an answer you can trust, or an honest I don't know plus the right colleague. Zero unnecessary effort.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the jury and open for questions.
If asked how trust is scored: four factors. Authority: an approved statement from the owner beats a proposal or a chat message. Scope: valid for this country, client and period. Validity: superseded or expired versions lose. Agreement: conflicting sources lower trust, and when trust is too low Finn asks the owner.
If asked whether this is real: the desktop app, the answer and evidence screens and the trust display are built. Sources and the call are simulated with demo data. Connecting Teams, mail and the CRM is the next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Dtrust Dark">
    <p:bg>
      <p:bgPr>
        <a:solidFill>
          <a:schemeClr val="tx2"/>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38560" y="63550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Dtrust Light">
    <p:bg>
      <p:bgPr>
        <a:solidFill>
          <a:schemeClr val="bg2"/>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48640" y="6309360"/>
            <a:ext cx="289560" cy="289560"/>
          </a:xfrm>
          <a:prstGeom prst="rect">
            <a:avLst/>
          </a:prstGeom>
        </p:spPr>
      </p:pic>
      <p:sp>
        <p:nvSpPr>
          <p:cNvPr id="3" name="Text 0"/>
          <p:cNvSpPr/>
          <p:nvPr/>
        </p:nvSpPr>
        <p:spPr>
          <a:xfrm>
            <a:off x="929640" y="6309360"/>
            <a:ext cx="5486400" cy="289560"/>
          </a:xfrm>
          <a:prstGeom prst="rect">
            <a:avLst/>
          </a:prstGeom>
          <a:noFill/>
          <a:ln/>
        </p:spPr>
        <p:txBody>
          <a:bodyPr wrap="square" lIns="0" tIns="0" rIns="0" bIns="0" rtlCol="0" anchor="ctr"/>
          <a:lstStyle/>
          <a:p>
            <a:pPr indent="0" marL="0">
              <a:buNone/>
            </a:pPr>
            <a:r>
              <a:rPr lang="en-US" sz="900" dirty="0">
                <a:solidFill>
                  <a:schemeClr val="accent6"/>
                </a:solidFill>
              </a:rPr>
              <a:t>SDtrust · Tectonic hackathon finals · SD Worx challenge</a:t>
            </a:r>
            <a:endParaRPr lang="en-US" sz="900" dirty="0"/>
          </a:p>
        </p:txBody>
      </p:sp>
      <p:sp>
        <p:nvSpPr>
          <p:cNvPr id="25" name="Slide Number Placeholder 0"/>
          <p:cNvSpPr>
            <a:spLocks noGrp="1"/>
          </p:cNvSpPr>
          <p:nvPr>
            <p:ph type="sldNum" sz="quarter" idx="4294967295"/>
          </p:nvPr>
        </p:nvSpPr>
        <p:spPr>
          <a:xfrm>
            <a:off x="11338560" y="63550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38560" y="63550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gif"/><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gif"/><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2.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video" Target="../media/media-4-1.mp4"/><Relationship Id="rId2" Type="http://schemas.microsoft.com/office/2007/relationships/media" Target="../media/media-4-1.mp4"/><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video" Target="../media/media-5-1.mp4"/><Relationship Id="rId2" Type="http://schemas.microsoft.com/office/2007/relationships/media" Target="../media/media-5-1.mp4"/><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video" Target="../media/media-6-1.mp4"/><Relationship Id="rId2" Type="http://schemas.microsoft.com/office/2007/relationships/media" Target="../media/media-6-1.mp4"/><Relationship Id="rId3" Type="http://schemas.openxmlformats.org/officeDocument/2006/relationships/image" Target="../media/image-6-3.png"/><Relationship Id="rId4" Type="http://schemas.openxmlformats.org/officeDocument/2006/relationships/slideLayout" Target="../slideLayouts/slideLayout2.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video" Target="../media/media-7-1.mp4"/><Relationship Id="rId2" Type="http://schemas.microsoft.com/office/2007/relationships/media" Target="../media/media-7-1.mp4"/><Relationship Id="rId3" Type="http://schemas.openxmlformats.org/officeDocument/2006/relationships/image" Target="../media/image-7-3.png"/><Relationship Id="rId4" Type="http://schemas.openxmlformats.org/officeDocument/2006/relationships/slideLayout" Target="../slideLayouts/slideLayout2.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audio" Target="../media/media-8-4.mp3"/><Relationship Id="rId5" Type="http://schemas.microsoft.com/office/2007/relationships/media" Target="../media/media-8-4.mp3"/><Relationship Id="rId6" Type="http://schemas.openxmlformats.org/officeDocument/2006/relationships/image" Target="../media/image-8-6.png"/><Relationship Id="rId7" Type="http://schemas.openxmlformats.org/officeDocument/2006/relationships/audio" Target="../media/media-8-7.mp3"/><Relationship Id="rId8" Type="http://schemas.microsoft.com/office/2007/relationships/media" Target="../media/media-8-7.mp3"/><Relationship Id="rId9" Type="http://schemas.openxmlformats.org/officeDocument/2006/relationships/image" Target="../media/image-8-9.png"/><Relationship Id="rId10" Type="http://schemas.openxmlformats.org/officeDocument/2006/relationships/slideLayout" Target="../slideLayouts/slideLayout2.xml"/><Relationship Id="rId11"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gif"/><Relationship Id="rId2" Type="http://schemas.openxmlformats.org/officeDocument/2006/relationships/image" Target="../media/image-9-2.gif"/><Relationship Id="rId3" Type="http://schemas.openxmlformats.org/officeDocument/2006/relationships/image" Target="../media/image-9-3.png"/><Relationship Id="rId4" Type="http://schemas.openxmlformats.org/officeDocument/2006/relationships/slideLayout" Target="../slideLayouts/slideLayout2.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gif"/><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Date"/>
          <p:cNvSpPr txBox="1"/>
          <p:nvPr/>
        </p:nvSpPr>
        <p:spPr>
          <a:xfrm>
            <a:off x="731520" y="838200"/>
            <a:ext cx="6858000" cy="1066800"/>
          </a:xfrm>
          <a:prstGeom prst="rect">
            <a:avLst/>
          </a:prstGeom>
          <a:noFill/>
          <a:ln/>
        </p:spPr>
        <p:txBody>
          <a:bodyPr wrap="square" lIns="0" tIns="0" rIns="0" bIns="0" rtlCol="0" anchor="t"/>
          <a:lstStyle/>
          <a:p>
            <a:pPr indent="0" marL="0">
              <a:buNone/>
            </a:pPr>
            <a:r>
              <a:rPr lang="en-US" sz="7200" b="1" dirty="0">
                <a:solidFill>
                  <a:schemeClr val="accent1"/>
                </a:solidFill>
              </a:rPr>
              <a:t>21 October</a:t>
            </a:r>
            <a:endParaRPr lang="en-US" sz="7200" dirty="0"/>
          </a:p>
        </p:txBody>
      </p:sp>
      <p:sp>
        <p:nvSpPr>
          <p:cNvPr id="3" name="Lead"/>
          <p:cNvSpPr txBox="1"/>
          <p:nvPr/>
        </p:nvSpPr>
        <p:spPr>
          <a:xfrm>
            <a:off x="731520" y="2514600"/>
            <a:ext cx="6248400" cy="838200"/>
          </a:xfrm>
          <a:prstGeom prst="rect">
            <a:avLst/>
          </a:prstGeom>
          <a:noFill/>
          <a:ln/>
        </p:spPr>
        <p:txBody>
          <a:bodyPr wrap="square" lIns="0" tIns="0" rIns="0" bIns="0" rtlCol="0" anchor="t"/>
          <a:lstStyle/>
          <a:p>
            <a:pPr indent="0" marL="0">
              <a:buNone/>
            </a:pPr>
            <a:r>
              <a:rPr lang="en-US" sz="2160" dirty="0">
                <a:solidFill>
                  <a:schemeClr val="bg1"/>
                </a:solidFill>
              </a:rPr>
              <a:t>Lotte is a payroll consultant at SD Worx.</a:t>
            </a:r>
            <a:endParaRPr lang="en-US" sz="2160" dirty="0"/>
          </a:p>
          <a:p>
            <a:pPr indent="0" marL="0">
              <a:buNone/>
            </a:pPr>
            <a:r>
              <a:rPr lang="en-US" sz="2160" dirty="0">
                <a:solidFill>
                  <a:schemeClr val="bg1"/>
                </a:solidFill>
              </a:rPr>
              <a:t>Her client Atlas calls:</a:t>
            </a:r>
            <a:endParaRPr lang="en-US" sz="2160" dirty="0"/>
          </a:p>
        </p:txBody>
      </p:sp>
      <p:sp>
        <p:nvSpPr>
          <p:cNvPr id="4" name="Quote"/>
          <p:cNvSpPr/>
          <p:nvPr/>
        </p:nvSpPr>
        <p:spPr>
          <a:xfrm>
            <a:off x="731520" y="3794760"/>
            <a:ext cx="6035040" cy="1280160"/>
          </a:xfrm>
          <a:prstGeom prst="roundRect">
            <a:avLst>
              <a:gd name="adj" fmla="val 14286"/>
            </a:avLst>
          </a:prstGeom>
          <a:solidFill>
            <a:schemeClr val="tx1"/>
          </a:solidFill>
          <a:ln/>
        </p:spPr>
      </p:sp>
      <p:sp>
        <p:nvSpPr>
          <p:cNvPr id="5" name="Quote text"/>
          <p:cNvSpPr txBox="1"/>
          <p:nvPr/>
        </p:nvSpPr>
        <p:spPr>
          <a:xfrm>
            <a:off x="1051560" y="3794760"/>
            <a:ext cx="5486400" cy="1280160"/>
          </a:xfrm>
          <a:prstGeom prst="rect">
            <a:avLst/>
          </a:prstGeom>
          <a:noFill/>
          <a:ln/>
        </p:spPr>
        <p:txBody>
          <a:bodyPr wrap="square" lIns="0" tIns="0" rIns="0" bIns="0" rtlCol="0" anchor="ctr"/>
          <a:lstStyle/>
          <a:p>
            <a:pPr indent="0" marL="0">
              <a:buNone/>
            </a:pPr>
            <a:r>
              <a:rPr lang="en-US" sz="2280" b="1" i="1" dirty="0">
                <a:solidFill>
                  <a:schemeClr val="bg1"/>
                </a:solidFill>
              </a:rPr>
              <a:t>“Can we still submit a payroll change?”</a:t>
            </a:r>
            <a:endParaRPr lang="en-US" sz="2280" dirty="0"/>
          </a:p>
        </p:txBody>
      </p:sp>
      <p:sp>
        <p:nvSpPr>
          <p:cNvPr id="6" name="Halo"/>
          <p:cNvSpPr/>
          <p:nvPr/>
        </p:nvSpPr>
        <p:spPr>
          <a:xfrm>
            <a:off x="7635240" y="914400"/>
            <a:ext cx="3840480" cy="3840480"/>
          </a:xfrm>
          <a:prstGeom prst="ellipse">
            <a:avLst/>
          </a:prstGeom>
          <a:solidFill>
            <a:schemeClr val="tx1"/>
          </a:solidFill>
          <a:ln/>
        </p:spPr>
      </p:sp>
      <p:pic>
        <p:nvPicPr>
          <p:cNvPr id="7" name="Lotte puzzled" descr="/tmp/sdtrust-deck/gifs/lotte-puzzled.gif">    </p:cNvPr>
          <p:cNvPicPr>
            <a:picLocks noChangeAspect="1"/>
          </p:cNvPicPr>
          <p:nvPr/>
        </p:nvPicPr>
        <p:blipFill>
          <a:blip r:embed="rId1"/>
          <a:stretch>
            <a:fillRect/>
          </a:stretch>
        </p:blipFill>
        <p:spPr>
          <a:xfrm>
            <a:off x="8229600" y="685800"/>
            <a:ext cx="3177540" cy="5577840"/>
          </a:xfrm>
          <a:prstGeom prst="rect">
            <a:avLst/>
          </a:prstGeom>
        </p:spPr>
      </p:pic>
      <p:sp>
        <p:nvSpPr>
          <p:cNvPr id="25" name="Slide Number Placeholder 0"/>
          <p:cNvSpPr>
            <a:spLocks noGrp="1"/>
          </p:cNvSpPr>
          <p:nvPr>
            <p:ph type="sldNum" sz="quarter" idx="4294967295"/>
          </p:nvPr>
        </p:nvSpPr>
        <p:spPr>
          <a:xfrm>
            <a:off x="11338560" y="63550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700"/>
                                        <p:tgtEl>
                                          <p:spTgt spid="7"/>
                                        </p:tgtEl>
                                      </p:cBhvr>
                                    </p:animEffect>
                                  </p:childTnLst>
                                </p:cTn>
                              </p:par>
                              <p:par>
                                <p:cTn id="8" presetID="10" presetClass="entr" presetSubtype="0" fill="hold" grpId="0" nodeType="withEffect">
                                  <p:stCondLst>
                                    <p:cond delay="90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00"/>
                                        <p:tgtEl>
                                          <p:spTgt spid="4"/>
                                        </p:tgtEl>
                                      </p:cBhvr>
                                    </p:animEffect>
                                  </p:childTnLst>
                                </p:cTn>
                              </p:par>
                              <p:par>
                                <p:cTn id="11" presetID="10" presetClass="entr" presetSubtype="0" fill="hold" grpId="0" nodeType="withEffect">
                                  <p:stCondLst>
                                    <p:cond delay="90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itle"/>
          <p:cNvSpPr txBox="1"/>
          <p:nvPr/>
        </p:nvSpPr>
        <p:spPr>
          <a:xfrm>
            <a:off x="548640" y="457200"/>
            <a:ext cx="10668000" cy="609600"/>
          </a:xfrm>
          <a:prstGeom prst="rect">
            <a:avLst/>
          </a:prstGeom>
          <a:noFill/>
          <a:ln/>
        </p:spPr>
        <p:txBody>
          <a:bodyPr wrap="square" lIns="0" tIns="0" rIns="0" bIns="0" rtlCol="0" anchor="t"/>
          <a:lstStyle/>
          <a:p>
            <a:pPr indent="0" marL="0">
              <a:buNone/>
            </a:pPr>
            <a:r>
              <a:rPr lang="en-US" sz="3240" b="1" dirty="0">
                <a:solidFill>
                  <a:schemeClr val="tx1"/>
                </a:solidFill>
              </a:rPr>
              <a:t>Three answers. None of them is right</a:t>
            </a:r>
            <a:endParaRPr lang="en-US" sz="3240" dirty="0"/>
          </a:p>
        </p:txBody>
      </p:sp>
      <p:sp>
        <p:nvSpPr>
          <p:cNvPr id="3" name="Sticky 20th"/>
          <p:cNvSpPr/>
          <p:nvPr/>
        </p:nvSpPr>
        <p:spPr>
          <a:xfrm rot="-180000">
            <a:off x="548640" y="1691640"/>
            <a:ext cx="2514600" cy="2514600"/>
          </a:xfrm>
          <a:prstGeom prst="rect">
            <a:avLst/>
          </a:prstGeom>
          <a:solidFill>
            <a:schemeClr val="accent2"/>
          </a:solidFill>
          <a:ln/>
          <a:effectLst>
            <a:outerShdw sx="100000" sy="100000" kx="0" ky="0" algn="bl" rotWithShape="0" blurRad="152400" dist="50800" dir="5400000">
              <a:srgbClr val="192D46">
                <a:alpha val="12000"/>
              </a:srgbClr>
            </a:outerShdw>
          </a:effectLst>
        </p:spPr>
        <p:txBody>
          <a:bodyPr wrap="square" lIns="76200" tIns="76200" rIns="76200" bIns="76200" rtlCol="0" anchor="ctr"/>
          <a:lstStyle/>
          <a:p>
            <a:pPr algn="ctr" indent="0" marL="0">
              <a:buNone/>
            </a:pPr>
            <a:r>
              <a:rPr lang="en-US" sz="5520" b="1" dirty="0">
                <a:solidFill>
                  <a:schemeClr val="tx1"/>
                </a:solidFill>
              </a:rPr>
              <a:t>20th</a:t>
            </a:r>
            <a:endParaRPr lang="en-US" sz="5520" dirty="0"/>
          </a:p>
          <a:p>
            <a:pPr algn="ctr" indent="0" marL="0">
              <a:buNone/>
            </a:pPr>
            <a:r>
              <a:rPr lang="en-US" sz="1300" b="1" dirty="0">
                <a:solidFill>
                  <a:schemeClr val="tx1"/>
                </a:solidFill>
              </a:rPr>
              <a:t>Procedure Belgium</a:t>
            </a:r>
            <a:endParaRPr lang="en-US" sz="5520" dirty="0"/>
          </a:p>
          <a:p>
            <a:pPr algn="ctr" indent="0" marL="0">
              <a:buNone/>
            </a:pPr>
            <a:r>
              <a:rPr lang="en-US" sz="1100" dirty="0">
                <a:solidFill>
                  <a:schemeClr val="tx1"/>
                </a:solidFill>
              </a:rPr>
              <a:t>General rule</a:t>
            </a:r>
            <a:endParaRPr lang="en-US" sz="5520" dirty="0"/>
          </a:p>
        </p:txBody>
      </p:sp>
      <p:sp>
        <p:nvSpPr>
          <p:cNvPr id="4" name="Sticky 23rd"/>
          <p:cNvSpPr/>
          <p:nvPr/>
        </p:nvSpPr>
        <p:spPr>
          <a:xfrm rot="120000">
            <a:off x="3429000" y="1691640"/>
            <a:ext cx="2514600" cy="2514600"/>
          </a:xfrm>
          <a:prstGeom prst="rect">
            <a:avLst/>
          </a:prstGeom>
          <a:solidFill>
            <a:schemeClr val="accent2"/>
          </a:solidFill>
          <a:ln/>
          <a:effectLst>
            <a:outerShdw sx="100000" sy="100000" kx="0" ky="0" algn="bl" rotWithShape="0" blurRad="152400" dist="50800" dir="5400000">
              <a:srgbClr val="192D46">
                <a:alpha val="12000"/>
              </a:srgbClr>
            </a:outerShdw>
          </a:effectLst>
        </p:spPr>
        <p:txBody>
          <a:bodyPr wrap="square" lIns="76200" tIns="76200" rIns="76200" bIns="76200" rtlCol="0" anchor="ctr"/>
          <a:lstStyle/>
          <a:p>
            <a:pPr algn="ctr" indent="0" marL="0">
              <a:buNone/>
            </a:pPr>
            <a:r>
              <a:rPr lang="en-US" sz="5520" b="1" dirty="0">
                <a:solidFill>
                  <a:schemeClr val="tx1"/>
                </a:solidFill>
              </a:rPr>
              <a:t>23rd</a:t>
            </a:r>
            <a:endParaRPr lang="en-US" sz="5520" dirty="0"/>
          </a:p>
          <a:p>
            <a:pPr algn="ctr" indent="0" marL="0">
              <a:buNone/>
            </a:pPr>
            <a:r>
              <a:rPr lang="en-US" sz="1300" b="1" dirty="0">
                <a:solidFill>
                  <a:schemeClr val="tx1"/>
                </a:solidFill>
              </a:rPr>
              <a:t>Atlas meeting</a:t>
            </a:r>
            <a:endParaRPr lang="en-US" sz="5520" dirty="0"/>
          </a:p>
          <a:p>
            <a:pPr algn="ctr" indent="0" marL="0">
              <a:buNone/>
            </a:pPr>
            <a:r>
              <a:rPr lang="en-US" sz="1100" dirty="0">
                <a:solidFill>
                  <a:schemeClr val="tx1"/>
                </a:solidFill>
              </a:rPr>
              <a:t>A proposal on the board</a:t>
            </a:r>
            <a:endParaRPr lang="en-US" sz="5520" dirty="0"/>
          </a:p>
        </p:txBody>
      </p:sp>
      <p:sp>
        <p:nvSpPr>
          <p:cNvPr id="5" name="Sticky 25th"/>
          <p:cNvSpPr/>
          <p:nvPr/>
        </p:nvSpPr>
        <p:spPr>
          <a:xfrm rot="-120000">
            <a:off x="6309360" y="1691640"/>
            <a:ext cx="2514600" cy="2514600"/>
          </a:xfrm>
          <a:prstGeom prst="rect">
            <a:avLst/>
          </a:prstGeom>
          <a:solidFill>
            <a:schemeClr val="accent2"/>
          </a:solidFill>
          <a:ln/>
          <a:effectLst>
            <a:outerShdw sx="100000" sy="100000" kx="0" ky="0" algn="bl" rotWithShape="0" blurRad="152400" dist="50800" dir="5400000">
              <a:srgbClr val="192D46">
                <a:alpha val="12000"/>
              </a:srgbClr>
            </a:outerShdw>
          </a:effectLst>
        </p:spPr>
        <p:txBody>
          <a:bodyPr wrap="square" lIns="76200" tIns="76200" rIns="76200" bIns="76200" rtlCol="0" anchor="ctr"/>
          <a:lstStyle/>
          <a:p>
            <a:pPr algn="ctr" indent="0" marL="0">
              <a:buNone/>
            </a:pPr>
            <a:r>
              <a:rPr lang="en-US" sz="5520" b="1" dirty="0">
                <a:solidFill>
                  <a:schemeClr val="tx1"/>
                </a:solidFill>
              </a:rPr>
              <a:t>25th</a:t>
            </a:r>
            <a:endParaRPr lang="en-US" sz="5520" dirty="0"/>
          </a:p>
          <a:p>
            <a:pPr algn="ctr" indent="0" marL="0">
              <a:buNone/>
            </a:pPr>
            <a:r>
              <a:rPr lang="en-US" sz="1300" b="1" dirty="0">
                <a:solidFill>
                  <a:schemeClr val="tx1"/>
                </a:solidFill>
              </a:rPr>
              <a:t>Teams chat</a:t>
            </a:r>
            <a:endParaRPr lang="en-US" sz="5520" dirty="0"/>
          </a:p>
          <a:p>
            <a:pPr algn="ctr" indent="0" marL="0">
              <a:buNone/>
            </a:pPr>
            <a:r>
              <a:rPr lang="en-US" sz="1100" dirty="0">
                <a:solidFill>
                  <a:schemeClr val="tx1"/>
                </a:solidFill>
              </a:rPr>
              <a:t>A question, no owner</a:t>
            </a:r>
            <a:endParaRPr lang="en-US" sz="5520" dirty="0"/>
          </a:p>
        </p:txBody>
      </p:sp>
      <p:sp>
        <p:nvSpPr>
          <p:cNvPr id="6" name="Hidden answer"/>
          <p:cNvSpPr/>
          <p:nvPr/>
        </p:nvSpPr>
        <p:spPr>
          <a:xfrm>
            <a:off x="9189720" y="1691640"/>
            <a:ext cx="2423160" cy="2514600"/>
          </a:xfrm>
          <a:prstGeom prst="roundRect">
            <a:avLst>
              <a:gd name="adj" fmla="val 5660"/>
            </a:avLst>
          </a:prstGeom>
          <a:solidFill>
            <a:schemeClr val="bg1"/>
          </a:solidFill>
          <a:ln w="19050">
            <a:solidFill>
              <a:srgbClr val="EE6558"/>
            </a:solidFill>
            <a:prstDash val="dash"/>
          </a:ln>
        </p:spPr>
        <p:txBody>
          <a:bodyPr wrap="square" lIns="76200" tIns="76200" rIns="76200" bIns="76200" rtlCol="0" anchor="ctr"/>
          <a:lstStyle/>
          <a:p>
            <a:pPr algn="ctr" indent="0" marL="0">
              <a:buNone/>
            </a:pPr>
            <a:r>
              <a:rPr lang="en-US" sz="5520" b="1" dirty="0">
                <a:solidFill>
                  <a:schemeClr val="accent6"/>
                </a:solidFill>
              </a:rPr>
              <a:t>22nd</a:t>
            </a:r>
            <a:endParaRPr lang="en-US" sz="5520" dirty="0"/>
          </a:p>
          <a:p>
            <a:pPr algn="ctr" indent="0" marL="0">
              <a:buNone/>
            </a:pPr>
            <a:r>
              <a:rPr lang="en-US" sz="1300" b="1" dirty="0">
                <a:solidFill>
                  <a:schemeClr val="tx1"/>
                </a:solidFill>
              </a:rPr>
              <a:t>Roy's agreement</a:t>
            </a:r>
            <a:endParaRPr lang="en-US" sz="5520" dirty="0"/>
          </a:p>
          <a:p>
            <a:pPr algn="ctr" indent="0" marL="0">
              <a:buNone/>
            </a:pPr>
            <a:r>
              <a:rPr lang="en-US" sz="1100" dirty="0">
                <a:solidFill>
                  <a:schemeClr val="accent6"/>
                </a:solidFill>
              </a:rPr>
              <a:t>Only in Roy's head</a:t>
            </a:r>
            <a:endParaRPr lang="en-US" sz="5520" dirty="0"/>
          </a:p>
        </p:txBody>
      </p:sp>
      <p:sp>
        <p:nvSpPr>
          <p:cNvPr id="7" name="Body"/>
          <p:cNvSpPr txBox="1"/>
          <p:nvPr/>
        </p:nvSpPr>
        <p:spPr>
          <a:xfrm>
            <a:off x="548640" y="4709160"/>
            <a:ext cx="8763000" cy="914400"/>
          </a:xfrm>
          <a:prstGeom prst="rect">
            <a:avLst/>
          </a:prstGeom>
          <a:noFill/>
          <a:ln/>
        </p:spPr>
        <p:txBody>
          <a:bodyPr wrap="square" lIns="0" tIns="0" rIns="0" bIns="0" rtlCol="0" anchor="t"/>
          <a:lstStyle/>
          <a:p>
            <a:pPr indent="0" marL="0">
              <a:buNone/>
            </a:pPr>
            <a:r>
              <a:rPr lang="en-US" sz="1560" b="1" dirty="0">
                <a:solidFill>
                  <a:schemeClr val="tx1"/>
                </a:solidFill>
              </a:rPr>
              <a:t>Lotte doesn't lack information. </a:t>
            </a:r>
            <a:pPr indent="0" marL="0">
              <a:buNone/>
            </a:pPr>
            <a:r>
              <a:rPr lang="en-US" sz="1560" dirty="0">
                <a:solidFill>
                  <a:schemeClr val="tx1"/>
                </a:solidFill>
              </a:rPr>
              <a:t>Nothing tells her which version to trust. Today she searches for 20 minutes and pings three colleagues. If she guesses wrong, real people get the wrong salary.</a:t>
            </a:r>
            <a:endParaRPr lang="en-US" sz="1560" dirty="0"/>
          </a:p>
        </p:txBody>
      </p:sp>
      <p:pic>
        <p:nvPicPr>
          <p:cNvPr id="8" name="Lotte shrug" descr="/tmp/sdtrust-deck/gifs/lotte-shrug.gif">    </p:cNvPr>
          <p:cNvPicPr>
            <a:picLocks noChangeAspect="1"/>
          </p:cNvPicPr>
          <p:nvPr/>
        </p:nvPicPr>
        <p:blipFill>
          <a:blip r:embed="rId1"/>
          <a:stretch>
            <a:fillRect/>
          </a:stretch>
        </p:blipFill>
        <p:spPr>
          <a:xfrm>
            <a:off x="9906000" y="4373880"/>
            <a:ext cx="1379220" cy="2286000"/>
          </a:xfrm>
          <a:prstGeom prst="rect">
            <a:avLst/>
          </a:prstGeom>
        </p:spPr>
      </p:pic>
      <p:sp>
        <p:nvSpPr>
          <p:cNvPr id="25" name="Slide Number Placeholder 0"/>
          <p:cNvSpPr>
            <a:spLocks noGrp="1"/>
          </p:cNvSpPr>
          <p:nvPr>
            <p:ph type="sldNum" sz="quarter" idx="4294967295"/>
          </p:nvPr>
        </p:nvSpPr>
        <p:spPr>
          <a:xfrm>
            <a:off x="11338560" y="63550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fill="hold" grpId="0" nodeType="afterEffect">
                                  <p:stCondLst>
                                    <p:cond delay="150"/>
                                  </p:stCondLst>
                                  <p:childTnLst>
                                    <p:set>
                                      <p:cBhvr>
                                        <p:cTn id="6" dur="1" fill="hold">
                                          <p:stCondLst>
                                            <p:cond delay="0"/>
                                          </p:stCondLst>
                                        </p:cTn>
                                        <p:tgtEl>
                                          <p:spTgt spid="3"/>
                                        </p:tgtEl>
                                        <p:attrNameLst>
                                          <p:attrName>style.visibility</p:attrName>
                                        </p:attrNameLst>
                                      </p:cBhvr>
                                      <p:to>
                                        <p:strVal val="visible"/>
                                      </p:to>
                                    </p:set>
                                    <p:anim calcmode="lin" valueType="num">
                                      <p:cBhvr additive="base">
                                        <p:cTn id="7" dur="600" fill="hold"/>
                                        <p:tgtEl>
                                          <p:spTgt spid="3"/>
                                        </p:tgtEl>
                                        <p:attrNameLst>
                                          <p:attrName>ppt_x</p:attrName>
                                        </p:attrNameLst>
                                      </p:cBhvr>
                                      <p:tavLst>
                                        <p:tav tm="0">
                                          <p:val>
                                            <p:strVal val="#ppt_x"/>
                                          </p:val>
                                        </p:tav>
                                        <p:tav tm="100000">
                                          <p:val>
                                            <p:strVal val="#ppt_x"/>
                                          </p:val>
                                        </p:tav>
                                      </p:tavLst>
                                    </p:anim>
                                    <p:anim calcmode="lin" valueType="num">
                                      <p:cBhvr additive="base">
                                        <p:cTn id="8" dur="600" fill="hold"/>
                                        <p:tgtEl>
                                          <p:spTgt spid="3"/>
                                        </p:tgtEl>
                                        <p:attrNameLst>
                                          <p:attrName>ppt_y</p:attrName>
                                        </p:attrNameLst>
                                      </p:cBhvr>
                                      <p:tavLst>
                                        <p:tav tm="0">
                                          <p:val>
                                            <p:strVal val="0-#ppt_h/2"/>
                                          </p:val>
                                        </p:tav>
                                        <p:tav tm="100000">
                                          <p:val>
                                            <p:strVal val="#ppt_y"/>
                                          </p:val>
                                        </p:tav>
                                      </p:tavLst>
                                    </p:anim>
                                  </p:childTnLst>
                                </p:cTn>
                              </p:par>
                              <p:par>
                                <p:cTn id="9" presetID="2" presetClass="entr" presetSubtype="1" fill="hold" grpId="0" nodeType="withEffect">
                                  <p:stCondLst>
                                    <p:cond delay="450"/>
                                  </p:stCondLst>
                                  <p:childTnLst>
                                    <p:set>
                                      <p:cBhvr>
                                        <p:cTn id="10" dur="1" fill="hold">
                                          <p:stCondLst>
                                            <p:cond delay="0"/>
                                          </p:stCondLst>
                                        </p:cTn>
                                        <p:tgtEl>
                                          <p:spTgt spid="4"/>
                                        </p:tgtEl>
                                        <p:attrNameLst>
                                          <p:attrName>style.visibility</p:attrName>
                                        </p:attrNameLst>
                                      </p:cBhvr>
                                      <p:to>
                                        <p:strVal val="visible"/>
                                      </p:to>
                                    </p:set>
                                    <p:anim calcmode="lin" valueType="num">
                                      <p:cBhvr additive="base">
                                        <p:cTn id="11" dur="600" fill="hold"/>
                                        <p:tgtEl>
                                          <p:spTgt spid="4"/>
                                        </p:tgtEl>
                                        <p:attrNameLst>
                                          <p:attrName>ppt_x</p:attrName>
                                        </p:attrNameLst>
                                      </p:cBhvr>
                                      <p:tavLst>
                                        <p:tav tm="0">
                                          <p:val>
                                            <p:strVal val="#ppt_x"/>
                                          </p:val>
                                        </p:tav>
                                        <p:tav tm="100000">
                                          <p:val>
                                            <p:strVal val="#ppt_x"/>
                                          </p:val>
                                        </p:tav>
                                      </p:tavLst>
                                    </p:anim>
                                    <p:anim calcmode="lin" valueType="num">
                                      <p:cBhvr additive="base">
                                        <p:cTn id="12" dur="600" fill="hold"/>
                                        <p:tgtEl>
                                          <p:spTgt spid="4"/>
                                        </p:tgtEl>
                                        <p:attrNameLst>
                                          <p:attrName>ppt_y</p:attrName>
                                        </p:attrNameLst>
                                      </p:cBhvr>
                                      <p:tavLst>
                                        <p:tav tm="0">
                                          <p:val>
                                            <p:strVal val="0-#ppt_h/2"/>
                                          </p:val>
                                        </p:tav>
                                        <p:tav tm="100000">
                                          <p:val>
                                            <p:strVal val="#ppt_y"/>
                                          </p:val>
                                        </p:tav>
                                      </p:tavLst>
                                    </p:anim>
                                  </p:childTnLst>
                                </p:cTn>
                              </p:par>
                              <p:par>
                                <p:cTn id="13" presetID="2" presetClass="entr" presetSubtype="1" fill="hold" grpId="0" nodeType="withEffect">
                                  <p:stCondLst>
                                    <p:cond delay="750"/>
                                  </p:stCondLst>
                                  <p:childTnLst>
                                    <p:set>
                                      <p:cBhvr>
                                        <p:cTn id="14" dur="1" fill="hold">
                                          <p:stCondLst>
                                            <p:cond delay="0"/>
                                          </p:stCondLst>
                                        </p:cTn>
                                        <p:tgtEl>
                                          <p:spTgt spid="5"/>
                                        </p:tgtEl>
                                        <p:attrNameLst>
                                          <p:attrName>style.visibility</p:attrName>
                                        </p:attrNameLst>
                                      </p:cBhvr>
                                      <p:to>
                                        <p:strVal val="visible"/>
                                      </p:to>
                                    </p:set>
                                    <p:anim calcmode="lin" valueType="num">
                                      <p:cBhvr additive="base">
                                        <p:cTn id="15" dur="600" fill="hold"/>
                                        <p:tgtEl>
                                          <p:spTgt spid="5"/>
                                        </p:tgtEl>
                                        <p:attrNameLst>
                                          <p:attrName>ppt_x</p:attrName>
                                        </p:attrNameLst>
                                      </p:cBhvr>
                                      <p:tavLst>
                                        <p:tav tm="0">
                                          <p:val>
                                            <p:strVal val="#ppt_x"/>
                                          </p:val>
                                        </p:tav>
                                        <p:tav tm="100000">
                                          <p:val>
                                            <p:strVal val="#ppt_x"/>
                                          </p:val>
                                        </p:tav>
                                      </p:tavLst>
                                    </p:anim>
                                    <p:anim calcmode="lin" valueType="num">
                                      <p:cBhvr additive="base">
                                        <p:cTn id="16" dur="600" fill="hold"/>
                                        <p:tgtEl>
                                          <p:spTgt spid="5"/>
                                        </p:tgtEl>
                                        <p:attrNameLst>
                                          <p:attrName>ppt_y</p:attrName>
                                        </p:attrNameLst>
                                      </p:cBhvr>
                                      <p:tavLst>
                                        <p:tav tm="0">
                                          <p:val>
                                            <p:strVal val="0-#ppt_h/2"/>
                                          </p:val>
                                        </p:tav>
                                        <p:tav tm="100000">
                                          <p:val>
                                            <p:strVal val="#ppt_y"/>
                                          </p:val>
                                        </p:tav>
                                      </p:tavLst>
                                    </p:anim>
                                  </p:childTnLst>
                                </p:cTn>
                              </p:par>
                              <p:par>
                                <p:cTn id="17" presetID="10" presetClass="entr" presetSubtype="0" fill="hold" grpId="0" nodeType="withEffect">
                                  <p:stCondLst>
                                    <p:cond delay="120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700"/>
                                        <p:tgtEl>
                                          <p:spTgt spid="8"/>
                                        </p:tgtEl>
                                      </p:cBhvr>
                                    </p:animEffect>
                                  </p:childTnLst>
                                </p:cTn>
                              </p:par>
                              <p:par>
                                <p:cTn id="20" presetID="10" presetClass="entr" presetSubtype="0" fill="hold" grpId="0" nodeType="withEffect">
                                  <p:stCondLst>
                                    <p:cond delay="170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8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Kicker"/>
          <p:cNvSpPr txBox="1"/>
          <p:nvPr/>
        </p:nvSpPr>
        <p:spPr>
          <a:xfrm>
            <a:off x="731520" y="1143000"/>
            <a:ext cx="4572000" cy="228600"/>
          </a:xfrm>
          <a:prstGeom prst="rect">
            <a:avLst/>
          </a:prstGeom>
          <a:noFill/>
          <a:ln/>
        </p:spPr>
        <p:txBody>
          <a:bodyPr wrap="square" lIns="0" tIns="0" rIns="0" bIns="0" rtlCol="0" anchor="t"/>
          <a:lstStyle/>
          <a:p>
            <a:pPr indent="0" marL="0">
              <a:buNone/>
            </a:pPr>
            <a:r>
              <a:rPr lang="en-US" sz="1080" b="1" spc="300" kern="0" dirty="0">
                <a:solidFill>
                  <a:schemeClr val="accent2"/>
                </a:solidFill>
              </a:rPr>
              <a:t>THE SOLUTION</a:t>
            </a:r>
            <a:endParaRPr lang="en-US" sz="1080" dirty="0"/>
          </a:p>
        </p:txBody>
      </p:sp>
      <p:pic>
        <p:nvPicPr>
          <p:cNvPr id="3" name="Logo" descr="preencoded.png">    </p:cNvPr>
          <p:cNvPicPr>
            <a:picLocks noChangeAspect="1"/>
          </p:cNvPicPr>
          <p:nvPr/>
        </p:nvPicPr>
        <p:blipFill>
          <a:blip r:embed="rId1"/>
          <a:stretch>
            <a:fillRect/>
          </a:stretch>
        </p:blipFill>
        <p:spPr>
          <a:xfrm>
            <a:off x="731520" y="1493520"/>
            <a:ext cx="822960" cy="822960"/>
          </a:xfrm>
          <a:prstGeom prst="rect">
            <a:avLst/>
          </a:prstGeom>
        </p:spPr>
      </p:pic>
      <p:sp>
        <p:nvSpPr>
          <p:cNvPr id="4" name="Brand"/>
          <p:cNvSpPr txBox="1"/>
          <p:nvPr/>
        </p:nvSpPr>
        <p:spPr>
          <a:xfrm>
            <a:off x="1722120" y="1493520"/>
            <a:ext cx="4572000" cy="822960"/>
          </a:xfrm>
          <a:prstGeom prst="rect">
            <a:avLst/>
          </a:prstGeom>
          <a:noFill/>
          <a:ln/>
        </p:spPr>
        <p:txBody>
          <a:bodyPr wrap="square" lIns="0" tIns="0" rIns="0" bIns="0" rtlCol="0" anchor="ctr"/>
          <a:lstStyle/>
          <a:p>
            <a:pPr indent="0" marL="0">
              <a:buNone/>
            </a:pPr>
            <a:r>
              <a:rPr lang="en-US" sz="4560" b="1" dirty="0">
                <a:solidFill>
                  <a:schemeClr val="bg1"/>
                </a:solidFill>
              </a:rPr>
              <a:t>SDtrust</a:t>
            </a:r>
            <a:endParaRPr lang="en-US" sz="4560" dirty="0"/>
          </a:p>
        </p:txBody>
      </p:sp>
      <p:sp>
        <p:nvSpPr>
          <p:cNvPr id="5" name="Lead"/>
          <p:cNvSpPr txBox="1"/>
          <p:nvPr/>
        </p:nvSpPr>
        <p:spPr>
          <a:xfrm>
            <a:off x="731520" y="2667000"/>
            <a:ext cx="5791200" cy="838200"/>
          </a:xfrm>
          <a:prstGeom prst="rect">
            <a:avLst/>
          </a:prstGeom>
          <a:noFill/>
          <a:ln/>
        </p:spPr>
        <p:txBody>
          <a:bodyPr wrap="square" lIns="0" tIns="0" rIns="0" bIns="0" rtlCol="0" anchor="t"/>
          <a:lstStyle/>
          <a:p>
            <a:pPr indent="0" marL="0">
              <a:buNone/>
            </a:pPr>
            <a:r>
              <a:rPr lang="en-US" sz="2160" dirty="0">
                <a:solidFill>
                  <a:schemeClr val="bg1"/>
                </a:solidFill>
              </a:rPr>
              <a:t>Knowledge you can trust,</a:t>
            </a:r>
            <a:endParaRPr lang="en-US" sz="2160" dirty="0"/>
          </a:p>
          <a:p>
            <a:pPr indent="0" marL="0">
              <a:buNone/>
            </a:pPr>
            <a:r>
              <a:rPr lang="en-US" sz="2160" dirty="0">
                <a:solidFill>
                  <a:schemeClr val="bg1"/>
                </a:solidFill>
              </a:rPr>
              <a:t>without anyone writing it down</a:t>
            </a:r>
            <a:endParaRPr lang="en-US" sz="2160" dirty="0"/>
          </a:p>
        </p:txBody>
      </p:sp>
      <p:sp>
        <p:nvSpPr>
          <p:cNvPr id="6" name="Body"/>
          <p:cNvSpPr txBox="1"/>
          <p:nvPr/>
        </p:nvSpPr>
        <p:spPr>
          <a:xfrm>
            <a:off x="731520" y="3794760"/>
            <a:ext cx="5334000" cy="609600"/>
          </a:xfrm>
          <a:prstGeom prst="rect">
            <a:avLst/>
          </a:prstGeom>
          <a:noFill/>
          <a:ln/>
        </p:spPr>
        <p:txBody>
          <a:bodyPr wrap="square" lIns="0" tIns="0" rIns="0" bIns="0" rtlCol="0" anchor="t"/>
          <a:lstStyle/>
          <a:p>
            <a:pPr indent="0" marL="0">
              <a:buNone/>
            </a:pPr>
            <a:r>
              <a:rPr lang="en-US" sz="1440" dirty="0">
                <a:solidFill>
                  <a:srgbClr val="C8D2DF"/>
                </a:solidFill>
              </a:rPr>
              <a:t>SDtrust reads what your company already writes, decides which version to trust, and shows you why.</a:t>
            </a:r>
            <a:endParaRPr lang="en-US" sz="1440" dirty="0"/>
          </a:p>
        </p:txBody>
      </p:sp>
      <p:sp>
        <p:nvSpPr>
          <p:cNvPr id="7" name="Team"/>
          <p:cNvSpPr txBox="1"/>
          <p:nvPr/>
        </p:nvSpPr>
        <p:spPr>
          <a:xfrm>
            <a:off x="731520" y="5334000"/>
            <a:ext cx="5334000" cy="228600"/>
          </a:xfrm>
          <a:prstGeom prst="rect">
            <a:avLst/>
          </a:prstGeom>
          <a:noFill/>
          <a:ln/>
        </p:spPr>
        <p:txBody>
          <a:bodyPr wrap="square" lIns="0" tIns="0" rIns="0" bIns="0" rtlCol="0" anchor="t"/>
          <a:lstStyle/>
          <a:p>
            <a:pPr indent="0" marL="0">
              <a:buNone/>
            </a:pPr>
            <a:r>
              <a:rPr lang="en-US" sz="1200" b="1" dirty="0">
                <a:solidFill>
                  <a:schemeClr val="accent2"/>
                </a:solidFill>
              </a:rPr>
              <a:t>Sebastien · Roy · Wanne</a:t>
            </a:r>
            <a:endParaRPr lang="en-US" sz="1200" dirty="0"/>
          </a:p>
        </p:txBody>
      </p:sp>
      <p:sp>
        <p:nvSpPr>
          <p:cNvPr id="8" name="Meta"/>
          <p:cNvSpPr txBox="1"/>
          <p:nvPr/>
        </p:nvSpPr>
        <p:spPr>
          <a:xfrm>
            <a:off x="731520" y="5654040"/>
            <a:ext cx="6096000" cy="228600"/>
          </a:xfrm>
          <a:prstGeom prst="rect">
            <a:avLst/>
          </a:prstGeom>
          <a:noFill/>
          <a:ln/>
        </p:spPr>
        <p:txBody>
          <a:bodyPr wrap="square" lIns="0" tIns="0" rIns="0" bIns="0" rtlCol="0" anchor="t"/>
          <a:lstStyle/>
          <a:p>
            <a:pPr indent="0" marL="0">
              <a:buNone/>
            </a:pPr>
            <a:r>
              <a:rPr lang="en-US" sz="1020" dirty="0">
                <a:solidFill>
                  <a:schemeClr val="bg2"/>
                </a:solidFill>
              </a:rPr>
              <a:t>Tectonic hackathon finals · SD Worx challenge · 20 October 2026</a:t>
            </a:r>
            <a:endParaRPr lang="en-US" sz="1020" dirty="0"/>
          </a:p>
        </p:txBody>
      </p:sp>
      <p:sp>
        <p:nvSpPr>
          <p:cNvPr id="9" name="Source Teams"/>
          <p:cNvSpPr/>
          <p:nvPr/>
        </p:nvSpPr>
        <p:spPr>
          <a:xfrm>
            <a:off x="6858000" y="1645920"/>
            <a:ext cx="1752600" cy="548640"/>
          </a:xfrm>
          <a:prstGeom prst="roundRect">
            <a:avLst>
              <a:gd name="adj" fmla="val 25000"/>
            </a:avLst>
          </a:prstGeom>
          <a:solidFill>
            <a:schemeClr val="tx1"/>
          </a:solidFill>
          <a:ln/>
        </p:spPr>
      </p:sp>
      <p:pic>
        <p:nvPicPr>
          <p:cNvPr id="10" name="Source icon Teams" descr="preencoded.png">    </p:cNvPr>
          <p:cNvPicPr>
            <a:picLocks noChangeAspect="1"/>
          </p:cNvPicPr>
          <p:nvPr/>
        </p:nvPicPr>
        <p:blipFill>
          <a:blip r:embed="rId2"/>
          <a:stretch>
            <a:fillRect/>
          </a:stretch>
        </p:blipFill>
        <p:spPr>
          <a:xfrm>
            <a:off x="7025640" y="1805940"/>
            <a:ext cx="228600" cy="228600"/>
          </a:xfrm>
          <a:prstGeom prst="rect">
            <a:avLst/>
          </a:prstGeom>
        </p:spPr>
      </p:pic>
      <p:sp>
        <p:nvSpPr>
          <p:cNvPr id="11" name="Source label Teams"/>
          <p:cNvSpPr txBox="1"/>
          <p:nvPr/>
        </p:nvSpPr>
        <p:spPr>
          <a:xfrm>
            <a:off x="7376160" y="1645920"/>
            <a:ext cx="1143000" cy="548640"/>
          </a:xfrm>
          <a:prstGeom prst="rect">
            <a:avLst/>
          </a:prstGeom>
          <a:noFill/>
          <a:ln/>
        </p:spPr>
        <p:txBody>
          <a:bodyPr wrap="square" lIns="0" tIns="0" rIns="0" bIns="0" rtlCol="0" anchor="ctr"/>
          <a:lstStyle/>
          <a:p>
            <a:pPr indent="0" marL="0">
              <a:buNone/>
            </a:pPr>
            <a:r>
              <a:rPr lang="en-US" sz="1320" b="1" dirty="0">
                <a:solidFill>
                  <a:schemeClr val="bg1"/>
                </a:solidFill>
              </a:rPr>
              <a:t>Teams</a:t>
            </a:r>
            <a:endParaRPr lang="en-US" sz="1320" dirty="0"/>
          </a:p>
        </p:txBody>
      </p:sp>
      <p:sp>
        <p:nvSpPr>
          <p:cNvPr id="12" name="Flow Teams"/>
          <p:cNvSpPr/>
          <p:nvPr/>
        </p:nvSpPr>
        <p:spPr>
          <a:xfrm>
            <a:off x="8610600" y="1920240"/>
            <a:ext cx="1066800" cy="1280160"/>
          </a:xfrm>
          <a:prstGeom prst="line">
            <a:avLst/>
          </a:prstGeom>
          <a:noFill/>
          <a:ln w="19050">
            <a:solidFill>
              <a:srgbClr val="5F6F85"/>
            </a:solidFill>
            <a:prstDash val="dash"/>
          </a:ln>
        </p:spPr>
      </p:sp>
      <p:sp>
        <p:nvSpPr>
          <p:cNvPr id="13" name="Source Mail"/>
          <p:cNvSpPr/>
          <p:nvPr/>
        </p:nvSpPr>
        <p:spPr>
          <a:xfrm>
            <a:off x="6858000" y="2468880"/>
            <a:ext cx="1752600" cy="548640"/>
          </a:xfrm>
          <a:prstGeom prst="roundRect">
            <a:avLst>
              <a:gd name="adj" fmla="val 25000"/>
            </a:avLst>
          </a:prstGeom>
          <a:solidFill>
            <a:schemeClr val="tx1"/>
          </a:solidFill>
          <a:ln/>
        </p:spPr>
      </p:sp>
      <p:pic>
        <p:nvPicPr>
          <p:cNvPr id="14" name="Source icon Mail" descr="preencoded.png">    </p:cNvPr>
          <p:cNvPicPr>
            <a:picLocks noChangeAspect="1"/>
          </p:cNvPicPr>
          <p:nvPr/>
        </p:nvPicPr>
        <p:blipFill>
          <a:blip r:embed="rId3"/>
          <a:stretch>
            <a:fillRect/>
          </a:stretch>
        </p:blipFill>
        <p:spPr>
          <a:xfrm>
            <a:off x="7025640" y="2628900"/>
            <a:ext cx="228600" cy="228600"/>
          </a:xfrm>
          <a:prstGeom prst="rect">
            <a:avLst/>
          </a:prstGeom>
        </p:spPr>
      </p:pic>
      <p:sp>
        <p:nvSpPr>
          <p:cNvPr id="15" name="Source label Mail"/>
          <p:cNvSpPr txBox="1"/>
          <p:nvPr/>
        </p:nvSpPr>
        <p:spPr>
          <a:xfrm>
            <a:off x="7376160" y="2468880"/>
            <a:ext cx="1143000" cy="548640"/>
          </a:xfrm>
          <a:prstGeom prst="rect">
            <a:avLst/>
          </a:prstGeom>
          <a:noFill/>
          <a:ln/>
        </p:spPr>
        <p:txBody>
          <a:bodyPr wrap="square" lIns="0" tIns="0" rIns="0" bIns="0" rtlCol="0" anchor="ctr"/>
          <a:lstStyle/>
          <a:p>
            <a:pPr indent="0" marL="0">
              <a:buNone/>
            </a:pPr>
            <a:r>
              <a:rPr lang="en-US" sz="1320" b="1" dirty="0">
                <a:solidFill>
                  <a:schemeClr val="bg1"/>
                </a:solidFill>
              </a:rPr>
              <a:t>Mail</a:t>
            </a:r>
            <a:endParaRPr lang="en-US" sz="1320" dirty="0"/>
          </a:p>
        </p:txBody>
      </p:sp>
      <p:sp>
        <p:nvSpPr>
          <p:cNvPr id="16" name="Flow Mail"/>
          <p:cNvSpPr/>
          <p:nvPr/>
        </p:nvSpPr>
        <p:spPr>
          <a:xfrm>
            <a:off x="8610600" y="2743200"/>
            <a:ext cx="1066800" cy="457200"/>
          </a:xfrm>
          <a:prstGeom prst="line">
            <a:avLst/>
          </a:prstGeom>
          <a:noFill/>
          <a:ln w="19050">
            <a:solidFill>
              <a:srgbClr val="5F6F85"/>
            </a:solidFill>
            <a:prstDash val="dash"/>
          </a:ln>
        </p:spPr>
      </p:sp>
      <p:sp>
        <p:nvSpPr>
          <p:cNvPr id="17" name="Source CRM"/>
          <p:cNvSpPr/>
          <p:nvPr/>
        </p:nvSpPr>
        <p:spPr>
          <a:xfrm>
            <a:off x="6858000" y="3291840"/>
            <a:ext cx="1752600" cy="548640"/>
          </a:xfrm>
          <a:prstGeom prst="roundRect">
            <a:avLst>
              <a:gd name="adj" fmla="val 25000"/>
            </a:avLst>
          </a:prstGeom>
          <a:solidFill>
            <a:schemeClr val="tx1"/>
          </a:solidFill>
          <a:ln/>
        </p:spPr>
      </p:sp>
      <p:pic>
        <p:nvPicPr>
          <p:cNvPr id="18" name="Source icon CRM" descr="preencoded.png">    </p:cNvPr>
          <p:cNvPicPr>
            <a:picLocks noChangeAspect="1"/>
          </p:cNvPicPr>
          <p:nvPr/>
        </p:nvPicPr>
        <p:blipFill>
          <a:blip r:embed="rId4"/>
          <a:stretch>
            <a:fillRect/>
          </a:stretch>
        </p:blipFill>
        <p:spPr>
          <a:xfrm>
            <a:off x="7025640" y="3451860"/>
            <a:ext cx="228600" cy="228600"/>
          </a:xfrm>
          <a:prstGeom prst="rect">
            <a:avLst/>
          </a:prstGeom>
        </p:spPr>
      </p:pic>
      <p:sp>
        <p:nvSpPr>
          <p:cNvPr id="19" name="Source label CRM"/>
          <p:cNvSpPr txBox="1"/>
          <p:nvPr/>
        </p:nvSpPr>
        <p:spPr>
          <a:xfrm>
            <a:off x="7376160" y="3291840"/>
            <a:ext cx="1143000" cy="548640"/>
          </a:xfrm>
          <a:prstGeom prst="rect">
            <a:avLst/>
          </a:prstGeom>
          <a:noFill/>
          <a:ln/>
        </p:spPr>
        <p:txBody>
          <a:bodyPr wrap="square" lIns="0" tIns="0" rIns="0" bIns="0" rtlCol="0" anchor="ctr"/>
          <a:lstStyle/>
          <a:p>
            <a:pPr indent="0" marL="0">
              <a:buNone/>
            </a:pPr>
            <a:r>
              <a:rPr lang="en-US" sz="1320" b="1" dirty="0">
                <a:solidFill>
                  <a:schemeClr val="bg1"/>
                </a:solidFill>
              </a:rPr>
              <a:t>CRM</a:t>
            </a:r>
            <a:endParaRPr lang="en-US" sz="1320" dirty="0"/>
          </a:p>
        </p:txBody>
      </p:sp>
      <p:sp>
        <p:nvSpPr>
          <p:cNvPr id="20" name="Flow CRM"/>
          <p:cNvSpPr/>
          <p:nvPr/>
        </p:nvSpPr>
        <p:spPr>
          <a:xfrm flipV="1">
            <a:off x="8610600" y="3200400"/>
            <a:ext cx="1066800" cy="365760"/>
          </a:xfrm>
          <a:prstGeom prst="line">
            <a:avLst/>
          </a:prstGeom>
          <a:noFill/>
          <a:ln w="19050">
            <a:solidFill>
              <a:srgbClr val="5F6F85"/>
            </a:solidFill>
            <a:prstDash val="dash"/>
          </a:ln>
        </p:spPr>
      </p:sp>
      <p:sp>
        <p:nvSpPr>
          <p:cNvPr id="21" name="Source Procedures"/>
          <p:cNvSpPr/>
          <p:nvPr/>
        </p:nvSpPr>
        <p:spPr>
          <a:xfrm>
            <a:off x="6858000" y="4114800"/>
            <a:ext cx="1752600" cy="548640"/>
          </a:xfrm>
          <a:prstGeom prst="roundRect">
            <a:avLst>
              <a:gd name="adj" fmla="val 25000"/>
            </a:avLst>
          </a:prstGeom>
          <a:solidFill>
            <a:schemeClr val="tx1"/>
          </a:solidFill>
          <a:ln/>
        </p:spPr>
      </p:sp>
      <p:pic>
        <p:nvPicPr>
          <p:cNvPr id="22" name="Source icon Procedures" descr="preencoded.png">    </p:cNvPr>
          <p:cNvPicPr>
            <a:picLocks noChangeAspect="1"/>
          </p:cNvPicPr>
          <p:nvPr/>
        </p:nvPicPr>
        <p:blipFill>
          <a:blip r:embed="rId5"/>
          <a:stretch>
            <a:fillRect/>
          </a:stretch>
        </p:blipFill>
        <p:spPr>
          <a:xfrm>
            <a:off x="7025640" y="4274820"/>
            <a:ext cx="228600" cy="228600"/>
          </a:xfrm>
          <a:prstGeom prst="rect">
            <a:avLst/>
          </a:prstGeom>
        </p:spPr>
      </p:pic>
      <p:sp>
        <p:nvSpPr>
          <p:cNvPr id="23" name="Source label Procedures"/>
          <p:cNvSpPr txBox="1"/>
          <p:nvPr/>
        </p:nvSpPr>
        <p:spPr>
          <a:xfrm>
            <a:off x="7376160" y="4114800"/>
            <a:ext cx="1143000" cy="548640"/>
          </a:xfrm>
          <a:prstGeom prst="rect">
            <a:avLst/>
          </a:prstGeom>
          <a:noFill/>
          <a:ln/>
        </p:spPr>
        <p:txBody>
          <a:bodyPr wrap="square" lIns="0" tIns="0" rIns="0" bIns="0" rtlCol="0" anchor="ctr"/>
          <a:lstStyle/>
          <a:p>
            <a:pPr indent="0" marL="0">
              <a:buNone/>
            </a:pPr>
            <a:r>
              <a:rPr lang="en-US" sz="1320" b="1" dirty="0">
                <a:solidFill>
                  <a:schemeClr val="bg1"/>
                </a:solidFill>
              </a:rPr>
              <a:t>Procedures</a:t>
            </a:r>
            <a:endParaRPr lang="en-US" sz="1320" dirty="0"/>
          </a:p>
        </p:txBody>
      </p:sp>
      <p:sp>
        <p:nvSpPr>
          <p:cNvPr id="24" name="Flow Procedures"/>
          <p:cNvSpPr/>
          <p:nvPr/>
        </p:nvSpPr>
        <p:spPr>
          <a:xfrm flipV="1">
            <a:off x="8610600" y="3200400"/>
            <a:ext cx="1066800" cy="1188720"/>
          </a:xfrm>
          <a:prstGeom prst="line">
            <a:avLst/>
          </a:prstGeom>
          <a:noFill/>
          <a:ln w="19050">
            <a:solidFill>
              <a:srgbClr val="5F6F85"/>
            </a:solidFill>
            <a:prstDash val="dash"/>
          </a:ln>
        </p:spPr>
      </p:sp>
      <p:sp>
        <p:nvSpPr>
          <p:cNvPr id="25" name="Answer"/>
          <p:cNvSpPr/>
          <p:nvPr/>
        </p:nvSpPr>
        <p:spPr>
          <a:xfrm>
            <a:off x="9677400" y="2514600"/>
            <a:ext cx="2057400" cy="1371600"/>
          </a:xfrm>
          <a:prstGeom prst="roundRect">
            <a:avLst>
              <a:gd name="adj" fmla="val 12000"/>
            </a:avLst>
          </a:prstGeom>
          <a:solidFill>
            <a:schemeClr val="bg1"/>
          </a:solidFill>
          <a:ln w="31750">
            <a:solidFill>
              <a:srgbClr val="EE6558"/>
            </a:solidFill>
          </a:ln>
        </p:spPr>
        <p:txBody>
          <a:bodyPr wrap="square" lIns="177800" tIns="177800" rIns="177800" bIns="177800" rtlCol="0" anchor="ctr"/>
          <a:lstStyle/>
          <a:p>
            <a:pPr indent="0" marL="0">
              <a:spcAft>
                <a:spcPts val="400"/>
              </a:spcAft>
              <a:buNone/>
            </a:pPr>
            <a:r>
              <a:rPr lang="en-US" sz="900" b="1" spc="150" kern="0" dirty="0">
                <a:solidFill>
                  <a:schemeClr val="accent6"/>
                </a:solidFill>
              </a:rPr>
              <a:t>ONE ANSWER</a:t>
            </a:r>
            <a:endParaRPr lang="en-US" sz="900" dirty="0"/>
          </a:p>
          <a:p>
            <a:pPr indent="0" marL="0">
              <a:spcAft>
                <a:spcPts val="400"/>
              </a:spcAft>
              <a:buNone/>
            </a:pPr>
            <a:r>
              <a:rPr lang="en-US" sz="1800" b="1" dirty="0">
                <a:solidFill>
                  <a:schemeClr val="tx1"/>
                </a:solidFill>
              </a:rPr>
              <a:t>22 October 2026</a:t>
            </a:r>
            <a:endParaRPr lang="en-US" sz="900" dirty="0"/>
          </a:p>
          <a:p>
            <a:pPr indent="0" marL="0">
              <a:spcAft>
                <a:spcPts val="400"/>
              </a:spcAft>
              <a:buNone/>
            </a:pPr>
            <a:r>
              <a:rPr lang="en-US" sz="1100" b="1" dirty="0">
                <a:solidFill>
                  <a:schemeClr val="accent4"/>
                </a:solidFill>
              </a:rPr>
              <a:t>Confirmed by Roy</a:t>
            </a:r>
            <a:endParaRPr lang="en-US" sz="900" dirty="0"/>
          </a:p>
          <a:p>
            <a:pPr indent="0" marL="0">
              <a:spcAft>
                <a:spcPts val="400"/>
              </a:spcAft>
              <a:buNone/>
            </a:pPr>
            <a:r>
              <a:rPr lang="en-US" sz="900" dirty="0">
                <a:solidFill>
                  <a:schemeClr val="accent6"/>
                </a:solidFill>
              </a:rPr>
              <a:t>Account owner, Atlas</a:t>
            </a:r>
            <a:endParaRPr lang="en-US" sz="900" dirty="0"/>
          </a:p>
        </p:txBody>
      </p:sp>
      <p:sp>
        <p:nvSpPr>
          <p:cNvPr id="26" name="Slide Number Placeholder 0"/>
          <p:cNvSpPr>
            <a:spLocks noGrp="1"/>
          </p:cNvSpPr>
          <p:nvPr>
            <p:ph type="sldNum" sz="quarter" idx="4294967295"/>
          </p:nvPr>
        </p:nvSpPr>
        <p:spPr>
          <a:xfrm>
            <a:off x="11338560" y="63550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3</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15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15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15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22" presetClass="entr" presetSubtype="8" fill="hold" grpId="0" nodeType="withEffect">
                                  <p:stCondLst>
                                    <p:cond delay="900"/>
                                  </p:stCondLst>
                                  <p:childTnLst>
                                    <p:set>
                                      <p:cBhvr>
                                        <p:cTn id="15" dur="1" fill="hold">
                                          <p:stCondLst>
                                            <p:cond delay="0"/>
                                          </p:stCondLst>
                                        </p:cTn>
                                        <p:tgtEl>
                                          <p:spTgt spid="12"/>
                                        </p:tgtEl>
                                        <p:attrNameLst>
                                          <p:attrName>style.visibility</p:attrName>
                                        </p:attrNameLst>
                                      </p:cBhvr>
                                      <p:to>
                                        <p:strVal val="visible"/>
                                      </p:to>
                                    </p:set>
                                    <p:animEffect transition="in" filter="wipe(left)">
                                      <p:cBhvr>
                                        <p:cTn id="16" dur="500"/>
                                        <p:tgtEl>
                                          <p:spTgt spid="12"/>
                                        </p:tgtEl>
                                      </p:cBhvr>
                                    </p:animEffect>
                                  </p:childTnLst>
                                </p:cTn>
                              </p:par>
                              <p:par>
                                <p:cTn id="17" presetID="10" presetClass="entr" presetSubtype="0" fill="hold" grpId="0" nodeType="withEffect">
                                  <p:stCondLst>
                                    <p:cond delay="30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par>
                                <p:cTn id="20" presetID="10" presetClass="entr" presetSubtype="0" fill="hold" grpId="0" nodeType="withEffect">
                                  <p:stCondLst>
                                    <p:cond delay="300"/>
                                  </p:stCondLst>
                                  <p:childTnLst>
                                    <p:set>
                                      <p:cBhvr>
                                        <p:cTn id="21" dur="1" fill="hold">
                                          <p:stCondLst>
                                            <p:cond delay="0"/>
                                          </p:stCondLst>
                                        </p:cTn>
                                        <p:tgtEl>
                                          <p:spTgt spid="14"/>
                                        </p:tgtEl>
                                        <p:attrNameLst>
                                          <p:attrName>style.visibility</p:attrName>
                                        </p:attrNameLst>
                                      </p:cBhvr>
                                      <p:to>
                                        <p:strVal val="visible"/>
                                      </p:to>
                                    </p:set>
                                    <p:animEffect transition="in" filter="fade">
                                      <p:cBhvr>
                                        <p:cTn id="22" dur="400"/>
                                        <p:tgtEl>
                                          <p:spTgt spid="14"/>
                                        </p:tgtEl>
                                      </p:cBhvr>
                                    </p:animEffect>
                                  </p:childTnLst>
                                </p:cTn>
                              </p:par>
                              <p:par>
                                <p:cTn id="23" presetID="10" presetClass="entr" presetSubtype="0" fill="hold" grpId="0" nodeType="withEffect">
                                  <p:stCondLst>
                                    <p:cond delay="300"/>
                                  </p:stCondLst>
                                  <p:childTnLst>
                                    <p:set>
                                      <p:cBhvr>
                                        <p:cTn id="24" dur="1" fill="hold">
                                          <p:stCondLst>
                                            <p:cond delay="0"/>
                                          </p:stCondLst>
                                        </p:cTn>
                                        <p:tgtEl>
                                          <p:spTgt spid="15"/>
                                        </p:tgtEl>
                                        <p:attrNameLst>
                                          <p:attrName>style.visibility</p:attrName>
                                        </p:attrNameLst>
                                      </p:cBhvr>
                                      <p:to>
                                        <p:strVal val="visible"/>
                                      </p:to>
                                    </p:set>
                                    <p:animEffect transition="in" filter="fade">
                                      <p:cBhvr>
                                        <p:cTn id="25" dur="400"/>
                                        <p:tgtEl>
                                          <p:spTgt spid="15"/>
                                        </p:tgtEl>
                                      </p:cBhvr>
                                    </p:animEffect>
                                  </p:childTnLst>
                                </p:cTn>
                              </p:par>
                              <p:par>
                                <p:cTn id="26" presetID="22" presetClass="entr" presetSubtype="8" fill="hold" grpId="0" nodeType="withEffect">
                                  <p:stCondLst>
                                    <p:cond delay="1000"/>
                                  </p:stCondLst>
                                  <p:childTnLst>
                                    <p:set>
                                      <p:cBhvr>
                                        <p:cTn id="27" dur="1" fill="hold">
                                          <p:stCondLst>
                                            <p:cond delay="0"/>
                                          </p:stCondLst>
                                        </p:cTn>
                                        <p:tgtEl>
                                          <p:spTgt spid="16"/>
                                        </p:tgtEl>
                                        <p:attrNameLst>
                                          <p:attrName>style.visibility</p:attrName>
                                        </p:attrNameLst>
                                      </p:cBhvr>
                                      <p:to>
                                        <p:strVal val="visible"/>
                                      </p:to>
                                    </p:set>
                                    <p:animEffect transition="in" filter="wipe(left)">
                                      <p:cBhvr>
                                        <p:cTn id="28" dur="500"/>
                                        <p:tgtEl>
                                          <p:spTgt spid="16"/>
                                        </p:tgtEl>
                                      </p:cBhvr>
                                    </p:animEffect>
                                  </p:childTnLst>
                                </p:cTn>
                              </p:par>
                              <p:par>
                                <p:cTn id="29" presetID="10" presetClass="entr" presetSubtype="0" fill="hold" grpId="0" nodeType="withEffect">
                                  <p:stCondLst>
                                    <p:cond delay="450"/>
                                  </p:stCondLst>
                                  <p:childTnLst>
                                    <p:set>
                                      <p:cBhvr>
                                        <p:cTn id="30" dur="1" fill="hold">
                                          <p:stCondLst>
                                            <p:cond delay="0"/>
                                          </p:stCondLst>
                                        </p:cTn>
                                        <p:tgtEl>
                                          <p:spTgt spid="17"/>
                                        </p:tgtEl>
                                        <p:attrNameLst>
                                          <p:attrName>style.visibility</p:attrName>
                                        </p:attrNameLst>
                                      </p:cBhvr>
                                      <p:to>
                                        <p:strVal val="visible"/>
                                      </p:to>
                                    </p:set>
                                    <p:animEffect transition="in" filter="fade">
                                      <p:cBhvr>
                                        <p:cTn id="31" dur="400"/>
                                        <p:tgtEl>
                                          <p:spTgt spid="17"/>
                                        </p:tgtEl>
                                      </p:cBhvr>
                                    </p:animEffect>
                                  </p:childTnLst>
                                </p:cTn>
                              </p:par>
                              <p:par>
                                <p:cTn id="32" presetID="10" presetClass="entr" presetSubtype="0" fill="hold" grpId="0" nodeType="withEffect">
                                  <p:stCondLst>
                                    <p:cond delay="450"/>
                                  </p:stCondLst>
                                  <p:childTnLst>
                                    <p:set>
                                      <p:cBhvr>
                                        <p:cTn id="33" dur="1" fill="hold">
                                          <p:stCondLst>
                                            <p:cond delay="0"/>
                                          </p:stCondLst>
                                        </p:cTn>
                                        <p:tgtEl>
                                          <p:spTgt spid="18"/>
                                        </p:tgtEl>
                                        <p:attrNameLst>
                                          <p:attrName>style.visibility</p:attrName>
                                        </p:attrNameLst>
                                      </p:cBhvr>
                                      <p:to>
                                        <p:strVal val="visible"/>
                                      </p:to>
                                    </p:set>
                                    <p:animEffect transition="in" filter="fade">
                                      <p:cBhvr>
                                        <p:cTn id="34" dur="400"/>
                                        <p:tgtEl>
                                          <p:spTgt spid="18"/>
                                        </p:tgtEl>
                                      </p:cBhvr>
                                    </p:animEffect>
                                  </p:childTnLst>
                                </p:cTn>
                              </p:par>
                              <p:par>
                                <p:cTn id="35" presetID="10" presetClass="entr" presetSubtype="0" fill="hold" grpId="0" nodeType="withEffect">
                                  <p:stCondLst>
                                    <p:cond delay="450"/>
                                  </p:stCondLst>
                                  <p:childTnLst>
                                    <p:set>
                                      <p:cBhvr>
                                        <p:cTn id="36" dur="1" fill="hold">
                                          <p:stCondLst>
                                            <p:cond delay="0"/>
                                          </p:stCondLst>
                                        </p:cTn>
                                        <p:tgtEl>
                                          <p:spTgt spid="19"/>
                                        </p:tgtEl>
                                        <p:attrNameLst>
                                          <p:attrName>style.visibility</p:attrName>
                                        </p:attrNameLst>
                                      </p:cBhvr>
                                      <p:to>
                                        <p:strVal val="visible"/>
                                      </p:to>
                                    </p:set>
                                    <p:animEffect transition="in" filter="fade">
                                      <p:cBhvr>
                                        <p:cTn id="37" dur="400"/>
                                        <p:tgtEl>
                                          <p:spTgt spid="19"/>
                                        </p:tgtEl>
                                      </p:cBhvr>
                                    </p:animEffect>
                                  </p:childTnLst>
                                </p:cTn>
                              </p:par>
                              <p:par>
                                <p:cTn id="38" presetID="22" presetClass="entr" presetSubtype="8" fill="hold" grpId="0" nodeType="withEffect">
                                  <p:stCondLst>
                                    <p:cond delay="1100"/>
                                  </p:stCondLst>
                                  <p:childTnLst>
                                    <p:set>
                                      <p:cBhvr>
                                        <p:cTn id="39" dur="1" fill="hold">
                                          <p:stCondLst>
                                            <p:cond delay="0"/>
                                          </p:stCondLst>
                                        </p:cTn>
                                        <p:tgtEl>
                                          <p:spTgt spid="20"/>
                                        </p:tgtEl>
                                        <p:attrNameLst>
                                          <p:attrName>style.visibility</p:attrName>
                                        </p:attrNameLst>
                                      </p:cBhvr>
                                      <p:to>
                                        <p:strVal val="visible"/>
                                      </p:to>
                                    </p:set>
                                    <p:animEffect transition="in" filter="wipe(left)">
                                      <p:cBhvr>
                                        <p:cTn id="40" dur="500"/>
                                        <p:tgtEl>
                                          <p:spTgt spid="20"/>
                                        </p:tgtEl>
                                      </p:cBhvr>
                                    </p:animEffect>
                                  </p:childTnLst>
                                </p:cTn>
                              </p:par>
                              <p:par>
                                <p:cTn id="41" presetID="10" presetClass="entr" presetSubtype="0" fill="hold" grpId="0" nodeType="withEffect">
                                  <p:stCondLst>
                                    <p:cond delay="600"/>
                                  </p:stCondLst>
                                  <p:childTnLst>
                                    <p:set>
                                      <p:cBhvr>
                                        <p:cTn id="42" dur="1" fill="hold">
                                          <p:stCondLst>
                                            <p:cond delay="0"/>
                                          </p:stCondLst>
                                        </p:cTn>
                                        <p:tgtEl>
                                          <p:spTgt spid="21"/>
                                        </p:tgtEl>
                                        <p:attrNameLst>
                                          <p:attrName>style.visibility</p:attrName>
                                        </p:attrNameLst>
                                      </p:cBhvr>
                                      <p:to>
                                        <p:strVal val="visible"/>
                                      </p:to>
                                    </p:set>
                                    <p:animEffect transition="in" filter="fade">
                                      <p:cBhvr>
                                        <p:cTn id="43" dur="400"/>
                                        <p:tgtEl>
                                          <p:spTgt spid="21"/>
                                        </p:tgtEl>
                                      </p:cBhvr>
                                    </p:animEffect>
                                  </p:childTnLst>
                                </p:cTn>
                              </p:par>
                              <p:par>
                                <p:cTn id="44" presetID="10" presetClass="entr" presetSubtype="0" fill="hold" grpId="0" nodeType="withEffect">
                                  <p:stCondLst>
                                    <p:cond delay="600"/>
                                  </p:stCondLst>
                                  <p:childTnLst>
                                    <p:set>
                                      <p:cBhvr>
                                        <p:cTn id="45" dur="1" fill="hold">
                                          <p:stCondLst>
                                            <p:cond delay="0"/>
                                          </p:stCondLst>
                                        </p:cTn>
                                        <p:tgtEl>
                                          <p:spTgt spid="22"/>
                                        </p:tgtEl>
                                        <p:attrNameLst>
                                          <p:attrName>style.visibility</p:attrName>
                                        </p:attrNameLst>
                                      </p:cBhvr>
                                      <p:to>
                                        <p:strVal val="visible"/>
                                      </p:to>
                                    </p:set>
                                    <p:animEffect transition="in" filter="fade">
                                      <p:cBhvr>
                                        <p:cTn id="46" dur="400"/>
                                        <p:tgtEl>
                                          <p:spTgt spid="22"/>
                                        </p:tgtEl>
                                      </p:cBhvr>
                                    </p:animEffect>
                                  </p:childTnLst>
                                </p:cTn>
                              </p:par>
                              <p:par>
                                <p:cTn id="47" presetID="10" presetClass="entr" presetSubtype="0" fill="hold" grpId="0" nodeType="withEffect">
                                  <p:stCondLst>
                                    <p:cond delay="600"/>
                                  </p:stCondLst>
                                  <p:childTnLst>
                                    <p:set>
                                      <p:cBhvr>
                                        <p:cTn id="48" dur="1" fill="hold">
                                          <p:stCondLst>
                                            <p:cond delay="0"/>
                                          </p:stCondLst>
                                        </p:cTn>
                                        <p:tgtEl>
                                          <p:spTgt spid="23"/>
                                        </p:tgtEl>
                                        <p:attrNameLst>
                                          <p:attrName>style.visibility</p:attrName>
                                        </p:attrNameLst>
                                      </p:cBhvr>
                                      <p:to>
                                        <p:strVal val="visible"/>
                                      </p:to>
                                    </p:set>
                                    <p:animEffect transition="in" filter="fade">
                                      <p:cBhvr>
                                        <p:cTn id="49" dur="400"/>
                                        <p:tgtEl>
                                          <p:spTgt spid="23"/>
                                        </p:tgtEl>
                                      </p:cBhvr>
                                    </p:animEffect>
                                  </p:childTnLst>
                                </p:cTn>
                              </p:par>
                              <p:par>
                                <p:cTn id="50" presetID="22" presetClass="entr" presetSubtype="8" fill="hold" grpId="0" nodeType="withEffect">
                                  <p:stCondLst>
                                    <p:cond delay="1200"/>
                                  </p:stCondLst>
                                  <p:childTnLst>
                                    <p:set>
                                      <p:cBhvr>
                                        <p:cTn id="51" dur="1" fill="hold">
                                          <p:stCondLst>
                                            <p:cond delay="0"/>
                                          </p:stCondLst>
                                        </p:cTn>
                                        <p:tgtEl>
                                          <p:spTgt spid="24"/>
                                        </p:tgtEl>
                                        <p:attrNameLst>
                                          <p:attrName>style.visibility</p:attrName>
                                        </p:attrNameLst>
                                      </p:cBhvr>
                                      <p:to>
                                        <p:strVal val="visible"/>
                                      </p:to>
                                    </p:set>
                                    <p:animEffect transition="in" filter="wipe(left)">
                                      <p:cBhvr>
                                        <p:cTn id="52" dur="500"/>
                                        <p:tgtEl>
                                          <p:spTgt spid="24"/>
                                        </p:tgtEl>
                                      </p:cBhvr>
                                    </p:animEffect>
                                  </p:childTnLst>
                                </p:cTn>
                              </p:par>
                              <p:par>
                                <p:cTn id="53" presetID="2" presetClass="entr" presetSubtype="4" fill="hold" grpId="0" nodeType="withEffect">
                                  <p:stCondLst>
                                    <p:cond delay="1400"/>
                                  </p:stCondLst>
                                  <p:childTnLst>
                                    <p:set>
                                      <p:cBhvr>
                                        <p:cTn id="54" dur="1" fill="hold">
                                          <p:stCondLst>
                                            <p:cond delay="0"/>
                                          </p:stCondLst>
                                        </p:cTn>
                                        <p:tgtEl>
                                          <p:spTgt spid="25"/>
                                        </p:tgtEl>
                                        <p:attrNameLst>
                                          <p:attrName>style.visibility</p:attrName>
                                        </p:attrNameLst>
                                      </p:cBhvr>
                                      <p:to>
                                        <p:strVal val="visible"/>
                                      </p:to>
                                    </p:set>
                                    <p:anim calcmode="lin" valueType="num">
                                      <p:cBhvr additive="base">
                                        <p:cTn id="55" dur="600" fill="hold"/>
                                        <p:tgtEl>
                                          <p:spTgt spid="25"/>
                                        </p:tgtEl>
                                        <p:attrNameLst>
                                          <p:attrName>ppt_x</p:attrName>
                                        </p:attrNameLst>
                                      </p:cBhvr>
                                      <p:tavLst>
                                        <p:tav tm="0">
                                          <p:val>
                                            <p:strVal val="#ppt_x"/>
                                          </p:val>
                                        </p:tav>
                                        <p:tav tm="100000">
                                          <p:val>
                                            <p:strVal val="#ppt_x"/>
                                          </p:val>
                                        </p:tav>
                                      </p:tavLst>
                                    </p:anim>
                                    <p:anim calcmode="lin" valueType="num">
                                      <p:cBhvr additive="base">
                                        <p:cTn id="56" dur="600" fill="hold"/>
                                        <p:tgtEl>
                                          <p:spTgt spid="25"/>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1" grpId="0" animBg="1"/>
      <p:bldP spid="12" grpId="0" animBg="1"/>
      <p:bldP spid="13" grpId="0" animBg="1"/>
      <p:bldP spid="15" grpId="0" animBg="1"/>
      <p:bldP spid="16" grpId="0" animBg="1"/>
      <p:bldP spid="17" grpId="0" animBg="1"/>
      <p:bldP spid="19" grpId="0" animBg="1"/>
      <p:bldP spid="20" grpId="0" animBg="1"/>
      <p:bldP spid="21" grpId="0" animBg="1"/>
      <p:bldP spid="23" grpId="0" animBg="1"/>
      <p:bldP spid="24" grpId="0" animBg="1"/>
      <p:bldP spid="25"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Clip label"/>
          <p:cNvSpPr txBox="1"/>
          <p:nvPr/>
        </p:nvSpPr>
        <p:spPr>
          <a:xfrm>
            <a:off x="822960" y="6446520"/>
            <a:ext cx="6096000" cy="213360"/>
          </a:xfrm>
          <a:prstGeom prst="rect">
            <a:avLst/>
          </a:prstGeom>
          <a:noFill/>
          <a:ln/>
        </p:spPr>
        <p:txBody>
          <a:bodyPr wrap="square" lIns="0" tIns="0" rIns="0" bIns="0" rtlCol="0" anchor="t"/>
          <a:lstStyle/>
          <a:p>
            <a:pPr indent="0" marL="0">
              <a:buNone/>
            </a:pPr>
            <a:r>
              <a:rPr lang="en-US" sz="1000" b="1" dirty="0">
                <a:solidFill>
                  <a:srgbClr val="8FA0B5"/>
                </a:solidFill>
              </a:rPr>
              <a:t>Video 1 · Meet Finn</a:t>
            </a:r>
            <a:endParaRPr lang="en-US" sz="1000" dirty="0"/>
          </a:p>
        </p:txBody>
      </p:sp>
      <p:pic>
        <p:nvPicPr>
          <p:cNvPr id="26" name="Video 1"/>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822960" y="381000"/>
            <a:ext cx="10546080" cy="5935980"/>
          </a:xfrm>
          <a:prstGeom prst="rect">
            <a:avLst/>
          </a:prstGeom>
        </p:spPr>
      </p:pic>
      <p:sp>
        <p:nvSpPr>
          <p:cNvPr id="25" name="Slide Number Placeholder 0"/>
          <p:cNvSpPr>
            <a:spLocks noGrp="1"/>
          </p:cNvSpPr>
          <p:nvPr>
            <p:ph type="sldNum" sz="quarter" idx="4294967295"/>
          </p:nvPr>
        </p:nvSpPr>
        <p:spPr>
          <a:xfrm>
            <a:off x="11338560" y="63550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4</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7000"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display="0" fill="hold">
                  <p:stCondLst>
                    <p:cond delay="indefinite"/>
                  </p:stCondLst>
                </p:cTn>
                <p:tgtEl>
                  <p:spTgt spid="26"/>
                </p:tgtEl>
              </p:cMediaNode>
            </p:video>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Clip label"/>
          <p:cNvSpPr txBox="1"/>
          <p:nvPr/>
        </p:nvSpPr>
        <p:spPr>
          <a:xfrm>
            <a:off x="822960" y="6446520"/>
            <a:ext cx="6096000" cy="213360"/>
          </a:xfrm>
          <a:prstGeom prst="rect">
            <a:avLst/>
          </a:prstGeom>
          <a:noFill/>
          <a:ln/>
        </p:spPr>
        <p:txBody>
          <a:bodyPr wrap="square" lIns="0" tIns="0" rIns="0" bIns="0" rtlCol="0" anchor="t"/>
          <a:lstStyle/>
          <a:p>
            <a:pPr indent="0" marL="0">
              <a:buNone/>
            </a:pPr>
            <a:r>
              <a:rPr lang="en-US" sz="1000" b="1" dirty="0">
                <a:solidFill>
                  <a:srgbClr val="8FA0B5"/>
                </a:solidFill>
              </a:rPr>
              <a:t>Video 2 · The answer and its source</a:t>
            </a:r>
            <a:endParaRPr lang="en-US" sz="1000" dirty="0"/>
          </a:p>
        </p:txBody>
      </p:sp>
      <p:pic>
        <p:nvPicPr>
          <p:cNvPr id="26" name="Video 2"/>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822960" y="381000"/>
            <a:ext cx="10546080" cy="5935980"/>
          </a:xfrm>
          <a:prstGeom prst="rect">
            <a:avLst/>
          </a:prstGeom>
        </p:spPr>
      </p:pic>
      <p:sp>
        <p:nvSpPr>
          <p:cNvPr id="25" name="Slide Number Placeholder 0"/>
          <p:cNvSpPr>
            <a:spLocks noGrp="1"/>
          </p:cNvSpPr>
          <p:nvPr>
            <p:ph type="sldNum" sz="quarter" idx="4294967295"/>
          </p:nvPr>
        </p:nvSpPr>
        <p:spPr>
          <a:xfrm>
            <a:off x="11338560" y="63550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5</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8000"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display="0" fill="hold">
                  <p:stCondLst>
                    <p:cond delay="indefinite"/>
                  </p:stCondLst>
                </p:cTn>
                <p:tgtEl>
                  <p:spTgt spid="26"/>
                </p:tgtEl>
              </p:cMediaNode>
            </p:video>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Clip label"/>
          <p:cNvSpPr txBox="1"/>
          <p:nvPr/>
        </p:nvSpPr>
        <p:spPr>
          <a:xfrm>
            <a:off x="822960" y="6446520"/>
            <a:ext cx="6096000" cy="213360"/>
          </a:xfrm>
          <a:prstGeom prst="rect">
            <a:avLst/>
          </a:prstGeom>
          <a:noFill/>
          <a:ln/>
        </p:spPr>
        <p:txBody>
          <a:bodyPr wrap="square" lIns="0" tIns="0" rIns="0" bIns="0" rtlCol="0" anchor="t"/>
          <a:lstStyle/>
          <a:p>
            <a:pPr indent="0" marL="0">
              <a:buNone/>
            </a:pPr>
            <a:r>
              <a:rPr lang="en-US" sz="1000" b="1" dirty="0">
                <a:solidFill>
                  <a:srgbClr val="8FA0B5"/>
                </a:solidFill>
              </a:rPr>
              <a:t>Video 3 · Next month: Finn can't confirm</a:t>
            </a:r>
            <a:endParaRPr lang="en-US" sz="1000" dirty="0"/>
          </a:p>
        </p:txBody>
      </p:sp>
      <p:pic>
        <p:nvPicPr>
          <p:cNvPr id="26" name="Video 3"/>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822960" y="381000"/>
            <a:ext cx="10546080" cy="5935980"/>
          </a:xfrm>
          <a:prstGeom prst="rect">
            <a:avLst/>
          </a:prstGeom>
        </p:spPr>
      </p:pic>
      <p:sp>
        <p:nvSpPr>
          <p:cNvPr id="25" name="Slide Number Placeholder 0"/>
          <p:cNvSpPr>
            <a:spLocks noGrp="1"/>
          </p:cNvSpPr>
          <p:nvPr>
            <p:ph type="sldNum" sz="quarter" idx="4294967295"/>
          </p:nvPr>
        </p:nvSpPr>
        <p:spPr>
          <a:xfrm>
            <a:off x="11338560" y="63550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6</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7000"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display="0" fill="hold">
                  <p:stCondLst>
                    <p:cond delay="indefinite"/>
                  </p:stCondLst>
                </p:cTn>
                <p:tgtEl>
                  <p:spTgt spid="26"/>
                </p:tgtEl>
              </p:cMediaNode>
            </p:video>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Clip label"/>
          <p:cNvSpPr txBox="1"/>
          <p:nvPr/>
        </p:nvSpPr>
        <p:spPr>
          <a:xfrm>
            <a:off x="822960" y="6446520"/>
            <a:ext cx="6096000" cy="213360"/>
          </a:xfrm>
          <a:prstGeom prst="rect">
            <a:avLst/>
          </a:prstGeom>
          <a:noFill/>
          <a:ln/>
        </p:spPr>
        <p:txBody>
          <a:bodyPr wrap="square" lIns="0" tIns="0" rIns="0" bIns="0" rtlCol="0" anchor="t"/>
          <a:lstStyle/>
          <a:p>
            <a:pPr indent="0" marL="0">
              <a:buNone/>
            </a:pPr>
            <a:r>
              <a:rPr lang="en-US" sz="1000" b="1" dirty="0">
                <a:solidFill>
                  <a:srgbClr val="8FA0B5"/>
                </a:solidFill>
              </a:rPr>
              <a:t>Video 4 · After Roy's answer</a:t>
            </a:r>
            <a:endParaRPr lang="en-US" sz="1000" dirty="0"/>
          </a:p>
        </p:txBody>
      </p:sp>
      <p:pic>
        <p:nvPicPr>
          <p:cNvPr id="26" name="Video 4"/>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822960" y="381000"/>
            <a:ext cx="10546080" cy="5935980"/>
          </a:xfrm>
          <a:prstGeom prst="rect">
            <a:avLst/>
          </a:prstGeom>
        </p:spPr>
      </p:pic>
      <p:sp>
        <p:nvSpPr>
          <p:cNvPr id="25" name="Slide Number Placeholder 0"/>
          <p:cNvSpPr>
            <a:spLocks noGrp="1"/>
          </p:cNvSpPr>
          <p:nvPr>
            <p:ph type="sldNum" sz="quarter" idx="4294967295"/>
          </p:nvPr>
        </p:nvSpPr>
        <p:spPr>
          <a:xfrm>
            <a:off x="11338560" y="63550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7</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3167"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display="0" fill="hold">
                  <p:stCondLst>
                    <p:cond delay="indefinite"/>
                  </p:stCondLst>
                </p:cTn>
                <p:tgtEl>
                  <p:spTgt spid="26"/>
                </p:tgtEl>
              </p:cMediaNode>
            </p:video>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itle"/>
          <p:cNvSpPr txBox="1"/>
          <p:nvPr/>
        </p:nvSpPr>
        <p:spPr>
          <a:xfrm>
            <a:off x="548640" y="457200"/>
            <a:ext cx="10668000" cy="609600"/>
          </a:xfrm>
          <a:prstGeom prst="rect">
            <a:avLst/>
          </a:prstGeom>
          <a:noFill/>
          <a:ln/>
        </p:spPr>
        <p:txBody>
          <a:bodyPr wrap="square" lIns="0" tIns="0" rIns="0" bIns="0" rtlCol="0" anchor="t"/>
          <a:lstStyle/>
          <a:p>
            <a:pPr indent="0" marL="0">
              <a:buNone/>
            </a:pPr>
            <a:r>
              <a:rPr lang="en-US" sz="3240" b="1" dirty="0">
                <a:solidFill>
                  <a:schemeClr val="bg1"/>
                </a:solidFill>
              </a:rPr>
              <a:t>Finn calls the one person who knows</a:t>
            </a:r>
            <a:endParaRPr lang="en-US" sz="3240" dirty="0"/>
          </a:p>
        </p:txBody>
      </p:sp>
      <p:sp>
        <p:nvSpPr>
          <p:cNvPr id="3" name="Call card"/>
          <p:cNvSpPr/>
          <p:nvPr/>
        </p:nvSpPr>
        <p:spPr>
          <a:xfrm>
            <a:off x="548640" y="1295400"/>
            <a:ext cx="4876800" cy="2628900"/>
          </a:xfrm>
          <a:prstGeom prst="roundRect">
            <a:avLst>
              <a:gd name="adj" fmla="val 6957"/>
            </a:avLst>
          </a:prstGeom>
          <a:solidFill>
            <a:schemeClr val="tx1"/>
          </a:solidFill>
          <a:ln/>
        </p:spPr>
      </p:sp>
      <p:sp>
        <p:nvSpPr>
          <p:cNvPr id="4" name="Dot calling"/>
          <p:cNvSpPr/>
          <p:nvPr/>
        </p:nvSpPr>
        <p:spPr>
          <a:xfrm>
            <a:off x="792480" y="1539240"/>
            <a:ext cx="91440" cy="91440"/>
          </a:xfrm>
          <a:prstGeom prst="ellipse">
            <a:avLst/>
          </a:prstGeom>
          <a:solidFill>
            <a:schemeClr val="accent2"/>
          </a:solidFill>
          <a:ln/>
        </p:spPr>
      </p:sp>
      <p:sp>
        <p:nvSpPr>
          <p:cNvPr id="5" name="Dot live"/>
          <p:cNvSpPr/>
          <p:nvPr/>
        </p:nvSpPr>
        <p:spPr>
          <a:xfrm>
            <a:off x="792480" y="1539240"/>
            <a:ext cx="91440" cy="91440"/>
          </a:xfrm>
          <a:prstGeom prst="ellipse">
            <a:avLst/>
          </a:prstGeom>
          <a:solidFill>
            <a:srgbClr val="3CCF7A"/>
          </a:solidFill>
          <a:ln/>
        </p:spPr>
      </p:sp>
      <p:sp>
        <p:nvSpPr>
          <p:cNvPr id="6" name="Call label"/>
          <p:cNvSpPr txBox="1"/>
          <p:nvPr/>
        </p:nvSpPr>
        <p:spPr>
          <a:xfrm>
            <a:off x="960120" y="1478280"/>
            <a:ext cx="1524000" cy="213360"/>
          </a:xfrm>
          <a:prstGeom prst="rect">
            <a:avLst/>
          </a:prstGeom>
          <a:noFill/>
          <a:ln/>
        </p:spPr>
        <p:txBody>
          <a:bodyPr wrap="square" lIns="0" tIns="0" rIns="0" bIns="0" rtlCol="0" anchor="ctr"/>
          <a:lstStyle/>
          <a:p>
            <a:pPr indent="0" marL="0">
              <a:buNone/>
            </a:pPr>
            <a:r>
              <a:rPr lang="en-US" sz="1080" b="1" dirty="0">
                <a:solidFill>
                  <a:schemeClr val="bg2"/>
                </a:solidFill>
              </a:rPr>
              <a:t>Teams call</a:t>
            </a:r>
            <a:endParaRPr lang="en-US" sz="1080" dirty="0"/>
          </a:p>
        </p:txBody>
      </p:sp>
      <p:sp>
        <p:nvSpPr>
          <p:cNvPr id="7" name="Status calling"/>
          <p:cNvSpPr txBox="1"/>
          <p:nvPr/>
        </p:nvSpPr>
        <p:spPr>
          <a:xfrm>
            <a:off x="3352800" y="1478280"/>
            <a:ext cx="1828800" cy="213360"/>
          </a:xfrm>
          <a:prstGeom prst="rect">
            <a:avLst/>
          </a:prstGeom>
          <a:noFill/>
          <a:ln/>
        </p:spPr>
        <p:txBody>
          <a:bodyPr wrap="square" lIns="0" tIns="0" rIns="0" bIns="0" rtlCol="0" anchor="ctr"/>
          <a:lstStyle/>
          <a:p>
            <a:pPr algn="r" indent="0" marL="0">
              <a:buNone/>
            </a:pPr>
            <a:r>
              <a:rPr lang="en-US" sz="1080" b="1" dirty="0">
                <a:solidFill>
                  <a:schemeClr val="accent2"/>
                </a:solidFill>
              </a:rPr>
              <a:t>Calling Roy…</a:t>
            </a:r>
            <a:endParaRPr lang="en-US" sz="1080" dirty="0"/>
          </a:p>
        </p:txBody>
      </p:sp>
      <p:sp>
        <p:nvSpPr>
          <p:cNvPr id="8" name="Status live"/>
          <p:cNvSpPr txBox="1"/>
          <p:nvPr/>
        </p:nvSpPr>
        <p:spPr>
          <a:xfrm>
            <a:off x="3352800" y="1478280"/>
            <a:ext cx="1828800" cy="213360"/>
          </a:xfrm>
          <a:prstGeom prst="rect">
            <a:avLst/>
          </a:prstGeom>
          <a:noFill/>
          <a:ln/>
        </p:spPr>
        <p:txBody>
          <a:bodyPr wrap="square" lIns="0" tIns="0" rIns="0" bIns="0" rtlCol="0" anchor="ctr"/>
          <a:lstStyle/>
          <a:p>
            <a:pPr algn="r" indent="0" marL="0">
              <a:buNone/>
            </a:pPr>
            <a:r>
              <a:rPr lang="en-US" sz="1080" b="1" dirty="0">
                <a:solidFill>
                  <a:srgbClr val="3CCF7A"/>
                </a:solidFill>
              </a:rPr>
              <a:t>Connected</a:t>
            </a:r>
            <a:endParaRPr lang="en-US" sz="1080" dirty="0"/>
          </a:p>
        </p:txBody>
      </p:sp>
      <p:sp>
        <p:nvSpPr>
          <p:cNvPr id="9" name="Finn avatar bg"/>
          <p:cNvSpPr/>
          <p:nvPr/>
        </p:nvSpPr>
        <p:spPr>
          <a:xfrm>
            <a:off x="1318260" y="1813560"/>
            <a:ext cx="853440" cy="853440"/>
          </a:xfrm>
          <a:prstGeom prst="ellipse">
            <a:avLst/>
          </a:prstGeom>
          <a:solidFill>
            <a:srgbClr val="2A3D57"/>
          </a:solidFill>
          <a:ln/>
        </p:spPr>
      </p:sp>
      <p:pic>
        <p:nvPicPr>
          <p:cNvPr id="10" name="Finn avatar" descr="preencoded.png">    </p:cNvPr>
          <p:cNvPicPr>
            <a:picLocks noChangeAspect="1"/>
          </p:cNvPicPr>
          <p:nvPr/>
        </p:nvPicPr>
        <p:blipFill>
          <a:blip r:embed="rId1"/>
          <a:stretch>
            <a:fillRect/>
          </a:stretch>
        </p:blipFill>
        <p:spPr>
          <a:xfrm>
            <a:off x="1318260" y="1813560"/>
            <a:ext cx="853440" cy="853440"/>
          </a:xfrm>
          <a:prstGeom prst="ellipse">
            <a:avLst/>
          </a:prstGeom>
        </p:spPr>
      </p:pic>
      <p:sp>
        <p:nvSpPr>
          <p:cNvPr id="11" name="Finn name"/>
          <p:cNvSpPr txBox="1"/>
          <p:nvPr/>
        </p:nvSpPr>
        <p:spPr>
          <a:xfrm>
            <a:off x="1021080" y="2758440"/>
            <a:ext cx="1447800" cy="457200"/>
          </a:xfrm>
          <a:prstGeom prst="rect">
            <a:avLst/>
          </a:prstGeom>
          <a:noFill/>
          <a:ln/>
        </p:spPr>
        <p:txBody>
          <a:bodyPr wrap="square" lIns="0" tIns="0" rIns="0" bIns="0" rtlCol="0" anchor="t"/>
          <a:lstStyle/>
          <a:p>
            <a:pPr algn="ctr" indent="0" marL="0">
              <a:buNone/>
            </a:pPr>
            <a:r>
              <a:rPr lang="en-US" sz="1320" b="1" dirty="0">
                <a:solidFill>
                  <a:schemeClr val="bg1"/>
                </a:solidFill>
              </a:rPr>
              <a:t>Finn</a:t>
            </a:r>
            <a:endParaRPr lang="en-US" sz="1320" dirty="0"/>
          </a:p>
          <a:p>
            <a:pPr algn="ctr" indent="0" marL="0">
              <a:buNone/>
            </a:pPr>
            <a:r>
              <a:rPr lang="en-US" sz="900" dirty="0">
                <a:solidFill>
                  <a:srgbClr val="C8D2DF"/>
                </a:solidFill>
              </a:rPr>
              <a:t>SDtrust</a:t>
            </a:r>
            <a:endParaRPr lang="en-US" sz="1320" dirty="0"/>
          </a:p>
        </p:txBody>
      </p:sp>
      <p:sp>
        <p:nvSpPr>
          <p:cNvPr id="12" name="Line"/>
          <p:cNvSpPr/>
          <p:nvPr/>
        </p:nvSpPr>
        <p:spPr>
          <a:xfrm>
            <a:off x="2286000" y="2240280"/>
            <a:ext cx="1409700" cy="0"/>
          </a:xfrm>
          <a:prstGeom prst="line">
            <a:avLst/>
          </a:prstGeom>
          <a:noFill/>
          <a:ln w="19050">
            <a:solidFill>
              <a:srgbClr val="5F6F85"/>
            </a:solidFill>
            <a:prstDash val="sysDot"/>
          </a:ln>
        </p:spPr>
      </p:sp>
      <p:sp>
        <p:nvSpPr>
          <p:cNvPr id="13" name="Phone calling"/>
          <p:cNvSpPr/>
          <p:nvPr/>
        </p:nvSpPr>
        <p:spPr>
          <a:xfrm>
            <a:off x="2788920" y="2042160"/>
            <a:ext cx="396240" cy="396240"/>
          </a:xfrm>
          <a:prstGeom prst="ellipse">
            <a:avLst/>
          </a:prstGeom>
          <a:solidFill>
            <a:schemeClr val="accent2"/>
          </a:solidFill>
          <a:ln/>
        </p:spPr>
      </p:sp>
      <p:sp>
        <p:nvSpPr>
          <p:cNvPr id="14" name="Phone live"/>
          <p:cNvSpPr/>
          <p:nvPr/>
        </p:nvSpPr>
        <p:spPr>
          <a:xfrm>
            <a:off x="2788920" y="2042160"/>
            <a:ext cx="396240" cy="396240"/>
          </a:xfrm>
          <a:prstGeom prst="ellipse">
            <a:avLst/>
          </a:prstGeom>
          <a:solidFill>
            <a:srgbClr val="3CCF7A"/>
          </a:solidFill>
          <a:ln/>
        </p:spPr>
      </p:sp>
      <p:pic>
        <p:nvPicPr>
          <p:cNvPr id="15" name="Phone icon" descr="preencoded.png">    </p:cNvPr>
          <p:cNvPicPr>
            <a:picLocks noChangeAspect="1"/>
          </p:cNvPicPr>
          <p:nvPr/>
        </p:nvPicPr>
        <p:blipFill>
          <a:blip r:embed="rId2"/>
          <a:stretch>
            <a:fillRect/>
          </a:stretch>
        </p:blipFill>
        <p:spPr>
          <a:xfrm>
            <a:off x="2887980" y="2141220"/>
            <a:ext cx="198120" cy="198120"/>
          </a:xfrm>
          <a:prstGeom prst="rect">
            <a:avLst/>
          </a:prstGeom>
        </p:spPr>
      </p:pic>
      <p:sp>
        <p:nvSpPr>
          <p:cNvPr id="16" name="Roy avatar"/>
          <p:cNvSpPr/>
          <p:nvPr/>
        </p:nvSpPr>
        <p:spPr>
          <a:xfrm>
            <a:off x="3802380" y="1813560"/>
            <a:ext cx="853440" cy="853440"/>
          </a:xfrm>
          <a:prstGeom prst="ellipse">
            <a:avLst/>
          </a:prstGeom>
          <a:solidFill>
            <a:schemeClr val="accent1"/>
          </a:solidFill>
          <a:ln/>
        </p:spPr>
      </p:sp>
      <p:sp>
        <p:nvSpPr>
          <p:cNvPr id="17" name="Roy initial"/>
          <p:cNvSpPr txBox="1"/>
          <p:nvPr/>
        </p:nvSpPr>
        <p:spPr>
          <a:xfrm>
            <a:off x="3802380" y="1813560"/>
            <a:ext cx="853440" cy="853440"/>
          </a:xfrm>
          <a:prstGeom prst="rect">
            <a:avLst/>
          </a:prstGeom>
          <a:noFill/>
          <a:ln/>
        </p:spPr>
        <p:txBody>
          <a:bodyPr wrap="square" lIns="0" tIns="0" rIns="0" bIns="0" rtlCol="0" anchor="ctr"/>
          <a:lstStyle/>
          <a:p>
            <a:pPr algn="ctr" indent="0" marL="0">
              <a:buNone/>
            </a:pPr>
            <a:r>
              <a:rPr lang="en-US" sz="3240" b="1" dirty="0">
                <a:solidFill>
                  <a:schemeClr val="bg1"/>
                </a:solidFill>
              </a:rPr>
              <a:t>R</a:t>
            </a:r>
            <a:endParaRPr lang="en-US" sz="3240" dirty="0"/>
          </a:p>
        </p:txBody>
      </p:sp>
      <p:sp>
        <p:nvSpPr>
          <p:cNvPr id="18" name="Roy name"/>
          <p:cNvSpPr txBox="1"/>
          <p:nvPr/>
        </p:nvSpPr>
        <p:spPr>
          <a:xfrm>
            <a:off x="3505200" y="2758440"/>
            <a:ext cx="1447800" cy="457200"/>
          </a:xfrm>
          <a:prstGeom prst="rect">
            <a:avLst/>
          </a:prstGeom>
          <a:noFill/>
          <a:ln/>
        </p:spPr>
        <p:txBody>
          <a:bodyPr wrap="square" lIns="0" tIns="0" rIns="0" bIns="0" rtlCol="0" anchor="t"/>
          <a:lstStyle/>
          <a:p>
            <a:pPr algn="ctr" indent="0" marL="0">
              <a:buNone/>
            </a:pPr>
            <a:r>
              <a:rPr lang="en-US" sz="1320" b="1" dirty="0">
                <a:solidFill>
                  <a:schemeClr val="bg1"/>
                </a:solidFill>
              </a:rPr>
              <a:t>Roy</a:t>
            </a:r>
            <a:endParaRPr lang="en-US" sz="1320" dirty="0"/>
          </a:p>
          <a:p>
            <a:pPr algn="ctr" indent="0" marL="0">
              <a:buNone/>
            </a:pPr>
            <a:r>
              <a:rPr lang="en-US" sz="900" dirty="0">
                <a:solidFill>
                  <a:srgbClr val="C8D2DF"/>
                </a:solidFill>
              </a:rPr>
              <a:t>Account owner, Atlas</a:t>
            </a:r>
            <a:endParaRPr lang="en-US" sz="1320" dirty="0"/>
          </a:p>
        </p:txBody>
      </p:sp>
      <p:sp>
        <p:nvSpPr>
          <p:cNvPr id="19" name="Why"/>
          <p:cNvSpPr/>
          <p:nvPr/>
        </p:nvSpPr>
        <p:spPr>
          <a:xfrm>
            <a:off x="792480" y="3291840"/>
            <a:ext cx="4389120" cy="472440"/>
          </a:xfrm>
          <a:prstGeom prst="roundRect">
            <a:avLst>
              <a:gd name="adj" fmla="val 19355"/>
            </a:avLst>
          </a:prstGeom>
          <a:solidFill>
            <a:schemeClr val="tx2"/>
          </a:solidFill>
          <a:ln/>
        </p:spPr>
        <p:txBody>
          <a:bodyPr wrap="square" lIns="101600" tIns="101600" rIns="101600" bIns="101600" rtlCol="0" anchor="ctr"/>
          <a:lstStyle/>
          <a:p>
            <a:pPr indent="0" marL="0">
              <a:buNone/>
            </a:pPr>
            <a:r>
              <a:rPr lang="en-US" sz="1020" b="1" dirty="0">
                <a:solidFill>
                  <a:schemeClr val="accent2"/>
                </a:solidFill>
              </a:rPr>
              <a:t>Why Roy? </a:t>
            </a:r>
            <a:pPr indent="0" marL="0">
              <a:buNone/>
            </a:pPr>
            <a:r>
              <a:rPr lang="en-US" sz="1020" dirty="0">
                <a:solidFill>
                  <a:schemeClr val="bg2"/>
                </a:solidFill>
              </a:rPr>
              <a:t>He is the Atlas account owner in the CRM</a:t>
            </a:r>
            <a:endParaRPr lang="en-US" sz="1020" dirty="0"/>
          </a:p>
        </p:txBody>
      </p:sp>
      <p:sp>
        <p:nvSpPr>
          <p:cNvPr id="20" name="Transcript label"/>
          <p:cNvSpPr txBox="1"/>
          <p:nvPr/>
        </p:nvSpPr>
        <p:spPr>
          <a:xfrm>
            <a:off x="5791200" y="1295400"/>
            <a:ext cx="3048000" cy="182880"/>
          </a:xfrm>
          <a:prstGeom prst="rect">
            <a:avLst/>
          </a:prstGeom>
          <a:noFill/>
          <a:ln/>
        </p:spPr>
        <p:txBody>
          <a:bodyPr wrap="square" lIns="0" tIns="0" rIns="0" bIns="0" rtlCol="0" anchor="t"/>
          <a:lstStyle/>
          <a:p>
            <a:pPr indent="0" marL="0">
              <a:buNone/>
            </a:pPr>
            <a:r>
              <a:rPr lang="en-US" sz="960" b="1" spc="150" kern="0" dirty="0">
                <a:solidFill>
                  <a:srgbClr val="8FA0B5"/>
                </a:solidFill>
              </a:rPr>
              <a:t>LIVE TRANSCRIPT</a:t>
            </a:r>
            <a:endParaRPr lang="en-US" sz="960" dirty="0"/>
          </a:p>
        </p:txBody>
      </p:sp>
      <p:sp>
        <p:nvSpPr>
          <p:cNvPr id="21" name="Bubble Finn 1"/>
          <p:cNvSpPr/>
          <p:nvPr/>
        </p:nvSpPr>
        <p:spPr>
          <a:xfrm>
            <a:off x="5791200" y="1600200"/>
            <a:ext cx="5334000" cy="1143000"/>
          </a:xfrm>
          <a:prstGeom prst="roundRect">
            <a:avLst>
              <a:gd name="adj" fmla="val 12000"/>
            </a:avLst>
          </a:prstGeom>
          <a:solidFill>
            <a:schemeClr val="tx1"/>
          </a:solidFill>
          <a:ln/>
        </p:spPr>
        <p:txBody>
          <a:bodyPr wrap="square" lIns="127000" tIns="127000" rIns="127000" bIns="127000" rtlCol="0" anchor="ctr"/>
          <a:lstStyle/>
          <a:p>
            <a:pPr indent="0" marL="0">
              <a:spcAft>
                <a:spcPts val="200"/>
              </a:spcAft>
              <a:buNone/>
            </a:pPr>
            <a:r>
              <a:rPr lang="en-US" sz="900" b="1" dirty="0">
                <a:solidFill>
                  <a:schemeClr val="accent2"/>
                </a:solidFill>
              </a:rPr>
              <a:t>Finn</a:t>
            </a:r>
            <a:endParaRPr lang="en-US" sz="900" dirty="0"/>
          </a:p>
          <a:p>
            <a:pPr indent="0" marL="0">
              <a:spcAft>
                <a:spcPts val="200"/>
              </a:spcAft>
              <a:buNone/>
            </a:pPr>
            <a:r>
              <a:rPr lang="en-US" sz="1260" dirty="0">
                <a:solidFill>
                  <a:schemeClr val="bg1"/>
                </a:solidFill>
              </a:rPr>
              <a:t>Hi Roy, it's Finn. You own the Atlas account, so you're the one who knows. Until when can Atlas submit payroll changes this October? I can't find anything approved.</a:t>
            </a:r>
            <a:endParaRPr lang="en-US" sz="900" dirty="0"/>
          </a:p>
        </p:txBody>
      </p:sp>
      <p:sp>
        <p:nvSpPr>
          <p:cNvPr id="22" name="Bubble Roy"/>
          <p:cNvSpPr/>
          <p:nvPr/>
        </p:nvSpPr>
        <p:spPr>
          <a:xfrm>
            <a:off x="6309360" y="2895600"/>
            <a:ext cx="5334000" cy="838200"/>
          </a:xfrm>
          <a:prstGeom prst="roundRect">
            <a:avLst>
              <a:gd name="adj" fmla="val 16364"/>
            </a:avLst>
          </a:prstGeom>
          <a:solidFill>
            <a:schemeClr val="accent1"/>
          </a:solidFill>
          <a:ln/>
        </p:spPr>
        <p:txBody>
          <a:bodyPr wrap="square" lIns="127000" tIns="127000" rIns="127000" bIns="127000" rtlCol="0" anchor="ctr"/>
          <a:lstStyle/>
          <a:p>
            <a:pPr indent="0" marL="0">
              <a:spcAft>
                <a:spcPts val="200"/>
              </a:spcAft>
              <a:buNone/>
            </a:pPr>
            <a:r>
              <a:rPr lang="en-US" sz="900" b="1" dirty="0">
                <a:solidFill>
                  <a:schemeClr val="bg1"/>
                </a:solidFill>
              </a:rPr>
              <a:t>Roy</a:t>
            </a:r>
            <a:endParaRPr lang="en-US" sz="900" dirty="0"/>
          </a:p>
          <a:p>
            <a:pPr indent="0" marL="0">
              <a:spcAft>
                <a:spcPts val="200"/>
              </a:spcAft>
              <a:buNone/>
            </a:pPr>
            <a:r>
              <a:rPr lang="en-US" sz="1260" dirty="0">
                <a:solidFill>
                  <a:schemeClr val="bg1"/>
                </a:solidFill>
              </a:rPr>
              <a:t>Hi Finn! Until the 22nd. I agreed it with Atlas, but I never put it in the CRM.</a:t>
            </a:r>
            <a:endParaRPr lang="en-US" sz="900" dirty="0"/>
          </a:p>
        </p:txBody>
      </p:sp>
      <p:sp>
        <p:nvSpPr>
          <p:cNvPr id="23" name="Bubble Finn 2"/>
          <p:cNvSpPr/>
          <p:nvPr/>
        </p:nvSpPr>
        <p:spPr>
          <a:xfrm>
            <a:off x="5791200" y="3886200"/>
            <a:ext cx="5334000" cy="685800"/>
          </a:xfrm>
          <a:prstGeom prst="roundRect">
            <a:avLst>
              <a:gd name="adj" fmla="val 20000"/>
            </a:avLst>
          </a:prstGeom>
          <a:solidFill>
            <a:schemeClr val="tx1"/>
          </a:solidFill>
          <a:ln/>
        </p:spPr>
        <p:txBody>
          <a:bodyPr wrap="square" lIns="127000" tIns="127000" rIns="127000" bIns="127000" rtlCol="0" anchor="ctr"/>
          <a:lstStyle/>
          <a:p>
            <a:pPr indent="0" marL="0">
              <a:spcAft>
                <a:spcPts val="200"/>
              </a:spcAft>
              <a:buNone/>
            </a:pPr>
            <a:r>
              <a:rPr lang="en-US" sz="900" b="1" dirty="0">
                <a:solidFill>
                  <a:schemeClr val="accent2"/>
                </a:solidFill>
              </a:rPr>
              <a:t>Finn</a:t>
            </a:r>
            <a:endParaRPr lang="en-US" sz="900" dirty="0"/>
          </a:p>
          <a:p>
            <a:pPr indent="0" marL="0">
              <a:spcAft>
                <a:spcPts val="200"/>
              </a:spcAft>
              <a:buNone/>
            </a:pPr>
            <a:r>
              <a:rPr lang="en-US" sz="1260" dirty="0">
                <a:solidFill>
                  <a:schemeClr val="bg1"/>
                </a:solidFill>
              </a:rPr>
              <a:t>Got it. I'll update the CRM myself, and let Lotte know.</a:t>
            </a:r>
            <a:endParaRPr lang="en-US" sz="900" dirty="0"/>
          </a:p>
        </p:txBody>
      </p:sp>
      <p:sp>
        <p:nvSpPr>
          <p:cNvPr id="24" name="Bubble Roy 2"/>
          <p:cNvSpPr/>
          <p:nvPr/>
        </p:nvSpPr>
        <p:spPr>
          <a:xfrm>
            <a:off x="8595360" y="4724400"/>
            <a:ext cx="3048000" cy="533400"/>
          </a:xfrm>
          <a:prstGeom prst="roundRect">
            <a:avLst>
              <a:gd name="adj" fmla="val 25714"/>
            </a:avLst>
          </a:prstGeom>
          <a:solidFill>
            <a:schemeClr val="accent1"/>
          </a:solidFill>
          <a:ln/>
        </p:spPr>
        <p:txBody>
          <a:bodyPr wrap="square" lIns="127000" tIns="127000" rIns="127000" bIns="127000" rtlCol="0" anchor="ctr"/>
          <a:lstStyle/>
          <a:p>
            <a:pPr indent="0" marL="0">
              <a:spcAft>
                <a:spcPts val="200"/>
              </a:spcAft>
              <a:buNone/>
            </a:pPr>
            <a:r>
              <a:rPr lang="en-US" sz="900" b="1" dirty="0">
                <a:solidFill>
                  <a:schemeClr val="bg1"/>
                </a:solidFill>
              </a:rPr>
              <a:t>Roy</a:t>
            </a:r>
            <a:endParaRPr lang="en-US" sz="900" dirty="0"/>
          </a:p>
          <a:p>
            <a:pPr indent="0" marL="0">
              <a:spcAft>
                <a:spcPts val="200"/>
              </a:spcAft>
              <a:buNone/>
            </a:pPr>
            <a:r>
              <a:rPr lang="en-US" sz="1260" dirty="0">
                <a:solidFill>
                  <a:schemeClr val="bg1"/>
                </a:solidFill>
              </a:rPr>
              <a:t>Thanks, Finn!</a:t>
            </a:r>
            <a:endParaRPr lang="en-US" sz="900" dirty="0"/>
          </a:p>
        </p:txBody>
      </p:sp>
      <p:sp>
        <p:nvSpPr>
          <p:cNvPr id="25" name="Knowledge card"/>
          <p:cNvSpPr/>
          <p:nvPr/>
        </p:nvSpPr>
        <p:spPr>
          <a:xfrm>
            <a:off x="548640" y="4152900"/>
            <a:ext cx="4876800" cy="2209800"/>
          </a:xfrm>
          <a:prstGeom prst="roundRect">
            <a:avLst>
              <a:gd name="adj" fmla="val 8276"/>
            </a:avLst>
          </a:prstGeom>
          <a:solidFill>
            <a:schemeClr val="bg1"/>
          </a:solidFill>
          <a:ln w="38100">
            <a:solidFill>
              <a:srgbClr val="3CCF7A"/>
            </a:solidFill>
            <a:prstDash val="solid"/>
          </a:ln>
        </p:spPr>
      </p:sp>
      <p:pic>
        <p:nvPicPr>
          <p:cNvPr id="26" name="Knowledge icon" descr="preencoded.png">    </p:cNvPr>
          <p:cNvPicPr>
            <a:picLocks noChangeAspect="1"/>
          </p:cNvPicPr>
          <p:nvPr/>
        </p:nvPicPr>
        <p:blipFill>
          <a:blip r:embed="rId3"/>
          <a:stretch>
            <a:fillRect/>
          </a:stretch>
        </p:blipFill>
        <p:spPr>
          <a:xfrm>
            <a:off x="792480" y="4351020"/>
            <a:ext cx="228600" cy="228600"/>
          </a:xfrm>
          <a:prstGeom prst="rect">
            <a:avLst/>
          </a:prstGeom>
        </p:spPr>
      </p:pic>
      <p:sp>
        <p:nvSpPr>
          <p:cNvPr id="27" name="Knowledge head"/>
          <p:cNvSpPr txBox="1"/>
          <p:nvPr/>
        </p:nvSpPr>
        <p:spPr>
          <a:xfrm>
            <a:off x="1112520" y="4328160"/>
            <a:ext cx="4114800" cy="274320"/>
          </a:xfrm>
          <a:prstGeom prst="rect">
            <a:avLst/>
          </a:prstGeom>
          <a:noFill/>
          <a:ln/>
        </p:spPr>
        <p:txBody>
          <a:bodyPr wrap="square" lIns="0" tIns="0" rIns="0" bIns="0" rtlCol="0" anchor="ctr"/>
          <a:lstStyle/>
          <a:p>
            <a:pPr indent="0" marL="0">
              <a:buNone/>
            </a:pPr>
            <a:r>
              <a:rPr lang="en-US" sz="1260" b="1" dirty="0">
                <a:solidFill>
                  <a:schemeClr val="tx1"/>
                </a:solidFill>
              </a:rPr>
              <a:t>Saved to the CRM by Finn</a:t>
            </a:r>
            <a:endParaRPr lang="en-US" sz="1260" dirty="0"/>
          </a:p>
        </p:txBody>
      </p:sp>
      <p:sp>
        <p:nvSpPr>
          <p:cNvPr id="28" name="Knowledge source"/>
          <p:cNvSpPr txBox="1"/>
          <p:nvPr/>
        </p:nvSpPr>
        <p:spPr>
          <a:xfrm>
            <a:off x="792480" y="4648200"/>
            <a:ext cx="4419600" cy="182880"/>
          </a:xfrm>
          <a:prstGeom prst="rect">
            <a:avLst/>
          </a:prstGeom>
          <a:noFill/>
          <a:ln/>
        </p:spPr>
        <p:txBody>
          <a:bodyPr wrap="square" lIns="0" tIns="0" rIns="0" bIns="0" rtlCol="0" anchor="t"/>
          <a:lstStyle/>
          <a:p>
            <a:pPr indent="0" marL="0">
              <a:buNone/>
            </a:pPr>
            <a:r>
              <a:rPr lang="en-US" sz="900" dirty="0">
                <a:solidFill>
                  <a:schemeClr val="accent6"/>
                </a:solidFill>
              </a:rPr>
              <a:t>S35 · Teams call with Roy · 21 October 2026</a:t>
            </a:r>
            <a:endParaRPr lang="en-US" sz="900" dirty="0"/>
          </a:p>
        </p:txBody>
      </p:sp>
      <p:sp>
        <p:nvSpPr>
          <p:cNvPr id="29" name="Knowledge quote"/>
          <p:cNvSpPr txBox="1"/>
          <p:nvPr/>
        </p:nvSpPr>
        <p:spPr>
          <a:xfrm>
            <a:off x="792480" y="4861560"/>
            <a:ext cx="4419600" cy="487680"/>
          </a:xfrm>
          <a:prstGeom prst="rect">
            <a:avLst/>
          </a:prstGeom>
          <a:noFill/>
          <a:ln/>
        </p:spPr>
        <p:txBody>
          <a:bodyPr wrap="square" lIns="0" tIns="0" rIns="0" bIns="0" rtlCol="0" anchor="t"/>
          <a:lstStyle/>
          <a:p>
            <a:pPr indent="0" marL="0">
              <a:buNone/>
            </a:pPr>
            <a:r>
              <a:rPr lang="en-US" sz="1380" b="1" dirty="0">
                <a:solidFill>
                  <a:schemeClr val="tx1"/>
                </a:solidFill>
              </a:rPr>
              <a:t>“Atlas may submit payroll changes until 22 October 2026.”</a:t>
            </a:r>
            <a:endParaRPr lang="en-US" sz="1380" dirty="0"/>
          </a:p>
        </p:txBody>
      </p:sp>
      <p:sp>
        <p:nvSpPr>
          <p:cNvPr id="30" name="Chip owner"/>
          <p:cNvSpPr/>
          <p:nvPr/>
        </p:nvSpPr>
        <p:spPr>
          <a:xfrm>
            <a:off x="792480" y="5410200"/>
            <a:ext cx="1600200" cy="228600"/>
          </a:xfrm>
          <a:prstGeom prst="roundRect">
            <a:avLst>
              <a:gd name="adj" fmla="val 48000"/>
            </a:avLst>
          </a:prstGeom>
          <a:solidFill>
            <a:srgbClr val="E7F5EC"/>
          </a:solidFill>
          <a:ln/>
        </p:spPr>
        <p:txBody>
          <a:bodyPr wrap="square" lIns="0" tIns="0" rIns="0" bIns="0" rtlCol="0" anchor="ctr"/>
          <a:lstStyle/>
          <a:p>
            <a:pPr algn="ctr" indent="0" marL="0">
              <a:buNone/>
            </a:pPr>
            <a:r>
              <a:rPr lang="en-US" sz="900" b="1" dirty="0">
                <a:solidFill>
                  <a:schemeClr val="accent4"/>
                </a:solidFill>
              </a:rPr>
              <a:t>Confirmed by the owner</a:t>
            </a:r>
            <a:endParaRPr lang="en-US" sz="900" dirty="0"/>
          </a:p>
        </p:txBody>
      </p:sp>
      <p:sp>
        <p:nvSpPr>
          <p:cNvPr id="31" name="Chip scope"/>
          <p:cNvSpPr/>
          <p:nvPr/>
        </p:nvSpPr>
        <p:spPr>
          <a:xfrm>
            <a:off x="2468880" y="5410200"/>
            <a:ext cx="1905000" cy="228600"/>
          </a:xfrm>
          <a:prstGeom prst="roundRect">
            <a:avLst>
              <a:gd name="adj" fmla="val 48000"/>
            </a:avLst>
          </a:prstGeom>
          <a:solidFill>
            <a:srgbClr val="E9EEF3"/>
          </a:solidFill>
          <a:ln/>
        </p:spPr>
        <p:txBody>
          <a:bodyPr wrap="square" lIns="0" tIns="0" rIns="0" bIns="0" rtlCol="0" anchor="ctr"/>
          <a:lstStyle/>
          <a:p>
            <a:pPr algn="ctr" indent="0" marL="0">
              <a:buNone/>
            </a:pPr>
            <a:r>
              <a:rPr lang="en-US" sz="900" b="1" dirty="0">
                <a:solidFill>
                  <a:schemeClr val="tx1"/>
                </a:solidFill>
              </a:rPr>
              <a:t>Belgium · Atlas · October 2026</a:t>
            </a:r>
            <a:endParaRPr lang="en-US" sz="900" dirty="0"/>
          </a:p>
        </p:txBody>
      </p:sp>
      <p:sp>
        <p:nvSpPr>
          <p:cNvPr id="32" name="Trust label"/>
          <p:cNvSpPr txBox="1"/>
          <p:nvPr/>
        </p:nvSpPr>
        <p:spPr>
          <a:xfrm>
            <a:off x="792480" y="5791200"/>
            <a:ext cx="838200" cy="381000"/>
          </a:xfrm>
          <a:prstGeom prst="rect">
            <a:avLst/>
          </a:prstGeom>
          <a:noFill/>
          <a:ln/>
        </p:spPr>
        <p:txBody>
          <a:bodyPr wrap="square" lIns="0" tIns="0" rIns="0" bIns="0" rtlCol="0" anchor="ctr"/>
          <a:lstStyle/>
          <a:p>
            <a:pPr indent="0" marL="0">
              <a:buNone/>
            </a:pPr>
            <a:r>
              <a:rPr lang="en-US" sz="1000" dirty="0">
                <a:solidFill>
                  <a:schemeClr val="accent6"/>
                </a:solidFill>
              </a:rPr>
              <a:t>Trust  </a:t>
            </a:r>
            <a:pPr indent="0" marL="0">
              <a:buNone/>
            </a:pPr>
            <a:r>
              <a:rPr lang="en-US" sz="1300" strike="sngStrike" dirty="0">
                <a:solidFill>
                  <a:schemeClr val="accent6"/>
                </a:solidFill>
              </a:rPr>
              <a:t>15%</a:t>
            </a:r>
            <a:endParaRPr lang="en-US" sz="1000" dirty="0"/>
          </a:p>
        </p:txBody>
      </p:sp>
      <p:sp>
        <p:nvSpPr>
          <p:cNvPr id="33" name="Trust value"/>
          <p:cNvSpPr txBox="1"/>
          <p:nvPr/>
        </p:nvSpPr>
        <p:spPr>
          <a:xfrm>
            <a:off x="1630680" y="5745480"/>
            <a:ext cx="914400" cy="457200"/>
          </a:xfrm>
          <a:prstGeom prst="rect">
            <a:avLst/>
          </a:prstGeom>
          <a:noFill/>
          <a:ln/>
        </p:spPr>
        <p:txBody>
          <a:bodyPr wrap="square" lIns="0" tIns="0" rIns="0" bIns="0" rtlCol="0" anchor="ctr"/>
          <a:lstStyle/>
          <a:p>
            <a:pPr indent="0" marL="0">
              <a:buNone/>
            </a:pPr>
            <a:r>
              <a:rPr lang="en-US" sz="2400" b="1" dirty="0">
                <a:solidFill>
                  <a:schemeClr val="accent4"/>
                </a:solidFill>
              </a:rPr>
              <a:t>94%</a:t>
            </a:r>
            <a:endParaRPr lang="en-US" sz="2400" dirty="0"/>
          </a:p>
        </p:txBody>
      </p:sp>
      <p:sp>
        <p:nvSpPr>
          <p:cNvPr id="34" name="Meter bg"/>
          <p:cNvSpPr/>
          <p:nvPr/>
        </p:nvSpPr>
        <p:spPr>
          <a:xfrm>
            <a:off x="2621280" y="5928360"/>
            <a:ext cx="2560320" cy="91440"/>
          </a:xfrm>
          <a:prstGeom prst="roundRect">
            <a:avLst>
              <a:gd name="adj" fmla="val 50000"/>
            </a:avLst>
          </a:prstGeom>
          <a:solidFill>
            <a:srgbClr val="EEF0F3"/>
          </a:solidFill>
          <a:ln/>
        </p:spPr>
      </p:sp>
      <p:sp>
        <p:nvSpPr>
          <p:cNvPr id="35" name="Meter fill"/>
          <p:cNvSpPr/>
          <p:nvPr/>
        </p:nvSpPr>
        <p:spPr>
          <a:xfrm>
            <a:off x="2621280" y="5928360"/>
            <a:ext cx="2407920" cy="91440"/>
          </a:xfrm>
          <a:prstGeom prst="roundRect">
            <a:avLst>
              <a:gd name="adj" fmla="val 50000"/>
            </a:avLst>
          </a:prstGeom>
          <a:solidFill>
            <a:schemeClr val="accent4"/>
          </a:solidFill>
          <a:ln/>
        </p:spPr>
      </p:sp>
      <p:pic>
        <p:nvPicPr>
          <p:cNvPr id="39" name="Finn audio 1"/>
          <p:cNvPicPr>
            <a:picLocks noChangeAspect="1"/>
          </p:cNvPicPr>
          <p:nvPr>
            <a:audioFile r:link="rId4"/>
            <p:extLst>
              <p:ext uri="{DAA4B4D4-6D71-4841-9C94-3DE7FCFB9230}">
                <p14:media xmlns:p14="http://schemas.microsoft.com/office/powerpoint/2010/main" r:embed="rId5"/>
              </p:ext>
            </p:extLst>
          </p:nvPr>
        </p:nvPicPr>
        <p:blipFill>
          <a:blip r:embed="rId6"/>
          <a:stretch>
            <a:fillRect/>
          </a:stretch>
        </p:blipFill>
        <p:spPr>
          <a:xfrm>
            <a:off x="12298680" y="274320"/>
            <a:ext cx="457200" cy="457200"/>
          </a:xfrm>
          <a:prstGeom prst="rect">
            <a:avLst/>
          </a:prstGeom>
        </p:spPr>
      </p:pic>
      <p:pic>
        <p:nvPicPr>
          <p:cNvPr id="40" name="Finn audio 2"/>
          <p:cNvPicPr>
            <a:picLocks noChangeAspect="1"/>
          </p:cNvPicPr>
          <p:nvPr>
            <a:audioFile r:link="rId7"/>
            <p:extLst>
              <p:ext uri="{DAA4B4D4-6D71-4841-9C94-3DE7FCFB9230}">
                <p14:media xmlns:p14="http://schemas.microsoft.com/office/powerpoint/2010/main" r:embed="rId8"/>
              </p:ext>
            </p:extLst>
          </p:nvPr>
        </p:nvPicPr>
        <p:blipFill>
          <a:blip r:embed="rId9"/>
          <a:stretch>
            <a:fillRect/>
          </a:stretch>
        </p:blipFill>
        <p:spPr>
          <a:xfrm>
            <a:off x="12298680" y="914400"/>
            <a:ext cx="457200" cy="457200"/>
          </a:xfrm>
          <a:prstGeom prst="rect">
            <a:avLst/>
          </a:prstGeom>
        </p:spPr>
      </p:pic>
      <p:sp>
        <p:nvSpPr>
          <p:cNvPr id="38" name="Slide Number Placeholder 0"/>
          <p:cNvSpPr>
            <a:spLocks noGrp="1"/>
          </p:cNvSpPr>
          <p:nvPr>
            <p:ph type="sldNum" sz="quarter" idx="4294967295"/>
          </p:nvPr>
        </p:nvSpPr>
        <p:spPr>
          <a:xfrm>
            <a:off x="11338560" y="63550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8</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xit" presetSubtype="0" fill="hold" grpId="0" nodeType="afterEffect">
                                  <p:stCondLst>
                                    <p:cond delay="900"/>
                                  </p:stCondLst>
                                  <p:childTnLst>
                                    <p:animEffect transition="out" filter="fade">
                                      <p:cBhvr>
                                        <p:cTn id="6" dur="300"/>
                                        <p:tgtEl>
                                          <p:spTgt spid="4"/>
                                        </p:tgtEl>
                                      </p:cBhvr>
                                    </p:animEffect>
                                    <p:set>
                                      <p:cBhvr>
                                        <p:cTn id="7" dur="1" fill="hold">
                                          <p:stCondLst>
                                            <p:cond delay="299"/>
                                          </p:stCondLst>
                                        </p:cTn>
                                        <p:tgtEl>
                                          <p:spTgt spid="4"/>
                                        </p:tgtEl>
                                        <p:attrNameLst>
                                          <p:attrName>style.visibility</p:attrName>
                                        </p:attrNameLst>
                                      </p:cBhvr>
                                      <p:to>
                                        <p:strVal val="hidden"/>
                                      </p:to>
                                    </p:set>
                                  </p:childTnLst>
                                </p:cTn>
                              </p:par>
                              <p:par>
                                <p:cTn id="8" presetID="10" presetClass="exit" presetSubtype="0" fill="hold" grpId="0" nodeType="withEffect">
                                  <p:stCondLst>
                                    <p:cond delay="900"/>
                                  </p:stCondLst>
                                  <p:childTnLst>
                                    <p:animEffect transition="out" filter="fade">
                                      <p:cBhvr>
                                        <p:cTn id="9" dur="300"/>
                                        <p:tgtEl>
                                          <p:spTgt spid="7"/>
                                        </p:tgtEl>
                                      </p:cBhvr>
                                    </p:animEffect>
                                    <p:set>
                                      <p:cBhvr>
                                        <p:cTn id="10" dur="1" fill="hold">
                                          <p:stCondLst>
                                            <p:cond delay="299"/>
                                          </p:stCondLst>
                                        </p:cTn>
                                        <p:tgtEl>
                                          <p:spTgt spid="7"/>
                                        </p:tgtEl>
                                        <p:attrNameLst>
                                          <p:attrName>style.visibility</p:attrName>
                                        </p:attrNameLst>
                                      </p:cBhvr>
                                      <p:to>
                                        <p:strVal val="hidden"/>
                                      </p:to>
                                    </p:set>
                                  </p:childTnLst>
                                </p:cTn>
                              </p:par>
                              <p:par>
                                <p:cTn id="11" presetID="10" presetClass="exit" presetSubtype="0" fill="hold" grpId="0" nodeType="withEffect">
                                  <p:stCondLst>
                                    <p:cond delay="900"/>
                                  </p:stCondLst>
                                  <p:childTnLst>
                                    <p:animEffect transition="out" filter="fade">
                                      <p:cBhvr>
                                        <p:cTn id="12" dur="300"/>
                                        <p:tgtEl>
                                          <p:spTgt spid="13"/>
                                        </p:tgtEl>
                                      </p:cBhvr>
                                    </p:animEffect>
                                    <p:set>
                                      <p:cBhvr>
                                        <p:cTn id="13" dur="1" fill="hold">
                                          <p:stCondLst>
                                            <p:cond delay="299"/>
                                          </p:stCondLst>
                                        </p:cTn>
                                        <p:tgtEl>
                                          <p:spTgt spid="13"/>
                                        </p:tgtEl>
                                        <p:attrNameLst>
                                          <p:attrName>style.visibility</p:attrName>
                                        </p:attrNameLst>
                                      </p:cBhvr>
                                      <p:to>
                                        <p:strVal val="hidden"/>
                                      </p:to>
                                    </p:set>
                                  </p:childTnLst>
                                </p:cTn>
                              </p:par>
                              <p:par>
                                <p:cTn id="14" presetID="10" presetClass="entr" presetSubtype="0" fill="hold" grpId="0" nodeType="withEffect">
                                  <p:stCondLst>
                                    <p:cond delay="90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300"/>
                                        <p:tgtEl>
                                          <p:spTgt spid="5"/>
                                        </p:tgtEl>
                                      </p:cBhvr>
                                    </p:animEffect>
                                  </p:childTnLst>
                                </p:cTn>
                              </p:par>
                              <p:par>
                                <p:cTn id="17" presetID="10" presetClass="entr" presetSubtype="0" fill="hold" grpId="0" nodeType="withEffect">
                                  <p:stCondLst>
                                    <p:cond delay="90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300"/>
                                        <p:tgtEl>
                                          <p:spTgt spid="8"/>
                                        </p:tgtEl>
                                      </p:cBhvr>
                                    </p:animEffect>
                                  </p:childTnLst>
                                </p:cTn>
                              </p:par>
                              <p:par>
                                <p:cTn id="20" presetID="10" presetClass="entr" presetSubtype="0" fill="hold" grpId="0" nodeType="withEffect">
                                  <p:stCondLst>
                                    <p:cond delay="900"/>
                                  </p:stCondLst>
                                  <p:childTnLst>
                                    <p:set>
                                      <p:cBhvr>
                                        <p:cTn id="21" dur="1" fill="hold">
                                          <p:stCondLst>
                                            <p:cond delay="0"/>
                                          </p:stCondLst>
                                        </p:cTn>
                                        <p:tgtEl>
                                          <p:spTgt spid="14"/>
                                        </p:tgtEl>
                                        <p:attrNameLst>
                                          <p:attrName>style.visibility</p:attrName>
                                        </p:attrNameLst>
                                      </p:cBhvr>
                                      <p:to>
                                        <p:strVal val="visible"/>
                                      </p:to>
                                    </p:set>
                                    <p:animEffect transition="in" filter="fade">
                                      <p:cBhvr>
                                        <p:cTn id="22" dur="300"/>
                                        <p:tgtEl>
                                          <p:spTgt spid="14"/>
                                        </p:tgtEl>
                                      </p:cBhvr>
                                    </p:animEffect>
                                  </p:childTnLst>
                                </p:cTn>
                              </p:par>
                              <p:par>
                                <p:cTn id="23" presetID="10" presetClass="entr" presetSubtype="0" fill="hold" grpId="0" nodeType="withEffect">
                                  <p:stCondLst>
                                    <p:cond delay="1000"/>
                                  </p:stCondLst>
                                  <p:childTnLst>
                                    <p:set>
                                      <p:cBhvr>
                                        <p:cTn id="24" dur="1" fill="hold">
                                          <p:stCondLst>
                                            <p:cond delay="0"/>
                                          </p:stCondLst>
                                        </p:cTn>
                                        <p:tgtEl>
                                          <p:spTgt spid="21"/>
                                        </p:tgtEl>
                                        <p:attrNameLst>
                                          <p:attrName>style.visibility</p:attrName>
                                        </p:attrNameLst>
                                      </p:cBhvr>
                                      <p:to>
                                        <p:strVal val="visible"/>
                                      </p:to>
                                    </p:set>
                                    <p:animEffect transition="in" filter="fade">
                                      <p:cBhvr>
                                        <p:cTn id="25" dur="500"/>
                                        <p:tgtEl>
                                          <p:spTgt spid="21"/>
                                        </p:tgtEl>
                                      </p:cBhvr>
                                    </p:animEffect>
                                  </p:childTnLst>
                                </p:cTn>
                              </p:par>
                              <p:par>
                                <p:cTn id="26" presetID="1" presetClass="mediacall" presetSubtype="0" fill="hold" nodeType="withEffect">
                                  <p:stCondLst>
                                    <p:cond delay="1000"/>
                                  </p:stCondLst>
                                  <p:childTnLst>
                                    <p:cmd type="call" cmd="playFrom(0.0)">
                                      <p:cBhvr>
                                        <p:cTn id="27" dur="10176" fill="hold"/>
                                        <p:tgtEl>
                                          <p:spTgt spid="39"/>
                                        </p:tgtEl>
                                      </p:cBhvr>
                                    </p:cmd>
                                  </p:childTnLst>
                                </p:cTn>
                              </p:par>
                            </p:childTnLst>
                          </p:cTn>
                        </p:par>
                      </p:childTnLst>
                    </p:cTn>
                  </p:par>
                  <p:par>
                    <p:cTn id="28" fill="hold">
                      <p:stCondLst>
                        <p:cond delay="indefinite"/>
                      </p:stCondLst>
                      <p:childTnLst>
                        <p:par>
                          <p:cTn id="29" fill="hold">
                            <p:stCondLst>
                              <p:cond delay="0"/>
                            </p:stCondLst>
                            <p:childTnLst>
                              <p:par>
                                <p:cTn id="30" presetID="2" presetClass="entr" presetSubtype="4" fill="hold" grpId="0" nodeType="clickEffect">
                                  <p:stCondLst>
                                    <p:cond delay="0"/>
                                  </p:stCondLst>
                                  <p:childTnLst>
                                    <p:set>
                                      <p:cBhvr>
                                        <p:cTn id="31" dur="1" fill="hold">
                                          <p:stCondLst>
                                            <p:cond delay="0"/>
                                          </p:stCondLst>
                                        </p:cTn>
                                        <p:tgtEl>
                                          <p:spTgt spid="22"/>
                                        </p:tgtEl>
                                        <p:attrNameLst>
                                          <p:attrName>style.visibility</p:attrName>
                                        </p:attrNameLst>
                                      </p:cBhvr>
                                      <p:to>
                                        <p:strVal val="visible"/>
                                      </p:to>
                                    </p:set>
                                    <p:anim calcmode="lin" valueType="num">
                                      <p:cBhvr additive="base">
                                        <p:cTn id="32" dur="500" fill="hold"/>
                                        <p:tgtEl>
                                          <p:spTgt spid="22"/>
                                        </p:tgtEl>
                                        <p:attrNameLst>
                                          <p:attrName>ppt_x</p:attrName>
                                        </p:attrNameLst>
                                      </p:cBhvr>
                                      <p:tavLst>
                                        <p:tav tm="0">
                                          <p:val>
                                            <p:strVal val="#ppt_x"/>
                                          </p:val>
                                        </p:tav>
                                        <p:tav tm="100000">
                                          <p:val>
                                            <p:strVal val="#ppt_x"/>
                                          </p:val>
                                        </p:tav>
                                      </p:tavLst>
                                    </p:anim>
                                    <p:anim calcmode="lin" valueType="num">
                                      <p:cBhvr additive="base">
                                        <p:cTn id="33" dur="500" fill="hold"/>
                                        <p:tgtEl>
                                          <p:spTgt spid="22"/>
                                        </p:tgtEl>
                                        <p:attrNameLst>
                                          <p:attrName>ppt_y</p:attrName>
                                        </p:attrNameLst>
                                      </p:cBhvr>
                                      <p:tavLst>
                                        <p:tav tm="0">
                                          <p:val>
                                            <p:strVal val="1+#ppt_h/2"/>
                                          </p:val>
                                        </p:tav>
                                        <p:tav tm="100000">
                                          <p:val>
                                            <p:strVal val="#ppt_y"/>
                                          </p:val>
                                        </p:tav>
                                      </p:tavLst>
                                    </p:anim>
                                  </p:childTnLst>
                                </p:cTn>
                              </p:par>
                            </p:childTnLst>
                          </p:cTn>
                        </p:par>
                      </p:childTnLst>
                    </p:cTn>
                  </p:par>
                  <p:par>
                    <p:cTn id="34" fill="hold">
                      <p:stCondLst>
                        <p:cond delay="indefinite"/>
                      </p:stCondLst>
                      <p:childTnLst>
                        <p:par>
                          <p:cTn id="35" fill="hold">
                            <p:stCondLst>
                              <p:cond delay="0"/>
                            </p:stCondLst>
                            <p:childTnLst>
                              <p:par>
                                <p:cTn id="36" presetID="2" presetClass="entr" presetSubtype="4" fill="hold" grpId="0" nodeType="clickEffect">
                                  <p:stCondLst>
                                    <p:cond delay="0"/>
                                  </p:stCondLst>
                                  <p:childTnLst>
                                    <p:set>
                                      <p:cBhvr>
                                        <p:cTn id="37" dur="1" fill="hold">
                                          <p:stCondLst>
                                            <p:cond delay="0"/>
                                          </p:stCondLst>
                                        </p:cTn>
                                        <p:tgtEl>
                                          <p:spTgt spid="23"/>
                                        </p:tgtEl>
                                        <p:attrNameLst>
                                          <p:attrName>style.visibility</p:attrName>
                                        </p:attrNameLst>
                                      </p:cBhvr>
                                      <p:to>
                                        <p:strVal val="visible"/>
                                      </p:to>
                                    </p:set>
                                    <p:anim calcmode="lin" valueType="num">
                                      <p:cBhvr additive="base">
                                        <p:cTn id="38" dur="500" fill="hold"/>
                                        <p:tgtEl>
                                          <p:spTgt spid="23"/>
                                        </p:tgtEl>
                                        <p:attrNameLst>
                                          <p:attrName>ppt_x</p:attrName>
                                        </p:attrNameLst>
                                      </p:cBhvr>
                                      <p:tavLst>
                                        <p:tav tm="0">
                                          <p:val>
                                            <p:strVal val="#ppt_x"/>
                                          </p:val>
                                        </p:tav>
                                        <p:tav tm="100000">
                                          <p:val>
                                            <p:strVal val="#ppt_x"/>
                                          </p:val>
                                        </p:tav>
                                      </p:tavLst>
                                    </p:anim>
                                    <p:anim calcmode="lin" valueType="num">
                                      <p:cBhvr additive="base">
                                        <p:cTn id="39" dur="500" fill="hold"/>
                                        <p:tgtEl>
                                          <p:spTgt spid="23"/>
                                        </p:tgtEl>
                                        <p:attrNameLst>
                                          <p:attrName>ppt_y</p:attrName>
                                        </p:attrNameLst>
                                      </p:cBhvr>
                                      <p:tavLst>
                                        <p:tav tm="0">
                                          <p:val>
                                            <p:strVal val="1+#ppt_h/2"/>
                                          </p:val>
                                        </p:tav>
                                        <p:tav tm="100000">
                                          <p:val>
                                            <p:strVal val="#ppt_y"/>
                                          </p:val>
                                        </p:tav>
                                      </p:tavLst>
                                    </p:anim>
                                  </p:childTnLst>
                                </p:cTn>
                              </p:par>
                              <p:par>
                                <p:cTn id="40" presetID="1" presetClass="mediacall" presetSubtype="0" fill="hold" nodeType="withEffect">
                                  <p:stCondLst>
                                    <p:cond delay="0"/>
                                  </p:stCondLst>
                                  <p:childTnLst>
                                    <p:cmd type="call" cmd="playFrom(0.0)">
                                      <p:cBhvr>
                                        <p:cTn id="41" dur="3888" fill="hold"/>
                                        <p:tgtEl>
                                          <p:spTgt spid="40"/>
                                        </p:tgtEl>
                                      </p:cBhvr>
                                    </p:cmd>
                                  </p:childTnLst>
                                </p:cTn>
                              </p:par>
                            </p:childTnLst>
                          </p:cTn>
                        </p:par>
                      </p:childTnLst>
                    </p:cTn>
                  </p:par>
                  <p:par>
                    <p:cTn id="42" fill="hold">
                      <p:stCondLst>
                        <p:cond delay="indefinite"/>
                      </p:stCondLst>
                      <p:childTnLst>
                        <p:par>
                          <p:cTn id="43" fill="hold">
                            <p:stCondLst>
                              <p:cond delay="0"/>
                            </p:stCondLst>
                            <p:childTnLst>
                              <p:par>
                                <p:cTn id="44" presetID="2" presetClass="entr" presetSubtype="4" fill="hold" grpId="0" nodeType="clickEffect">
                                  <p:stCondLst>
                                    <p:cond delay="0"/>
                                  </p:stCondLst>
                                  <p:childTnLst>
                                    <p:set>
                                      <p:cBhvr>
                                        <p:cTn id="45" dur="1" fill="hold">
                                          <p:stCondLst>
                                            <p:cond delay="0"/>
                                          </p:stCondLst>
                                        </p:cTn>
                                        <p:tgtEl>
                                          <p:spTgt spid="24"/>
                                        </p:tgtEl>
                                        <p:attrNameLst>
                                          <p:attrName>style.visibility</p:attrName>
                                        </p:attrNameLst>
                                      </p:cBhvr>
                                      <p:to>
                                        <p:strVal val="visible"/>
                                      </p:to>
                                    </p:set>
                                    <p:anim calcmode="lin" valueType="num">
                                      <p:cBhvr additive="base">
                                        <p:cTn id="46" dur="500" fill="hold"/>
                                        <p:tgtEl>
                                          <p:spTgt spid="24"/>
                                        </p:tgtEl>
                                        <p:attrNameLst>
                                          <p:attrName>ppt_x</p:attrName>
                                        </p:attrNameLst>
                                      </p:cBhvr>
                                      <p:tavLst>
                                        <p:tav tm="0">
                                          <p:val>
                                            <p:strVal val="#ppt_x"/>
                                          </p:val>
                                        </p:tav>
                                        <p:tav tm="100000">
                                          <p:val>
                                            <p:strVal val="#ppt_x"/>
                                          </p:val>
                                        </p:tav>
                                      </p:tavLst>
                                    </p:anim>
                                    <p:anim calcmode="lin" valueType="num">
                                      <p:cBhvr additive="base">
                                        <p:cTn id="47" dur="500" fill="hold"/>
                                        <p:tgtEl>
                                          <p:spTgt spid="24"/>
                                        </p:tgtEl>
                                        <p:attrNameLst>
                                          <p:attrName>ppt_y</p:attrName>
                                        </p:attrNameLst>
                                      </p:cBhvr>
                                      <p:tavLst>
                                        <p:tav tm="0">
                                          <p:val>
                                            <p:strVal val="1+#ppt_h/2"/>
                                          </p:val>
                                        </p:tav>
                                        <p:tav tm="100000">
                                          <p:val>
                                            <p:strVal val="#ppt_y"/>
                                          </p:val>
                                        </p:tav>
                                      </p:tavLst>
                                    </p:anim>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grpId="0" nodeType="clickEffect">
                                  <p:stCondLst>
                                    <p:cond delay="0"/>
                                  </p:stCondLst>
                                  <p:childTnLst>
                                    <p:set>
                                      <p:cBhvr>
                                        <p:cTn id="51" dur="1" fill="hold">
                                          <p:stCondLst>
                                            <p:cond delay="0"/>
                                          </p:stCondLst>
                                        </p:cTn>
                                        <p:tgtEl>
                                          <p:spTgt spid="25"/>
                                        </p:tgtEl>
                                        <p:attrNameLst>
                                          <p:attrName>style.visibility</p:attrName>
                                        </p:attrNameLst>
                                      </p:cBhvr>
                                      <p:to>
                                        <p:strVal val="visible"/>
                                      </p:to>
                                    </p:set>
                                    <p:animEffect transition="in" filter="fade">
                                      <p:cBhvr>
                                        <p:cTn id="52" dur="500"/>
                                        <p:tgtEl>
                                          <p:spTgt spid="25"/>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6"/>
                                        </p:tgtEl>
                                        <p:attrNameLst>
                                          <p:attrName>style.visibility</p:attrName>
                                        </p:attrNameLst>
                                      </p:cBhvr>
                                      <p:to>
                                        <p:strVal val="visible"/>
                                      </p:to>
                                    </p:set>
                                    <p:animEffect transition="in" filter="fade">
                                      <p:cBhvr>
                                        <p:cTn id="55" dur="500"/>
                                        <p:tgtEl>
                                          <p:spTgt spid="26"/>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7"/>
                                        </p:tgtEl>
                                        <p:attrNameLst>
                                          <p:attrName>style.visibility</p:attrName>
                                        </p:attrNameLst>
                                      </p:cBhvr>
                                      <p:to>
                                        <p:strVal val="visible"/>
                                      </p:to>
                                    </p:set>
                                    <p:animEffect transition="in" filter="fade">
                                      <p:cBhvr>
                                        <p:cTn id="58" dur="500"/>
                                        <p:tgtEl>
                                          <p:spTgt spid="27"/>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8"/>
                                        </p:tgtEl>
                                        <p:attrNameLst>
                                          <p:attrName>style.visibility</p:attrName>
                                        </p:attrNameLst>
                                      </p:cBhvr>
                                      <p:to>
                                        <p:strVal val="visible"/>
                                      </p:to>
                                    </p:set>
                                    <p:animEffect transition="in" filter="fade">
                                      <p:cBhvr>
                                        <p:cTn id="61" dur="500"/>
                                        <p:tgtEl>
                                          <p:spTgt spid="28"/>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9"/>
                                        </p:tgtEl>
                                        <p:attrNameLst>
                                          <p:attrName>style.visibility</p:attrName>
                                        </p:attrNameLst>
                                      </p:cBhvr>
                                      <p:to>
                                        <p:strVal val="visible"/>
                                      </p:to>
                                    </p:set>
                                    <p:animEffect transition="in" filter="fade">
                                      <p:cBhvr>
                                        <p:cTn id="64" dur="500"/>
                                        <p:tgtEl>
                                          <p:spTgt spid="29"/>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30"/>
                                        </p:tgtEl>
                                        <p:attrNameLst>
                                          <p:attrName>style.visibility</p:attrName>
                                        </p:attrNameLst>
                                      </p:cBhvr>
                                      <p:to>
                                        <p:strVal val="visible"/>
                                      </p:to>
                                    </p:set>
                                    <p:animEffect transition="in" filter="fade">
                                      <p:cBhvr>
                                        <p:cTn id="67" dur="500"/>
                                        <p:tgtEl>
                                          <p:spTgt spid="30"/>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31"/>
                                        </p:tgtEl>
                                        <p:attrNameLst>
                                          <p:attrName>style.visibility</p:attrName>
                                        </p:attrNameLst>
                                      </p:cBhvr>
                                      <p:to>
                                        <p:strVal val="visible"/>
                                      </p:to>
                                    </p:set>
                                    <p:animEffect transition="in" filter="fade">
                                      <p:cBhvr>
                                        <p:cTn id="70" dur="500"/>
                                        <p:tgtEl>
                                          <p:spTgt spid="31"/>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32"/>
                                        </p:tgtEl>
                                        <p:attrNameLst>
                                          <p:attrName>style.visibility</p:attrName>
                                        </p:attrNameLst>
                                      </p:cBhvr>
                                      <p:to>
                                        <p:strVal val="visible"/>
                                      </p:to>
                                    </p:set>
                                    <p:animEffect transition="in" filter="fade">
                                      <p:cBhvr>
                                        <p:cTn id="73" dur="500"/>
                                        <p:tgtEl>
                                          <p:spTgt spid="32"/>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33"/>
                                        </p:tgtEl>
                                        <p:attrNameLst>
                                          <p:attrName>style.visibility</p:attrName>
                                        </p:attrNameLst>
                                      </p:cBhvr>
                                      <p:to>
                                        <p:strVal val="visible"/>
                                      </p:to>
                                    </p:set>
                                    <p:animEffect transition="in" filter="fade">
                                      <p:cBhvr>
                                        <p:cTn id="76" dur="500"/>
                                        <p:tgtEl>
                                          <p:spTgt spid="33"/>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34"/>
                                        </p:tgtEl>
                                        <p:attrNameLst>
                                          <p:attrName>style.visibility</p:attrName>
                                        </p:attrNameLst>
                                      </p:cBhvr>
                                      <p:to>
                                        <p:strVal val="visible"/>
                                      </p:to>
                                    </p:set>
                                    <p:animEffect transition="in" filter="fade">
                                      <p:cBhvr>
                                        <p:cTn id="79" dur="500"/>
                                        <p:tgtEl>
                                          <p:spTgt spid="34"/>
                                        </p:tgtEl>
                                      </p:cBhvr>
                                    </p:animEffect>
                                  </p:childTnLst>
                                </p:cTn>
                              </p:par>
                              <p:par>
                                <p:cTn id="80" presetID="22" presetClass="entr" presetSubtype="8" fill="hold" grpId="0" nodeType="withEffect">
                                  <p:stCondLst>
                                    <p:cond delay="500"/>
                                  </p:stCondLst>
                                  <p:childTnLst>
                                    <p:set>
                                      <p:cBhvr>
                                        <p:cTn id="81" dur="1" fill="hold">
                                          <p:stCondLst>
                                            <p:cond delay="0"/>
                                          </p:stCondLst>
                                        </p:cTn>
                                        <p:tgtEl>
                                          <p:spTgt spid="35"/>
                                        </p:tgtEl>
                                        <p:attrNameLst>
                                          <p:attrName>style.visibility</p:attrName>
                                        </p:attrNameLst>
                                      </p:cBhvr>
                                      <p:to>
                                        <p:strVal val="visible"/>
                                      </p:to>
                                    </p:set>
                                    <p:animEffect transition="in" filter="wipe(left)">
                                      <p:cBhvr>
                                        <p:cTn id="82" dur="1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audio>
              <p:cMediaNode vol="80000">
                <p:cTn id="83" display="0" fill="hold">
                  <p:stCondLst>
                    <p:cond delay="indefinite"/>
                  </p:stCondLst>
                  <p:endCondLst>
                    <p:cond evt="onStopAudio" delay="0">
                      <p:tgtEl>
                        <p:sldTgt/>
                      </p:tgtEl>
                    </p:cond>
                  </p:endCondLst>
                </p:cTn>
                <p:tgtEl>
                  <p:spTgt spid="39"/>
                </p:tgtEl>
              </p:cMediaNode>
            </p:audio>
            <p:audio>
              <p:cMediaNode vol="80000">
                <p:cTn id="84" display="0" fill="hold">
                  <p:stCondLst>
                    <p:cond delay="indefinite"/>
                  </p:stCondLst>
                  <p:endCondLst>
                    <p:cond evt="onStopAudio" delay="0">
                      <p:tgtEl>
                        <p:sldTgt/>
                      </p:tgtEl>
                    </p:cond>
                  </p:endCondLst>
                </p:cTn>
                <p:tgtEl>
                  <p:spTgt spid="40"/>
                </p:tgtEl>
              </p:cMediaNode>
            </p:audio>
          </p:childTnLst>
        </p:cTn>
      </p:par>
    </p:tnLst>
    <p:bldLst>
      <p:bldP spid="4" grpId="0" animBg="1"/>
      <p:bldP spid="7" grpId="0" animBg="1"/>
      <p:bldP spid="13" grpId="0" animBg="1"/>
      <p:bldP spid="5" grpId="0" animBg="1"/>
      <p:bldP spid="8" grpId="0" animBg="1"/>
      <p:bldP spid="14" grpId="0" animBg="1"/>
      <p:bldP spid="21" grpId="0" animBg="1"/>
      <p:bldP spid="22" grpId="0" animBg="1"/>
      <p:bldP spid="23" grpId="0" animBg="1"/>
      <p:bldP spid="24" grpId="0" animBg="1"/>
      <p:bldP spid="25" grpId="0" animBg="1"/>
      <p:bldP spid="27" grpId="0" animBg="1"/>
      <p:bldP spid="28" grpId="0" animBg="1"/>
      <p:bldP spid="29" grpId="0" animBg="1"/>
      <p:bldP spid="30" grpId="0" animBg="1"/>
      <p:bldP spid="31" grpId="0" animBg="1"/>
      <p:bldP spid="32" grpId="0" animBg="1"/>
      <p:bldP spid="33" grpId="0" animBg="1"/>
      <p:bldP spid="34" grpId="0" animBg="1"/>
      <p:bldP spid="35"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Lotte relieved" descr="/tmp/sdtrust-deck/gifs/lotte-relieved.gif">    </p:cNvPr>
          <p:cNvPicPr>
            <a:picLocks noChangeAspect="1"/>
          </p:cNvPicPr>
          <p:nvPr/>
        </p:nvPicPr>
        <p:blipFill>
          <a:blip r:embed="rId1"/>
          <a:stretch>
            <a:fillRect/>
          </a:stretch>
        </p:blipFill>
        <p:spPr>
          <a:xfrm>
            <a:off x="731520" y="1188720"/>
            <a:ext cx="2034540" cy="4389120"/>
          </a:xfrm>
          <a:prstGeom prst="rect">
            <a:avLst/>
          </a:prstGeom>
        </p:spPr>
      </p:pic>
      <p:pic>
        <p:nvPicPr>
          <p:cNvPr id="3" name="Finn waving" descr="/tmp/sdtrust-deck/gifs/finn-waving.gif">    </p:cNvPr>
          <p:cNvPicPr>
            <a:picLocks noChangeAspect="1"/>
          </p:cNvPicPr>
          <p:nvPr/>
        </p:nvPicPr>
        <p:blipFill>
          <a:blip r:embed="rId2"/>
          <a:stretch>
            <a:fillRect/>
          </a:stretch>
        </p:blipFill>
        <p:spPr>
          <a:xfrm>
            <a:off x="2895600" y="2971800"/>
            <a:ext cx="1645920" cy="2590800"/>
          </a:xfrm>
          <a:prstGeom prst="rect">
            <a:avLst/>
          </a:prstGeom>
        </p:spPr>
      </p:pic>
      <p:sp>
        <p:nvSpPr>
          <p:cNvPr id="4" name="Close 1"/>
          <p:cNvSpPr txBox="1"/>
          <p:nvPr/>
        </p:nvSpPr>
        <p:spPr>
          <a:xfrm>
            <a:off x="5212080" y="1371600"/>
            <a:ext cx="6705600" cy="609600"/>
          </a:xfrm>
          <a:prstGeom prst="rect">
            <a:avLst/>
          </a:prstGeom>
          <a:noFill/>
          <a:ln/>
        </p:spPr>
        <p:txBody>
          <a:bodyPr wrap="square" lIns="0" tIns="0" rIns="0" bIns="0" rtlCol="0" anchor="t"/>
          <a:lstStyle/>
          <a:p>
            <a:pPr indent="0" marL="0">
              <a:buNone/>
            </a:pPr>
            <a:r>
              <a:rPr lang="en-US" sz="3240" b="1" dirty="0">
                <a:solidFill>
                  <a:schemeClr val="bg1"/>
                </a:solidFill>
              </a:rPr>
              <a:t>An answer you can trust.</a:t>
            </a:r>
            <a:endParaRPr lang="en-US" sz="3240" dirty="0"/>
          </a:p>
        </p:txBody>
      </p:sp>
      <p:sp>
        <p:nvSpPr>
          <p:cNvPr id="5" name="Close 2"/>
          <p:cNvSpPr txBox="1"/>
          <p:nvPr/>
        </p:nvSpPr>
        <p:spPr>
          <a:xfrm>
            <a:off x="5212080" y="2194560"/>
            <a:ext cx="6705600" cy="990600"/>
          </a:xfrm>
          <a:prstGeom prst="rect">
            <a:avLst/>
          </a:prstGeom>
          <a:noFill/>
          <a:ln/>
        </p:spPr>
        <p:txBody>
          <a:bodyPr wrap="square" lIns="0" tIns="0" rIns="0" bIns="0" rtlCol="0" anchor="t"/>
          <a:lstStyle/>
          <a:p>
            <a:pPr indent="0" marL="0">
              <a:buNone/>
            </a:pPr>
            <a:r>
              <a:rPr lang="en-US" sz="2520" dirty="0">
                <a:solidFill>
                  <a:schemeClr val="accent2"/>
                </a:solidFill>
              </a:rPr>
              <a:t>Or an honest “I don't know”,</a:t>
            </a:r>
            <a:endParaRPr lang="en-US" sz="2520" dirty="0"/>
          </a:p>
          <a:p>
            <a:pPr indent="0" marL="0">
              <a:buNone/>
            </a:pPr>
            <a:r>
              <a:rPr lang="en-US" sz="2520" dirty="0">
                <a:solidFill>
                  <a:schemeClr val="accent2"/>
                </a:solidFill>
              </a:rPr>
              <a:t>plus the right colleague.</a:t>
            </a:r>
            <a:endParaRPr lang="en-US" sz="2520" dirty="0"/>
          </a:p>
        </p:txBody>
      </p:sp>
      <p:sp>
        <p:nvSpPr>
          <p:cNvPr id="6" name="Close 3"/>
          <p:cNvSpPr txBox="1"/>
          <p:nvPr/>
        </p:nvSpPr>
        <p:spPr>
          <a:xfrm>
            <a:off x="5212080" y="3931920"/>
            <a:ext cx="6705600" cy="381000"/>
          </a:xfrm>
          <a:prstGeom prst="rect">
            <a:avLst/>
          </a:prstGeom>
          <a:noFill/>
          <a:ln/>
        </p:spPr>
        <p:txBody>
          <a:bodyPr wrap="square" lIns="0" tIns="0" rIns="0" bIns="0" rtlCol="0" anchor="t"/>
          <a:lstStyle/>
          <a:p>
            <a:pPr indent="0" marL="0">
              <a:buNone/>
            </a:pPr>
            <a:r>
              <a:rPr lang="en-US" sz="1680" i="1" dirty="0">
                <a:solidFill>
                  <a:schemeClr val="bg2"/>
                </a:solidFill>
              </a:rPr>
              <a:t>Zero unnecessary effort.</a:t>
            </a:r>
            <a:endParaRPr lang="en-US" sz="1680" dirty="0"/>
          </a:p>
        </p:txBody>
      </p:sp>
      <p:pic>
        <p:nvPicPr>
          <p:cNvPr id="7" name="Close logo" descr="preencoded.png">    </p:cNvPr>
          <p:cNvPicPr>
            <a:picLocks noChangeAspect="1"/>
          </p:cNvPicPr>
          <p:nvPr/>
        </p:nvPicPr>
        <p:blipFill>
          <a:blip r:embed="rId3"/>
          <a:stretch>
            <a:fillRect/>
          </a:stretch>
        </p:blipFill>
        <p:spPr>
          <a:xfrm>
            <a:off x="5212080" y="4983480"/>
            <a:ext cx="548640" cy="548640"/>
          </a:xfrm>
          <a:prstGeom prst="rect">
            <a:avLst/>
          </a:prstGeom>
        </p:spPr>
      </p:pic>
      <p:sp>
        <p:nvSpPr>
          <p:cNvPr id="8" name="Close brand"/>
          <p:cNvSpPr txBox="1"/>
          <p:nvPr/>
        </p:nvSpPr>
        <p:spPr>
          <a:xfrm>
            <a:off x="5867400" y="4983480"/>
            <a:ext cx="3048000" cy="548640"/>
          </a:xfrm>
          <a:prstGeom prst="rect">
            <a:avLst/>
          </a:prstGeom>
          <a:noFill/>
          <a:ln/>
        </p:spPr>
        <p:txBody>
          <a:bodyPr wrap="square" lIns="0" tIns="0" rIns="0" bIns="0" rtlCol="0" anchor="ctr"/>
          <a:lstStyle/>
          <a:p>
            <a:pPr indent="0" marL="0">
              <a:buNone/>
            </a:pPr>
            <a:r>
              <a:rPr lang="en-US" sz="2040" b="1" dirty="0">
                <a:solidFill>
                  <a:schemeClr val="bg1"/>
                </a:solidFill>
              </a:rPr>
              <a:t>SDtrust</a:t>
            </a:r>
            <a:endParaRPr lang="en-US" sz="2040" dirty="0"/>
          </a:p>
        </p:txBody>
      </p:sp>
      <p:sp>
        <p:nvSpPr>
          <p:cNvPr id="25" name="Slide Number Placeholder 0"/>
          <p:cNvSpPr>
            <a:spLocks noGrp="1"/>
          </p:cNvSpPr>
          <p:nvPr>
            <p:ph type="sldNum" sz="quarter" idx="4294967295"/>
          </p:nvPr>
        </p:nvSpPr>
        <p:spPr>
          <a:xfrm>
            <a:off x="11338560" y="63550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9</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30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grpId="0" nodeType="withEffect">
                                  <p:stCondLst>
                                    <p:cond delay="90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par>
                                <p:cTn id="11" presetID="10" presetClass="entr" presetSubtype="0" fill="hold" grpId="0" nodeType="withEffect">
                                  <p:stCondLst>
                                    <p:cond delay="150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hanks"/>
          <p:cNvSpPr txBox="1"/>
          <p:nvPr/>
        </p:nvSpPr>
        <p:spPr>
          <a:xfrm>
            <a:off x="731520" y="1447800"/>
            <a:ext cx="6858000" cy="1066800"/>
          </a:xfrm>
          <a:prstGeom prst="rect">
            <a:avLst/>
          </a:prstGeom>
          <a:noFill/>
          <a:ln/>
        </p:spPr>
        <p:txBody>
          <a:bodyPr wrap="square" lIns="0" tIns="0" rIns="0" bIns="0" rtlCol="0" anchor="t"/>
          <a:lstStyle/>
          <a:p>
            <a:pPr indent="0" marL="0">
              <a:buNone/>
            </a:pPr>
            <a:r>
              <a:rPr lang="en-US" sz="7200" b="1" dirty="0">
                <a:solidFill>
                  <a:schemeClr val="bg1"/>
                </a:solidFill>
              </a:rPr>
              <a:t>Thank you</a:t>
            </a:r>
            <a:endParaRPr lang="en-US" sz="7200" dirty="0"/>
          </a:p>
        </p:txBody>
      </p:sp>
      <p:sp>
        <p:nvSpPr>
          <p:cNvPr id="3" name="Questions"/>
          <p:cNvSpPr txBox="1"/>
          <p:nvPr/>
        </p:nvSpPr>
        <p:spPr>
          <a:xfrm>
            <a:off x="731520" y="2667000"/>
            <a:ext cx="6858000" cy="533400"/>
          </a:xfrm>
          <a:prstGeom prst="rect">
            <a:avLst/>
          </a:prstGeom>
          <a:noFill/>
          <a:ln/>
        </p:spPr>
        <p:txBody>
          <a:bodyPr wrap="square" lIns="0" tIns="0" rIns="0" bIns="0" rtlCol="0" anchor="t"/>
          <a:lstStyle/>
          <a:p>
            <a:pPr indent="0" marL="0">
              <a:buNone/>
            </a:pPr>
            <a:r>
              <a:rPr lang="en-US" sz="2520" dirty="0">
                <a:solidFill>
                  <a:schemeClr val="accent2"/>
                </a:solidFill>
              </a:rPr>
              <a:t>Questions? Finn is listening.</a:t>
            </a:r>
            <a:endParaRPr lang="en-US" sz="2520" dirty="0"/>
          </a:p>
        </p:txBody>
      </p:sp>
      <p:sp>
        <p:nvSpPr>
          <p:cNvPr id="4" name="Team"/>
          <p:cNvSpPr txBox="1"/>
          <p:nvPr/>
        </p:nvSpPr>
        <p:spPr>
          <a:xfrm>
            <a:off x="731520" y="4267200"/>
            <a:ext cx="6096000" cy="274320"/>
          </a:xfrm>
          <a:prstGeom prst="rect">
            <a:avLst/>
          </a:prstGeom>
          <a:noFill/>
          <a:ln/>
        </p:spPr>
        <p:txBody>
          <a:bodyPr wrap="square" lIns="0" tIns="0" rIns="0" bIns="0" rtlCol="0" anchor="t"/>
          <a:lstStyle/>
          <a:p>
            <a:pPr indent="0" marL="0">
              <a:buNone/>
            </a:pPr>
            <a:r>
              <a:rPr lang="en-US" sz="1200" b="1" dirty="0">
                <a:solidFill>
                  <a:schemeClr val="accent2"/>
                </a:solidFill>
              </a:rPr>
              <a:t>Sebastien · Roy · Wanne</a:t>
            </a:r>
            <a:endParaRPr lang="en-US" sz="1200" dirty="0"/>
          </a:p>
        </p:txBody>
      </p:sp>
      <p:sp>
        <p:nvSpPr>
          <p:cNvPr id="5" name="Meta"/>
          <p:cNvSpPr txBox="1"/>
          <p:nvPr/>
        </p:nvSpPr>
        <p:spPr>
          <a:xfrm>
            <a:off x="731520" y="4602480"/>
            <a:ext cx="6858000" cy="228600"/>
          </a:xfrm>
          <a:prstGeom prst="rect">
            <a:avLst/>
          </a:prstGeom>
          <a:noFill/>
          <a:ln/>
        </p:spPr>
        <p:txBody>
          <a:bodyPr wrap="square" lIns="0" tIns="0" rIns="0" bIns="0" rtlCol="0" anchor="t"/>
          <a:lstStyle/>
          <a:p>
            <a:pPr indent="0" marL="0">
              <a:buNone/>
            </a:pPr>
            <a:r>
              <a:rPr lang="en-US" sz="1020" dirty="0">
                <a:solidFill>
                  <a:schemeClr val="bg2"/>
                </a:solidFill>
              </a:rPr>
              <a:t>Tectonic hackathon finals · SD Worx challenge · 20 October 2026</a:t>
            </a:r>
            <a:endParaRPr lang="en-US" sz="1020" dirty="0"/>
          </a:p>
        </p:txBody>
      </p:sp>
      <p:pic>
        <p:nvPicPr>
          <p:cNvPr id="6" name="Thanks logo" descr="preencoded.png">    </p:cNvPr>
          <p:cNvPicPr>
            <a:picLocks noChangeAspect="1"/>
          </p:cNvPicPr>
          <p:nvPr/>
        </p:nvPicPr>
        <p:blipFill>
          <a:blip r:embed="rId1"/>
          <a:stretch>
            <a:fillRect/>
          </a:stretch>
        </p:blipFill>
        <p:spPr>
          <a:xfrm>
            <a:off x="731520" y="5181600"/>
            <a:ext cx="548640" cy="548640"/>
          </a:xfrm>
          <a:prstGeom prst="rect">
            <a:avLst/>
          </a:prstGeom>
        </p:spPr>
      </p:pic>
      <p:sp>
        <p:nvSpPr>
          <p:cNvPr id="7" name="Thanks brand"/>
          <p:cNvSpPr txBox="1"/>
          <p:nvPr/>
        </p:nvSpPr>
        <p:spPr>
          <a:xfrm>
            <a:off x="1386840" y="5181600"/>
            <a:ext cx="3048000" cy="548640"/>
          </a:xfrm>
          <a:prstGeom prst="rect">
            <a:avLst/>
          </a:prstGeom>
          <a:noFill/>
          <a:ln/>
        </p:spPr>
        <p:txBody>
          <a:bodyPr wrap="square" lIns="0" tIns="0" rIns="0" bIns="0" rtlCol="0" anchor="ctr"/>
          <a:lstStyle/>
          <a:p>
            <a:pPr indent="0" marL="0">
              <a:buNone/>
            </a:pPr>
            <a:r>
              <a:rPr lang="en-US" sz="2040" b="1" dirty="0">
                <a:solidFill>
                  <a:schemeClr val="bg1"/>
                </a:solidFill>
              </a:rPr>
              <a:t>SDtrust</a:t>
            </a:r>
            <a:endParaRPr lang="en-US" sz="2040" dirty="0"/>
          </a:p>
        </p:txBody>
      </p:sp>
      <p:pic>
        <p:nvPicPr>
          <p:cNvPr id="8" name="Finn proud" descr="/tmp/sdtrust-deck/gifs/finn-proud.gif">    </p:cNvPr>
          <p:cNvPicPr>
            <a:picLocks noChangeAspect="1"/>
          </p:cNvPicPr>
          <p:nvPr/>
        </p:nvPicPr>
        <p:blipFill>
          <a:blip r:embed="rId2"/>
          <a:stretch>
            <a:fillRect/>
          </a:stretch>
        </p:blipFill>
        <p:spPr>
          <a:xfrm>
            <a:off x="8229600" y="1066800"/>
            <a:ext cx="2560320" cy="4876800"/>
          </a:xfrm>
          <a:prstGeom prst="rect">
            <a:avLst/>
          </a:prstGeom>
        </p:spPr>
      </p:pic>
      <p:sp>
        <p:nvSpPr>
          <p:cNvPr id="25" name="Slide Number Placeholder 0"/>
          <p:cNvSpPr>
            <a:spLocks noGrp="1"/>
          </p:cNvSpPr>
          <p:nvPr>
            <p:ph type="sldNum" sz="quarter" idx="4294967295"/>
          </p:nvPr>
        </p:nvSpPr>
        <p:spPr>
          <a:xfrm>
            <a:off x="11338560" y="63550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10</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40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theme/theme1.xml><?xml version="1.0" encoding="utf-8"?>
<a:theme xmlns:a="http://schemas.openxmlformats.org/drawingml/2006/main" name="SDtrust">
  <a:themeElements>
    <a:clrScheme name="SDtrust">
      <a:dk1>
        <a:srgbClr val="192D46"/>
      </a:dk1>
      <a:lt1>
        <a:srgbClr val="FFFFFF"/>
      </a:lt1>
      <a:dk2>
        <a:srgbClr val="0F1D31"/>
      </a:dk2>
      <a:lt2>
        <a:srgbClr val="F8F6F1"/>
      </a:lt2>
      <a:accent1>
        <a:srgbClr val="EE6558"/>
      </a:accent1>
      <a:accent2>
        <a:srgbClr val="F3BA55"/>
      </a:accent2>
      <a:accent3>
        <a:srgbClr val="6F9BE0"/>
      </a:accent3>
      <a:accent4>
        <a:srgbClr val="0F7A3A"/>
      </a:accent4>
      <a:accent5>
        <a:srgbClr val="D84935"/>
      </a:accent5>
      <a:accent6>
        <a:srgbClr val="5F6F85"/>
      </a:accent6>
      <a:hlink>
        <a:srgbClr val="6F9BE0"/>
      </a:hlink>
      <a:folHlink>
        <a:srgbClr val="5F6F85"/>
      </a:folHlink>
    </a:clrScheme>
    <a:fontScheme name="SDtrust">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SDtrust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SDtrust pitch</dc:title>
  <dc:subject>PptxGenJS Presentation</dc:subject>
  <dc:creator>Sebastien, Roy, Wanne</dc:creator>
  <cp:lastModifiedBy>Sebastien, Roy, Wanne</cp:lastModifiedBy>
  <cp:revision>1</cp:revision>
  <dcterms:created xsi:type="dcterms:W3CDTF">2026-10-20T13:37:32Z</dcterms:created>
  <dcterms:modified xsi:type="dcterms:W3CDTF">2026-10-20T13:37:32Z</dcterms:modified>
</cp:coreProperties>
</file>