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c71b3a2-3fa0-008f-13d5-3081a7f99f13}">
          <p14:sldIdLst>
            <p14:sldId id="256"/>
            <p14:sldId id="257"/>
          </p14:sldIdLst>
        </p14:section>
        <p14:section name="Solution" id="{91c95768-7358-d783-db29-b985224a4a12}">
          <p14:sldIdLst>
            <p14:sldId id="258"/>
            <p14:sldId id="259"/>
          </p14:sldIdLst>
        </p14:section>
        <p14:section name="Demo" id="{8030aedd-af37-59d3-ed81-a2dc48dfc8a0}">
          <p14:sldIdLst>
            <p14:sldId id="260"/>
          </p14:sldIdLst>
        </p14:section>
        <p14:section name="Call" id="{a5a1ca01-facb-e06e-6a89-14ec438a8585}">
          <p14:sldIdLst>
            <p14:sldId id="261"/>
          </p14:sldIdLst>
        </p14:section>
        <p14:section name="Close" id="{5402e24f-e4f6-9561-71a7-dd6e88c95ded}">
          <p14:sldIdLst>
            <p14:sldId id="262"/>
          </p14:sldIdLst>
        </p14:section>
        <p14:section name="Backup" id="{b30dff5f-a5cc-bb6a-49c3-97dca69c79e8}">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you talk to SDtrust through Finn. Every answer comes with how much you can trust it and where it came from. And when Finn isn't sure, it says so and asks the colleague who knows.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Narrate live over the silent video. Cues:
0:00 Finn idle: Finn lives on your desktop and stays out of the way.
0:08 Typing the question: Lotte just asks. 'Until when can Atlas submit payroll changes?'
0:20 Source icons orbit Finn: Finn searches what the company already writes. Teams, mail, CRM, procedures.
0:30 Answer, 22 October, trust 92%: 22 October, with high trust, and every source behind it.
0:45 Result page, rejected sources: And it shows what it rejected. The 23rd was a proposal in a meeting. The 25th was a question in chat.
1:05 Follow-up 'And for next month?': Then Lotte asks about November.
1:15 Trust 15%, no answer: Most AI would just say 22 October again. Finn says: I don't know. Nothing approved covers November. So Finn calls the one person who does.
(Video ends around 1:20. Click to the next slide: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2 seconds, then Finn speaks (audio plays by itself):
  FINN: Hi Roy, it's Finn. You own the Atlas agreements, so you're the one who knows. Until when can Atlas submit payroll changes in November? I can't find anything approved.
CLICK 1, Roy answers live, loud and clear:
  ROY: Hi Finn! Until the 24th, same deal as October. I just forgot to put it in the CRM.
CLICK 2, Finn answers (audio):
  FINN: Thanks Roy! I've saved it, and I'll let Lotte know.
CLICK 3, the knowledge card appears. PRESENTER: Roy never opened the CRM. Finn saved his answer from the call, so the next person who asks gets it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Q&amp;A, question 'How is the trust score calculated?'. Show only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audio" Target="../media/media-6-4.mp3"/><Relationship Id="rId5" Type="http://schemas.microsoft.com/office/2007/relationships/media" Target="../media/media-6-4.mp3"/><Relationship Id="rId6" Type="http://schemas.openxmlformats.org/officeDocument/2006/relationships/image" Target="../media/image-6-6.png"/><Relationship Id="rId7" Type="http://schemas.openxmlformats.org/officeDocument/2006/relationships/audio" Target="../media/media-6-7.mp3"/><Relationship Id="rId8" Type="http://schemas.microsoft.com/office/2007/relationships/media" Target="../media/media-6-7.mp3"/><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gif"/><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Trust 92%</a:t>
            </a:r>
            <a:endParaRPr lang="en-US" sz="900" dirty="0"/>
          </a:p>
          <a:p>
            <a:pPr indent="0" marL="0">
              <a:spcAft>
                <a:spcPts val="400"/>
              </a:spcAft>
              <a:buNone/>
            </a:pPr>
            <a:r>
              <a:rPr lang="en-US" sz="900" dirty="0">
                <a:solidFill>
                  <a:schemeClr val="accent6"/>
                </a:solidFill>
              </a:rPr>
              <a:t>Source: CRM · Roy</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Meet Finn</a:t>
            </a:r>
            <a:endParaRPr lang="en-US" sz="3240" dirty="0"/>
          </a:p>
        </p:txBody>
      </p:sp>
      <p:sp>
        <p:nvSpPr>
          <p:cNvPr id="3" name="Sub"/>
          <p:cNvSpPr txBox="1"/>
          <p:nvPr/>
        </p:nvSpPr>
        <p:spPr>
          <a:xfrm>
            <a:off x="548640" y="1234440"/>
            <a:ext cx="4724400" cy="457200"/>
          </a:xfrm>
          <a:prstGeom prst="rect">
            <a:avLst/>
          </a:prstGeom>
          <a:noFill/>
          <a:ln/>
        </p:spPr>
        <p:txBody>
          <a:bodyPr wrap="square" lIns="0" tIns="0" rIns="0" bIns="0" rtlCol="0" anchor="t"/>
          <a:lstStyle/>
          <a:p>
            <a:pPr indent="0" marL="0">
              <a:buNone/>
            </a:pPr>
            <a:r>
              <a:rPr lang="en-US" sz="1320" dirty="0">
                <a:solidFill>
                  <a:schemeClr val="accent6"/>
                </a:solidFill>
              </a:rPr>
              <a:t>Lives on your desktop. Out of the way until you need him.</a:t>
            </a:r>
            <a:endParaRPr lang="en-US" sz="1320" dirty="0"/>
          </a:p>
        </p:txBody>
      </p:sp>
      <p:pic>
        <p:nvPicPr>
          <p:cNvPr id="4" name="Finn idle" descr="/tmp/sdtrust-deck/gifs/finn-idle.gif">    </p:cNvPr>
          <p:cNvPicPr>
            <a:picLocks noChangeAspect="1"/>
          </p:cNvPicPr>
          <p:nvPr/>
        </p:nvPicPr>
        <p:blipFill>
          <a:blip r:embed="rId1"/>
          <a:stretch>
            <a:fillRect/>
          </a:stretch>
        </p:blipFill>
        <p:spPr>
          <a:xfrm>
            <a:off x="1447800" y="2057400"/>
            <a:ext cx="1882140" cy="3810000"/>
          </a:xfrm>
          <a:prstGeom prst="rect">
            <a:avLst/>
          </a:prstGeom>
        </p:spPr>
      </p:pic>
      <p:sp>
        <p:nvSpPr>
          <p:cNvPr id="5" name="Card 0"/>
          <p:cNvSpPr/>
          <p:nvPr/>
        </p:nvSpPr>
        <p:spPr>
          <a:xfrm>
            <a:off x="5486400" y="1417320"/>
            <a:ext cx="6126480" cy="914400"/>
          </a:xfrm>
          <a:prstGeom prst="roundRect">
            <a:avLst>
              <a:gd name="adj" fmla="val 15000"/>
            </a:avLst>
          </a:prstGeom>
          <a:solidFill>
            <a:schemeClr val="bg1"/>
          </a:solidFill>
          <a:ln w="12700">
            <a:solidFill>
              <a:srgbClr val="E5E1D8"/>
            </a:solidFill>
            <a:prstDash val="solid"/>
          </a:ln>
          <a:effectLst>
            <a:outerShdw sx="100000" sy="100000" kx="0" ky="0" algn="bl" rotWithShape="0" blurRad="152400" dist="50800" dir="5400000">
              <a:srgbClr val="192D46">
                <a:alpha val="12000"/>
              </a:srgbClr>
            </a:outerShdw>
          </a:effectLst>
        </p:spPr>
      </p:sp>
      <p:pic>
        <p:nvPicPr>
          <p:cNvPr id="6" name="Card icon 0" descr="preencoded.png">    </p:cNvPr>
          <p:cNvPicPr>
            <a:picLocks noChangeAspect="1"/>
          </p:cNvPicPr>
          <p:nvPr/>
        </p:nvPicPr>
        <p:blipFill>
          <a:blip r:embed="rId2"/>
          <a:stretch>
            <a:fillRect/>
          </a:stretch>
        </p:blipFill>
        <p:spPr>
          <a:xfrm>
            <a:off x="5760720" y="1676400"/>
            <a:ext cx="396240" cy="396240"/>
          </a:xfrm>
          <a:prstGeom prst="rect">
            <a:avLst/>
          </a:prstGeom>
        </p:spPr>
      </p:pic>
      <p:sp>
        <p:nvSpPr>
          <p:cNvPr id="7" name="Card text 0"/>
          <p:cNvSpPr txBox="1"/>
          <p:nvPr/>
        </p:nvSpPr>
        <p:spPr>
          <a:xfrm>
            <a:off x="6309360" y="1569720"/>
            <a:ext cx="5105400" cy="640080"/>
          </a:xfrm>
          <a:prstGeom prst="rect">
            <a:avLst/>
          </a:prstGeom>
          <a:noFill/>
          <a:ln/>
        </p:spPr>
        <p:txBody>
          <a:bodyPr wrap="square" lIns="0" tIns="0" rIns="0" bIns="0" rtlCol="0" anchor="ctr"/>
          <a:lstStyle/>
          <a:p>
            <a:pPr indent="0" marL="0">
              <a:buNone/>
            </a:pPr>
            <a:r>
              <a:rPr lang="en-US" sz="1000" dirty="0">
                <a:solidFill>
                  <a:schemeClr val="accent6"/>
                </a:solidFill>
              </a:rPr>
              <a:t>The answer</a:t>
            </a:r>
            <a:endParaRPr lang="en-US" sz="1000" dirty="0"/>
          </a:p>
          <a:p>
            <a:pPr indent="0" marL="0">
              <a:buNone/>
            </a:pPr>
            <a:r>
              <a:rPr lang="en-US" sz="1560" b="1" dirty="0">
                <a:solidFill>
                  <a:schemeClr val="tx1"/>
                </a:solidFill>
              </a:rPr>
              <a:t>22 October 2026</a:t>
            </a:r>
            <a:endParaRPr lang="en-US" sz="1000" dirty="0"/>
          </a:p>
        </p:txBody>
      </p:sp>
      <p:sp>
        <p:nvSpPr>
          <p:cNvPr id="8" name="Card 1"/>
          <p:cNvSpPr/>
          <p:nvPr/>
        </p:nvSpPr>
        <p:spPr>
          <a:xfrm>
            <a:off x="5486400" y="2514600"/>
            <a:ext cx="6126480" cy="914400"/>
          </a:xfrm>
          <a:prstGeom prst="roundRect">
            <a:avLst>
              <a:gd name="adj" fmla="val 15000"/>
            </a:avLst>
          </a:prstGeom>
          <a:solidFill>
            <a:schemeClr val="bg1"/>
          </a:solidFill>
          <a:ln w="12700">
            <a:solidFill>
              <a:srgbClr val="E5E1D8"/>
            </a:solidFill>
            <a:prstDash val="solid"/>
          </a:ln>
          <a:effectLst>
            <a:outerShdw sx="100000" sy="100000" kx="0" ky="0" algn="bl" rotWithShape="0" blurRad="152400" dist="50800" dir="5400000">
              <a:srgbClr val="192D46">
                <a:alpha val="12000"/>
              </a:srgbClr>
            </a:outerShdw>
          </a:effectLst>
        </p:spPr>
      </p:sp>
      <p:pic>
        <p:nvPicPr>
          <p:cNvPr id="9" name="Card icon 1" descr="preencoded.png">    </p:cNvPr>
          <p:cNvPicPr>
            <a:picLocks noChangeAspect="1"/>
          </p:cNvPicPr>
          <p:nvPr/>
        </p:nvPicPr>
        <p:blipFill>
          <a:blip r:embed="rId3"/>
          <a:stretch>
            <a:fillRect/>
          </a:stretch>
        </p:blipFill>
        <p:spPr>
          <a:xfrm>
            <a:off x="5760720" y="2773680"/>
            <a:ext cx="396240" cy="396240"/>
          </a:xfrm>
          <a:prstGeom prst="rect">
            <a:avLst/>
          </a:prstGeom>
        </p:spPr>
      </p:pic>
      <p:sp>
        <p:nvSpPr>
          <p:cNvPr id="10" name="Card text 1"/>
          <p:cNvSpPr txBox="1"/>
          <p:nvPr/>
        </p:nvSpPr>
        <p:spPr>
          <a:xfrm>
            <a:off x="6309360" y="2667000"/>
            <a:ext cx="5105400" cy="640080"/>
          </a:xfrm>
          <a:prstGeom prst="rect">
            <a:avLst/>
          </a:prstGeom>
          <a:noFill/>
          <a:ln/>
        </p:spPr>
        <p:txBody>
          <a:bodyPr wrap="square" lIns="0" tIns="0" rIns="0" bIns="0" rtlCol="0" anchor="ctr"/>
          <a:lstStyle/>
          <a:p>
            <a:pPr indent="0" marL="0">
              <a:buNone/>
            </a:pPr>
            <a:r>
              <a:rPr lang="en-US" sz="1000" dirty="0">
                <a:solidFill>
                  <a:schemeClr val="accent6"/>
                </a:solidFill>
              </a:rPr>
              <a:t>How much to trust it</a:t>
            </a:r>
            <a:endParaRPr lang="en-US" sz="1000" dirty="0"/>
          </a:p>
          <a:p>
            <a:pPr indent="0" marL="0">
              <a:buNone/>
            </a:pPr>
            <a:r>
              <a:rPr lang="en-US" sz="1560" b="1" dirty="0">
                <a:solidFill>
                  <a:schemeClr val="tx1"/>
                </a:solidFill>
              </a:rPr>
              <a:t>92% · approved by the account owner</a:t>
            </a:r>
            <a:endParaRPr lang="en-US" sz="1000" dirty="0"/>
          </a:p>
        </p:txBody>
      </p:sp>
      <p:sp>
        <p:nvSpPr>
          <p:cNvPr id="11" name="Card 2"/>
          <p:cNvSpPr/>
          <p:nvPr/>
        </p:nvSpPr>
        <p:spPr>
          <a:xfrm>
            <a:off x="5486400" y="3611880"/>
            <a:ext cx="6126480" cy="914400"/>
          </a:xfrm>
          <a:prstGeom prst="roundRect">
            <a:avLst>
              <a:gd name="adj" fmla="val 15000"/>
            </a:avLst>
          </a:prstGeom>
          <a:solidFill>
            <a:schemeClr val="bg1"/>
          </a:solidFill>
          <a:ln w="12700">
            <a:solidFill>
              <a:srgbClr val="E5E1D8"/>
            </a:solidFill>
            <a:prstDash val="solid"/>
          </a:ln>
          <a:effectLst>
            <a:outerShdw sx="100000" sy="100000" kx="0" ky="0" algn="bl" rotWithShape="0" blurRad="152400" dist="50800" dir="5400000">
              <a:srgbClr val="192D46">
                <a:alpha val="12000"/>
              </a:srgbClr>
            </a:outerShdw>
          </a:effectLst>
        </p:spPr>
      </p:sp>
      <p:pic>
        <p:nvPicPr>
          <p:cNvPr id="12" name="Card icon 2" descr="preencoded.png">    </p:cNvPr>
          <p:cNvPicPr>
            <a:picLocks noChangeAspect="1"/>
          </p:cNvPicPr>
          <p:nvPr/>
        </p:nvPicPr>
        <p:blipFill>
          <a:blip r:embed="rId4"/>
          <a:stretch>
            <a:fillRect/>
          </a:stretch>
        </p:blipFill>
        <p:spPr>
          <a:xfrm>
            <a:off x="5760720" y="3870960"/>
            <a:ext cx="396240" cy="396240"/>
          </a:xfrm>
          <a:prstGeom prst="rect">
            <a:avLst/>
          </a:prstGeom>
        </p:spPr>
      </p:pic>
      <p:sp>
        <p:nvSpPr>
          <p:cNvPr id="13" name="Card text 2"/>
          <p:cNvSpPr txBox="1"/>
          <p:nvPr/>
        </p:nvSpPr>
        <p:spPr>
          <a:xfrm>
            <a:off x="6309360" y="3764280"/>
            <a:ext cx="5105400" cy="640080"/>
          </a:xfrm>
          <a:prstGeom prst="rect">
            <a:avLst/>
          </a:prstGeom>
          <a:noFill/>
          <a:ln/>
        </p:spPr>
        <p:txBody>
          <a:bodyPr wrap="square" lIns="0" tIns="0" rIns="0" bIns="0" rtlCol="0" anchor="ctr"/>
          <a:lstStyle/>
          <a:p>
            <a:pPr indent="0" marL="0">
              <a:buNone/>
            </a:pPr>
            <a:r>
              <a:rPr lang="en-US" sz="1000" dirty="0">
                <a:solidFill>
                  <a:schemeClr val="accent6"/>
                </a:solidFill>
              </a:rPr>
              <a:t>Where it came from</a:t>
            </a:r>
            <a:endParaRPr lang="en-US" sz="1000" dirty="0"/>
          </a:p>
          <a:p>
            <a:pPr indent="0" marL="0">
              <a:buNone/>
            </a:pPr>
            <a:r>
              <a:rPr lang="en-US" sz="1560" b="1" dirty="0">
                <a:solidFill>
                  <a:schemeClr val="tx1"/>
                </a:solidFill>
              </a:rPr>
              <a:t>CRM · client agreement · Roy</a:t>
            </a:r>
            <a:endParaRPr lang="en-US" sz="1000" dirty="0"/>
          </a:p>
        </p:txBody>
      </p:sp>
      <p:sp>
        <p:nvSpPr>
          <p:cNvPr id="14" name="Card 3"/>
          <p:cNvSpPr/>
          <p:nvPr/>
        </p:nvSpPr>
        <p:spPr>
          <a:xfrm>
            <a:off x="5486400" y="4709160"/>
            <a:ext cx="6126480" cy="1097280"/>
          </a:xfrm>
          <a:prstGeom prst="roundRect">
            <a:avLst>
              <a:gd name="adj" fmla="val 12500"/>
            </a:avLst>
          </a:prstGeom>
          <a:solidFill>
            <a:schemeClr val="accent1"/>
          </a:solidFill>
          <a:ln/>
        </p:spPr>
      </p:sp>
      <p:pic>
        <p:nvPicPr>
          <p:cNvPr id="15" name="Card icon 3" descr="preencoded.png">    </p:cNvPr>
          <p:cNvPicPr>
            <a:picLocks noChangeAspect="1"/>
          </p:cNvPicPr>
          <p:nvPr/>
        </p:nvPicPr>
        <p:blipFill>
          <a:blip r:embed="rId5"/>
          <a:stretch>
            <a:fillRect/>
          </a:stretch>
        </p:blipFill>
        <p:spPr>
          <a:xfrm>
            <a:off x="5760720" y="5059680"/>
            <a:ext cx="396240" cy="396240"/>
          </a:xfrm>
          <a:prstGeom prst="rect">
            <a:avLst/>
          </a:prstGeom>
        </p:spPr>
      </p:pic>
      <p:sp>
        <p:nvSpPr>
          <p:cNvPr id="16" name="Card text 3"/>
          <p:cNvSpPr txBox="1"/>
          <p:nvPr/>
        </p:nvSpPr>
        <p:spPr>
          <a:xfrm>
            <a:off x="6309360" y="4800600"/>
            <a:ext cx="5105400" cy="914400"/>
          </a:xfrm>
          <a:prstGeom prst="rect">
            <a:avLst/>
          </a:prstGeom>
          <a:noFill/>
          <a:ln/>
        </p:spPr>
        <p:txBody>
          <a:bodyPr wrap="square" lIns="0" tIns="0" rIns="0" bIns="0" rtlCol="0" anchor="ctr"/>
          <a:lstStyle/>
          <a:p>
            <a:pPr indent="0" marL="0">
              <a:buNone/>
            </a:pPr>
            <a:r>
              <a:rPr lang="en-US" sz="1000" dirty="0">
                <a:solidFill>
                  <a:schemeClr val="bg1"/>
                </a:solidFill>
              </a:rPr>
              <a:t>Not sure?</a:t>
            </a:r>
            <a:endParaRPr lang="en-US" sz="1000" dirty="0"/>
          </a:p>
          <a:p>
            <a:pPr indent="0" marL="0">
              <a:buNone/>
            </a:pPr>
            <a:r>
              <a:rPr lang="en-US" sz="1560" b="1" dirty="0">
                <a:solidFill>
                  <a:schemeClr val="bg1"/>
                </a:solidFill>
              </a:rPr>
              <a:t>Finn says so, and asks the colleague who knows</a:t>
            </a:r>
            <a:endParaRPr lang="en-US" sz="10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afterEffect">
                                  <p:stCondLst>
                                    <p:cond delay="20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2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fill="hold"/>
                                        <p:tgtEl>
                                          <p:spTgt spid="7"/>
                                        </p:tgtEl>
                                        <p:attrNameLst>
                                          <p:attrName>ppt_x</p:attrName>
                                        </p:attrNameLst>
                                      </p:cBhvr>
                                      <p:tavLst>
                                        <p:tav tm="0">
                                          <p:val>
                                            <p:strVal val="#ppt_x"/>
                                          </p:val>
                                        </p:tav>
                                        <p:tav tm="100000">
                                          <p:val>
                                            <p:strVal val="#ppt_x"/>
                                          </p:val>
                                        </p:tav>
                                      </p:tavLst>
                                    </p:anim>
                                    <p:anim calcmode="lin" valueType="num">
                                      <p:cBhvr additive="base">
                                        <p:cTn id="16" dur="500" fill="hold"/>
                                        <p:tgtEl>
                                          <p:spTgt spid="7"/>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45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45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500" fill="hold"/>
                                        <p:tgtEl>
                                          <p:spTgt spid="9"/>
                                        </p:tgtEl>
                                        <p:attrNameLst>
                                          <p:attrName>ppt_x</p:attrName>
                                        </p:attrNameLst>
                                      </p:cBhvr>
                                      <p:tavLst>
                                        <p:tav tm="0">
                                          <p:val>
                                            <p:strVal val="#ppt_x"/>
                                          </p:val>
                                        </p:tav>
                                        <p:tav tm="100000">
                                          <p:val>
                                            <p:strVal val="#ppt_x"/>
                                          </p:val>
                                        </p:tav>
                                      </p:tavLst>
                                    </p:anim>
                                    <p:anim calcmode="lin" valueType="num">
                                      <p:cBhvr additive="base">
                                        <p:cTn id="24" dur="500" fill="hold"/>
                                        <p:tgtEl>
                                          <p:spTgt spid="9"/>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45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500" fill="hold"/>
                                        <p:tgtEl>
                                          <p:spTgt spid="10"/>
                                        </p:tgtEl>
                                        <p:attrNameLst>
                                          <p:attrName>ppt_x</p:attrName>
                                        </p:attrNameLst>
                                      </p:cBhvr>
                                      <p:tavLst>
                                        <p:tav tm="0">
                                          <p:val>
                                            <p:strVal val="#ppt_x"/>
                                          </p:val>
                                        </p:tav>
                                        <p:tav tm="100000">
                                          <p:val>
                                            <p:strVal val="#ppt_x"/>
                                          </p:val>
                                        </p:tav>
                                      </p:tavLst>
                                    </p:anim>
                                    <p:anim calcmode="lin" valueType="num">
                                      <p:cBhvr additive="base">
                                        <p:cTn id="28" dur="500" fill="hold"/>
                                        <p:tgtEl>
                                          <p:spTgt spid="10"/>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70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700"/>
                                  </p:stCondLst>
                                  <p:childTnLst>
                                    <p:set>
                                      <p:cBhvr>
                                        <p:cTn id="34" dur="1" fill="hold">
                                          <p:stCondLst>
                                            <p:cond delay="0"/>
                                          </p:stCondLst>
                                        </p:cTn>
                                        <p:tgtEl>
                                          <p:spTgt spid="12"/>
                                        </p:tgtEl>
                                        <p:attrNameLst>
                                          <p:attrName>style.visibility</p:attrName>
                                        </p:attrNameLst>
                                      </p:cBhvr>
                                      <p:to>
                                        <p:strVal val="visible"/>
                                      </p:to>
                                    </p:set>
                                    <p:anim calcmode="lin" valueType="num">
                                      <p:cBhvr additive="base">
                                        <p:cTn id="35" dur="500" fill="hold"/>
                                        <p:tgtEl>
                                          <p:spTgt spid="12"/>
                                        </p:tgtEl>
                                        <p:attrNameLst>
                                          <p:attrName>ppt_x</p:attrName>
                                        </p:attrNameLst>
                                      </p:cBhvr>
                                      <p:tavLst>
                                        <p:tav tm="0">
                                          <p:val>
                                            <p:strVal val="#ppt_x"/>
                                          </p:val>
                                        </p:tav>
                                        <p:tav tm="100000">
                                          <p:val>
                                            <p:strVal val="#ppt_x"/>
                                          </p:val>
                                        </p:tav>
                                      </p:tavLst>
                                    </p:anim>
                                    <p:anim calcmode="lin" valueType="num">
                                      <p:cBhvr additive="base">
                                        <p:cTn id="36" dur="500" fill="hold"/>
                                        <p:tgtEl>
                                          <p:spTgt spid="12"/>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7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500" fill="hold"/>
                                        <p:tgtEl>
                                          <p:spTgt spid="13"/>
                                        </p:tgtEl>
                                        <p:attrNameLst>
                                          <p:attrName>ppt_x</p:attrName>
                                        </p:attrNameLst>
                                      </p:cBhvr>
                                      <p:tavLst>
                                        <p:tav tm="0">
                                          <p:val>
                                            <p:strVal val="#ppt_x"/>
                                          </p:val>
                                        </p:tav>
                                        <p:tav tm="100000">
                                          <p:val>
                                            <p:strVal val="#ppt_x"/>
                                          </p:val>
                                        </p:tav>
                                      </p:tavLst>
                                    </p:anim>
                                    <p:anim calcmode="lin" valueType="num">
                                      <p:cBhvr additive="base">
                                        <p:cTn id="40" dur="500" fill="hold"/>
                                        <p:tgtEl>
                                          <p:spTgt spid="13"/>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10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500" fill="hold"/>
                                        <p:tgtEl>
                                          <p:spTgt spid="14"/>
                                        </p:tgtEl>
                                        <p:attrNameLst>
                                          <p:attrName>ppt_x</p:attrName>
                                        </p:attrNameLst>
                                      </p:cBhvr>
                                      <p:tavLst>
                                        <p:tav tm="0">
                                          <p:val>
                                            <p:strVal val="#ppt_x"/>
                                          </p:val>
                                        </p:tav>
                                        <p:tav tm="100000">
                                          <p:val>
                                            <p:strVal val="#ppt_x"/>
                                          </p:val>
                                        </p:tav>
                                      </p:tavLst>
                                    </p:anim>
                                    <p:anim calcmode="lin" valueType="num">
                                      <p:cBhvr additive="base">
                                        <p:cTn id="44" dur="500" fill="hold"/>
                                        <p:tgtEl>
                                          <p:spTgt spid="14"/>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10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7" dur="500" fill="hold"/>
                                        <p:tgtEl>
                                          <p:spTgt spid="15"/>
                                        </p:tgtEl>
                                        <p:attrNameLst>
                                          <p:attrName>ppt_x</p:attrName>
                                        </p:attrNameLst>
                                      </p:cBhvr>
                                      <p:tavLst>
                                        <p:tav tm="0">
                                          <p:val>
                                            <p:strVal val="#ppt_x"/>
                                          </p:val>
                                        </p:tav>
                                        <p:tav tm="100000">
                                          <p:val>
                                            <p:strVal val="#ppt_x"/>
                                          </p:val>
                                        </p:tav>
                                      </p:tavLst>
                                    </p:anim>
                                    <p:anim calcmode="lin" valueType="num">
                                      <p:cBhvr additive="base">
                                        <p:cTn id="48" dur="500" fill="hold"/>
                                        <p:tgtEl>
                                          <p:spTgt spid="15"/>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10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500" fill="hold"/>
                                        <p:tgtEl>
                                          <p:spTgt spid="16"/>
                                        </p:tgtEl>
                                        <p:attrNameLst>
                                          <p:attrName>ppt_x</p:attrName>
                                        </p:attrNameLst>
                                      </p:cBhvr>
                                      <p:tavLst>
                                        <p:tav tm="0">
                                          <p:val>
                                            <p:strVal val="#ppt_x"/>
                                          </p:val>
                                        </p:tav>
                                        <p:tav tm="100000">
                                          <p:val>
                                            <p:strVal val="#ppt_x"/>
                                          </p:val>
                                        </p:tav>
                                      </p:tavLst>
                                    </p:anim>
                                    <p:anim calcmode="lin" valueType="num">
                                      <p:cBhvr additive="base">
                                        <p:cTn id="52"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P spid="10" grpId="0" animBg="1"/>
      <p:bldP spid="11" grpId="0" animBg="1"/>
      <p:bldP spid="13" grpId="0" animBg="1"/>
      <p:bldP spid="14"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Video placeholder"/>
          <p:cNvSpPr/>
          <p:nvPr/>
        </p:nvSpPr>
        <p:spPr>
          <a:xfrm>
            <a:off x="822960" y="502920"/>
            <a:ext cx="10546080" cy="5935980"/>
          </a:xfrm>
          <a:prstGeom prst="roundRect">
            <a:avLst>
              <a:gd name="adj" fmla="val 3081"/>
            </a:avLst>
          </a:prstGeom>
          <a:solidFill>
            <a:schemeClr val="tx1"/>
          </a:solidFill>
          <a:ln w="12700">
            <a:solidFill>
              <a:srgbClr val="5F6F85"/>
            </a:solidFill>
            <a:prstDash val="dash"/>
          </a:ln>
        </p:spPr>
      </p:sp>
      <p:sp>
        <p:nvSpPr>
          <p:cNvPr id="3" name="Play"/>
          <p:cNvSpPr/>
          <p:nvPr/>
        </p:nvSpPr>
        <p:spPr>
          <a:xfrm>
            <a:off x="5638800" y="2362200"/>
            <a:ext cx="914400" cy="914400"/>
          </a:xfrm>
          <a:prstGeom prst="ellipse">
            <a:avLst/>
          </a:prstGeom>
          <a:solidFill>
            <a:schemeClr val="accent1"/>
          </a:solidFill>
          <a:ln/>
        </p:spPr>
      </p:sp>
      <p:pic>
        <p:nvPicPr>
          <p:cNvPr id="4" name="Play icon" descr="preencoded.png">    </p:cNvPr>
          <p:cNvPicPr>
            <a:picLocks noChangeAspect="1"/>
          </p:cNvPicPr>
          <p:nvPr/>
        </p:nvPicPr>
        <p:blipFill>
          <a:blip r:embed="rId1"/>
          <a:stretch>
            <a:fillRect/>
          </a:stretch>
        </p:blipFill>
        <p:spPr>
          <a:xfrm>
            <a:off x="5913120" y="2636520"/>
            <a:ext cx="396240" cy="396240"/>
          </a:xfrm>
          <a:prstGeom prst="rect">
            <a:avLst/>
          </a:prstGeom>
        </p:spPr>
      </p:pic>
      <p:sp>
        <p:nvSpPr>
          <p:cNvPr id="5" name="Video label"/>
          <p:cNvSpPr txBox="1"/>
          <p:nvPr/>
        </p:nvSpPr>
        <p:spPr>
          <a:xfrm>
            <a:off x="822960" y="3581400"/>
            <a:ext cx="10546080" cy="381000"/>
          </a:xfrm>
          <a:prstGeom prst="rect">
            <a:avLst/>
          </a:prstGeom>
          <a:noFill/>
          <a:ln/>
        </p:spPr>
        <p:txBody>
          <a:bodyPr wrap="square" lIns="0" tIns="0" rIns="0" bIns="0" rtlCol="0" anchor="t"/>
          <a:lstStyle/>
          <a:p>
            <a:pPr algn="ctr" indent="0" marL="0">
              <a:buNone/>
            </a:pPr>
            <a:r>
              <a:rPr lang="en-US" sz="1800" b="1" dirty="0">
                <a:solidFill>
                  <a:schemeClr val="bg1"/>
                </a:solidFill>
              </a:rPr>
              <a:t>Demo video · about 1:20 · no audio</a:t>
            </a:r>
            <a:endParaRPr lang="en-US" sz="1800" dirty="0"/>
          </a:p>
        </p:txBody>
      </p:sp>
      <p:sp>
        <p:nvSpPr>
          <p:cNvPr id="6" name="Video hint"/>
          <p:cNvSpPr txBox="1"/>
          <p:nvPr/>
        </p:nvSpPr>
        <p:spPr>
          <a:xfrm>
            <a:off x="822960" y="4023360"/>
            <a:ext cx="10546080" cy="304800"/>
          </a:xfrm>
          <a:prstGeom prst="rect">
            <a:avLst/>
          </a:prstGeom>
          <a:noFill/>
          <a:ln/>
        </p:spPr>
        <p:txBody>
          <a:bodyPr wrap="square" lIns="0" tIns="0" rIns="0" bIns="0" rtlCol="0" anchor="t"/>
          <a:lstStyle/>
          <a:p>
            <a:pPr algn="ctr" indent="0" marL="0">
              <a:buNone/>
            </a:pPr>
            <a:r>
              <a:rPr lang="en-US" sz="1140" dirty="0">
                <a:solidFill>
                  <a:schemeClr val="bg2"/>
                </a:solidFill>
              </a:rPr>
              <a:t>Replace this box: Insert › Video › This Device, then Playback › Start: Automatically</a:t>
            </a:r>
            <a:endParaRPr lang="en-US" sz="11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owns the Atlas agreements and approved the October exception</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agreements, so you're the one who knows. Until when can Atlas submit payroll changes in November?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24th, same deal as October. I just forgot to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Thanks Roy! I've saved it, and I'll let Lotte know.</a:t>
            </a:r>
            <a:endParaRPr lang="en-US" sz="900" dirty="0"/>
          </a:p>
        </p:txBody>
      </p:sp>
      <p:sp>
        <p:nvSpPr>
          <p:cNvPr id="24"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5"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6"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Added to Finn's knowledge, automatically</a:t>
            </a:r>
            <a:endParaRPr lang="en-US" sz="1260" dirty="0"/>
          </a:p>
        </p:txBody>
      </p:sp>
      <p:sp>
        <p:nvSpPr>
          <p:cNvPr id="27"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 Roy · 21 October 2026</a:t>
            </a:r>
            <a:endParaRPr lang="en-US" sz="900" dirty="0"/>
          </a:p>
        </p:txBody>
      </p:sp>
      <p:sp>
        <p:nvSpPr>
          <p:cNvPr id="28"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24 November 2026.”</a:t>
            </a:r>
            <a:endParaRPr lang="en-US" sz="1380" dirty="0"/>
          </a:p>
        </p:txBody>
      </p:sp>
      <p:sp>
        <p:nvSpPr>
          <p:cNvPr id="29"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0"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November 2026</a:t>
            </a:r>
            <a:endParaRPr lang="en-US" sz="900" dirty="0"/>
          </a:p>
        </p:txBody>
      </p:sp>
      <p:sp>
        <p:nvSpPr>
          <p:cNvPr id="31"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2"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3" name="Meter bg"/>
          <p:cNvSpPr/>
          <p:nvPr/>
        </p:nvSpPr>
        <p:spPr>
          <a:xfrm>
            <a:off x="2621280" y="5928360"/>
            <a:ext cx="2560320" cy="91440"/>
          </a:xfrm>
          <a:prstGeom prst="roundRect">
            <a:avLst>
              <a:gd name="adj" fmla="val 50000"/>
            </a:avLst>
          </a:prstGeom>
          <a:solidFill>
            <a:srgbClr val="EEF0F3"/>
          </a:solidFill>
          <a:ln/>
        </p:spPr>
      </p:sp>
      <p:sp>
        <p:nvSpPr>
          <p:cNvPr id="34" name="Meter fill"/>
          <p:cNvSpPr/>
          <p:nvPr/>
        </p:nvSpPr>
        <p:spPr>
          <a:xfrm>
            <a:off x="2621280" y="5928360"/>
            <a:ext cx="2407920" cy="91440"/>
          </a:xfrm>
          <a:prstGeom prst="roundRect">
            <a:avLst>
              <a:gd name="adj" fmla="val 50000"/>
            </a:avLst>
          </a:prstGeom>
          <a:solidFill>
            <a:schemeClr val="accent4"/>
          </a:solidFill>
          <a:ln/>
        </p:spPr>
      </p:sp>
      <p:pic>
        <p:nvPicPr>
          <p:cNvPr id="38"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39"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7"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20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20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20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20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20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20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21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2100"/>
                                  </p:stCondLst>
                                  <p:childTnLst>
                                    <p:cmd type="call" cmd="playFrom(0.0)">
                                      <p:cBhvr>
                                        <p:cTn id="27" dur="10368" fill="hold"/>
                                        <p:tgtEl>
                                          <p:spTgt spid="38"/>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216" fill="hold"/>
                                        <p:tgtEl>
                                          <p:spTgt spid="39"/>
                                        </p:tgtEl>
                                      </p:cBhvr>
                                    </p:cmd>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500"/>
                                        <p:tgtEl>
                                          <p:spTgt spid="2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500"/>
                                        <p:tgtEl>
                                          <p:spTgt spid="2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500"/>
                                        <p:tgtEl>
                                          <p:spTgt spid="2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00"/>
                                        <p:tgtEl>
                                          <p:spTgt spid="2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500"/>
                                        <p:tgtEl>
                                          <p:spTgt spid="30"/>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500"/>
                                        <p:tgtEl>
                                          <p:spTgt spid="31"/>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500"/>
                                        <p:tgtEl>
                                          <p:spTgt spid="3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500"/>
                                        <p:tgtEl>
                                          <p:spTgt spid="33"/>
                                        </p:tgtEl>
                                      </p:cBhvr>
                                    </p:animEffect>
                                  </p:childTnLst>
                                </p:cTn>
                              </p:par>
                              <p:par>
                                <p:cTn id="74" presetID="22" presetClass="entr" presetSubtype="8" fill="hold" grpId="0" nodeType="withEffect">
                                  <p:stCondLst>
                                    <p:cond delay="500"/>
                                  </p:stCondLst>
                                  <p:childTnLst>
                                    <p:set>
                                      <p:cBhvr>
                                        <p:cTn id="75" dur="1" fill="hold">
                                          <p:stCondLst>
                                            <p:cond delay="0"/>
                                          </p:stCondLst>
                                        </p:cTn>
                                        <p:tgtEl>
                                          <p:spTgt spid="34"/>
                                        </p:tgtEl>
                                        <p:attrNameLst>
                                          <p:attrName>style.visibility</p:attrName>
                                        </p:attrNameLst>
                                      </p:cBhvr>
                                      <p:to>
                                        <p:strVal val="visible"/>
                                      </p:to>
                                    </p:set>
                                    <p:animEffect transition="in" filter="wipe(left)">
                                      <p:cBhvr>
                                        <p:cTn id="76" dur="1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77" display="0" fill="hold">
                  <p:stCondLst>
                    <p:cond delay="indefinite"/>
                  </p:stCondLst>
                  <p:endCondLst>
                    <p:cond evt="onStopAudio" delay="0">
                      <p:tgtEl>
                        <p:sldTgt/>
                      </p:tgtEl>
                    </p:cond>
                  </p:endCondLst>
                </p:cTn>
                <p:tgtEl>
                  <p:spTgt spid="38"/>
                </p:tgtEl>
              </p:cMediaNode>
            </p:audio>
            <p:audio>
              <p:cMediaNode vol="80000">
                <p:cTn id="78" display="0" fill="hold">
                  <p:stCondLst>
                    <p:cond delay="indefinite"/>
                  </p:stCondLst>
                  <p:endCondLst>
                    <p:cond evt="onStopAudio" delay="0">
                      <p:tgtEl>
                        <p:sldTgt/>
                      </p:tgtEl>
                    </p:cond>
                  </p:endCondLst>
                </p:cTn>
                <p:tgtEl>
                  <p:spTgt spid="39"/>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971800"/>
            <a:ext cx="1645920" cy="25908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How Finn decides what to trust</a:t>
            </a:r>
            <a:endParaRPr lang="en-US" sz="3240" dirty="0"/>
          </a:p>
        </p:txBody>
      </p:sp>
      <p:sp>
        <p:nvSpPr>
          <p:cNvPr id="3" name="Sub"/>
          <p:cNvSpPr txBox="1"/>
          <p:nvPr/>
        </p:nvSpPr>
        <p:spPr>
          <a:xfrm>
            <a:off x="548640" y="1234440"/>
            <a:ext cx="9144000" cy="304800"/>
          </a:xfrm>
          <a:prstGeom prst="rect">
            <a:avLst/>
          </a:prstGeom>
          <a:noFill/>
          <a:ln/>
        </p:spPr>
        <p:txBody>
          <a:bodyPr wrap="square" lIns="0" tIns="0" rIns="0" bIns="0" rtlCol="0" anchor="t"/>
          <a:lstStyle/>
          <a:p>
            <a:pPr indent="0" marL="0">
              <a:buNone/>
            </a:pPr>
            <a:r>
              <a:rPr lang="en-US" sz="1320" dirty="0">
                <a:solidFill>
                  <a:schemeClr val="accent6"/>
                </a:solidFill>
              </a:rPr>
              <a:t>Every percentage on screen comes with its reasons</a:t>
            </a:r>
            <a:endParaRPr lang="en-US" sz="1320" dirty="0"/>
          </a:p>
        </p:txBody>
      </p:sp>
      <p:sp>
        <p:nvSpPr>
          <p:cNvPr id="4" name="Factor Authority"/>
          <p:cNvSpPr/>
          <p:nvPr/>
        </p:nvSpPr>
        <p:spPr>
          <a:xfrm>
            <a:off x="548640" y="2011680"/>
            <a:ext cx="5440680" cy="1737360"/>
          </a:xfrm>
          <a:prstGeom prst="roundRect">
            <a:avLst>
              <a:gd name="adj" fmla="val 7895"/>
            </a:avLst>
          </a:prstGeom>
          <a:solidFill>
            <a:schemeClr val="bg1"/>
          </a:solidFill>
          <a:ln w="12700">
            <a:solidFill>
              <a:srgbClr val="E5E1D8"/>
            </a:solidFill>
            <a:prstDash val="solid"/>
          </a:ln>
          <a:effectLst>
            <a:outerShdw sx="100000" sy="100000" kx="0" ky="0" algn="bl" rotWithShape="0" blurRad="152400" dist="50800" dir="5400000">
              <a:srgbClr val="192D46">
                <a:alpha val="12000"/>
              </a:srgbClr>
            </a:outerShdw>
          </a:effectLst>
        </p:spPr>
      </p:sp>
      <p:sp>
        <p:nvSpPr>
          <p:cNvPr id="5" name="Factor dot Authority"/>
          <p:cNvSpPr/>
          <p:nvPr/>
        </p:nvSpPr>
        <p:spPr>
          <a:xfrm>
            <a:off x="868680" y="2377440"/>
            <a:ext cx="822960" cy="822960"/>
          </a:xfrm>
          <a:prstGeom prst="ellipse">
            <a:avLst/>
          </a:prstGeom>
          <a:solidFill>
            <a:schemeClr val="bg2"/>
          </a:solidFill>
          <a:ln/>
        </p:spPr>
      </p:sp>
      <p:pic>
        <p:nvPicPr>
          <p:cNvPr id="6" name="Factor icon Authority" descr="preencoded.png">    </p:cNvPr>
          <p:cNvPicPr>
            <a:picLocks noChangeAspect="1"/>
          </p:cNvPicPr>
          <p:nvPr/>
        </p:nvPicPr>
        <p:blipFill>
          <a:blip r:embed="rId1"/>
          <a:stretch>
            <a:fillRect/>
          </a:stretch>
        </p:blipFill>
        <p:spPr>
          <a:xfrm>
            <a:off x="1082040" y="2590800"/>
            <a:ext cx="396240" cy="396240"/>
          </a:xfrm>
          <a:prstGeom prst="rect">
            <a:avLst/>
          </a:prstGeom>
        </p:spPr>
      </p:pic>
      <p:sp>
        <p:nvSpPr>
          <p:cNvPr id="7" name="Factor text Authority"/>
          <p:cNvSpPr txBox="1"/>
          <p:nvPr/>
        </p:nvSpPr>
        <p:spPr>
          <a:xfrm>
            <a:off x="1965960" y="2331720"/>
            <a:ext cx="3810000" cy="121920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Authority</a:t>
            </a:r>
            <a:endParaRPr lang="en-US" sz="1800" dirty="0"/>
          </a:p>
          <a:p>
            <a:pPr indent="0" marL="0">
              <a:spcAft>
                <a:spcPts val="600"/>
              </a:spcAft>
              <a:buNone/>
            </a:pPr>
            <a:r>
              <a:rPr lang="en-US" sz="1260" dirty="0">
                <a:solidFill>
                  <a:schemeClr val="accent6"/>
                </a:solidFill>
              </a:rPr>
              <a:t>Approved by the owner beats a chat message or a meeting proposal</a:t>
            </a:r>
            <a:endParaRPr lang="en-US" sz="1800" dirty="0"/>
          </a:p>
        </p:txBody>
      </p:sp>
      <p:sp>
        <p:nvSpPr>
          <p:cNvPr id="8" name="Factor Scope"/>
          <p:cNvSpPr/>
          <p:nvPr/>
        </p:nvSpPr>
        <p:spPr>
          <a:xfrm>
            <a:off x="6172200" y="2011680"/>
            <a:ext cx="5440680" cy="1737360"/>
          </a:xfrm>
          <a:prstGeom prst="roundRect">
            <a:avLst>
              <a:gd name="adj" fmla="val 7895"/>
            </a:avLst>
          </a:prstGeom>
          <a:solidFill>
            <a:schemeClr val="bg1"/>
          </a:solidFill>
          <a:ln w="12700">
            <a:solidFill>
              <a:srgbClr val="E5E1D8"/>
            </a:solidFill>
            <a:prstDash val="solid"/>
          </a:ln>
          <a:effectLst>
            <a:outerShdw sx="100000" sy="100000" kx="0" ky="0" algn="bl" rotWithShape="0" blurRad="152400" dist="50800" dir="5400000">
              <a:srgbClr val="192D46">
                <a:alpha val="12000"/>
              </a:srgbClr>
            </a:outerShdw>
          </a:effectLst>
        </p:spPr>
      </p:sp>
      <p:sp>
        <p:nvSpPr>
          <p:cNvPr id="9" name="Factor dot Scope"/>
          <p:cNvSpPr/>
          <p:nvPr/>
        </p:nvSpPr>
        <p:spPr>
          <a:xfrm>
            <a:off x="6492240" y="2377440"/>
            <a:ext cx="822960" cy="822960"/>
          </a:xfrm>
          <a:prstGeom prst="ellipse">
            <a:avLst/>
          </a:prstGeom>
          <a:solidFill>
            <a:schemeClr val="bg2"/>
          </a:solidFill>
          <a:ln/>
        </p:spPr>
      </p:sp>
      <p:pic>
        <p:nvPicPr>
          <p:cNvPr id="10" name="Factor icon Scope" descr="preencoded.png">    </p:cNvPr>
          <p:cNvPicPr>
            <a:picLocks noChangeAspect="1"/>
          </p:cNvPicPr>
          <p:nvPr/>
        </p:nvPicPr>
        <p:blipFill>
          <a:blip r:embed="rId2"/>
          <a:stretch>
            <a:fillRect/>
          </a:stretch>
        </p:blipFill>
        <p:spPr>
          <a:xfrm>
            <a:off x="6705600" y="2590800"/>
            <a:ext cx="396240" cy="396240"/>
          </a:xfrm>
          <a:prstGeom prst="rect">
            <a:avLst/>
          </a:prstGeom>
        </p:spPr>
      </p:pic>
      <p:sp>
        <p:nvSpPr>
          <p:cNvPr id="11" name="Factor text Scope"/>
          <p:cNvSpPr txBox="1"/>
          <p:nvPr/>
        </p:nvSpPr>
        <p:spPr>
          <a:xfrm>
            <a:off x="7589520" y="2331720"/>
            <a:ext cx="3810000" cy="121920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Scope</a:t>
            </a:r>
            <a:endParaRPr lang="en-US" sz="1800" dirty="0"/>
          </a:p>
          <a:p>
            <a:pPr indent="0" marL="0">
              <a:spcAft>
                <a:spcPts val="600"/>
              </a:spcAft>
              <a:buNone/>
            </a:pPr>
            <a:r>
              <a:rPr lang="en-US" sz="1260" dirty="0">
                <a:solidFill>
                  <a:schemeClr val="accent6"/>
                </a:solidFill>
              </a:rPr>
              <a:t>Valid for this country, this client and this period</a:t>
            </a:r>
            <a:endParaRPr lang="en-US" sz="1800" dirty="0"/>
          </a:p>
        </p:txBody>
      </p:sp>
      <p:sp>
        <p:nvSpPr>
          <p:cNvPr id="12" name="Factor Validity"/>
          <p:cNvSpPr/>
          <p:nvPr/>
        </p:nvSpPr>
        <p:spPr>
          <a:xfrm>
            <a:off x="548640" y="3977640"/>
            <a:ext cx="5440680" cy="1737360"/>
          </a:xfrm>
          <a:prstGeom prst="roundRect">
            <a:avLst>
              <a:gd name="adj" fmla="val 7895"/>
            </a:avLst>
          </a:prstGeom>
          <a:solidFill>
            <a:schemeClr val="bg1"/>
          </a:solidFill>
          <a:ln w="12700">
            <a:solidFill>
              <a:srgbClr val="E5E1D8"/>
            </a:solidFill>
            <a:prstDash val="solid"/>
          </a:ln>
          <a:effectLst>
            <a:outerShdw sx="100000" sy="100000" kx="0" ky="0" algn="bl" rotWithShape="0" blurRad="152400" dist="50800" dir="5400000">
              <a:srgbClr val="192D46">
                <a:alpha val="12000"/>
              </a:srgbClr>
            </a:outerShdw>
          </a:effectLst>
        </p:spPr>
      </p:sp>
      <p:sp>
        <p:nvSpPr>
          <p:cNvPr id="13" name="Factor dot Validity"/>
          <p:cNvSpPr/>
          <p:nvPr/>
        </p:nvSpPr>
        <p:spPr>
          <a:xfrm>
            <a:off x="868680" y="4343400"/>
            <a:ext cx="822960" cy="822960"/>
          </a:xfrm>
          <a:prstGeom prst="ellipse">
            <a:avLst/>
          </a:prstGeom>
          <a:solidFill>
            <a:schemeClr val="bg2"/>
          </a:solidFill>
          <a:ln/>
        </p:spPr>
      </p:sp>
      <p:pic>
        <p:nvPicPr>
          <p:cNvPr id="14" name="Factor icon Validity" descr="preencoded.png">    </p:cNvPr>
          <p:cNvPicPr>
            <a:picLocks noChangeAspect="1"/>
          </p:cNvPicPr>
          <p:nvPr/>
        </p:nvPicPr>
        <p:blipFill>
          <a:blip r:embed="rId3"/>
          <a:stretch>
            <a:fillRect/>
          </a:stretch>
        </p:blipFill>
        <p:spPr>
          <a:xfrm>
            <a:off x="1082040" y="4556760"/>
            <a:ext cx="396240" cy="396240"/>
          </a:xfrm>
          <a:prstGeom prst="rect">
            <a:avLst/>
          </a:prstGeom>
        </p:spPr>
      </p:pic>
      <p:sp>
        <p:nvSpPr>
          <p:cNvPr id="15" name="Factor text Validity"/>
          <p:cNvSpPr txBox="1"/>
          <p:nvPr/>
        </p:nvSpPr>
        <p:spPr>
          <a:xfrm>
            <a:off x="1965960" y="4297680"/>
            <a:ext cx="3810000" cy="121920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Validity</a:t>
            </a:r>
            <a:endParaRPr lang="en-US" sz="1800" dirty="0"/>
          </a:p>
          <a:p>
            <a:pPr indent="0" marL="0">
              <a:spcAft>
                <a:spcPts val="600"/>
              </a:spcAft>
              <a:buNone/>
            </a:pPr>
            <a:r>
              <a:rPr lang="en-US" sz="1260" dirty="0">
                <a:solidFill>
                  <a:schemeClr val="accent6"/>
                </a:solidFill>
              </a:rPr>
              <a:t>Superseded or expired versions lose, even if they look official</a:t>
            </a:r>
            <a:endParaRPr lang="en-US" sz="1800" dirty="0"/>
          </a:p>
        </p:txBody>
      </p:sp>
      <p:sp>
        <p:nvSpPr>
          <p:cNvPr id="16" name="Factor Agreement"/>
          <p:cNvSpPr/>
          <p:nvPr/>
        </p:nvSpPr>
        <p:spPr>
          <a:xfrm>
            <a:off x="6172200" y="3977640"/>
            <a:ext cx="5440680" cy="1737360"/>
          </a:xfrm>
          <a:prstGeom prst="roundRect">
            <a:avLst>
              <a:gd name="adj" fmla="val 7895"/>
            </a:avLst>
          </a:prstGeom>
          <a:solidFill>
            <a:schemeClr val="bg1"/>
          </a:solidFill>
          <a:ln w="12700">
            <a:solidFill>
              <a:srgbClr val="E5E1D8"/>
            </a:solidFill>
            <a:prstDash val="solid"/>
          </a:ln>
          <a:effectLst>
            <a:outerShdw sx="100000" sy="100000" kx="0" ky="0" algn="bl" rotWithShape="0" blurRad="152400" dist="50800" dir="5400000">
              <a:srgbClr val="192D46">
                <a:alpha val="12000"/>
              </a:srgbClr>
            </a:outerShdw>
          </a:effectLst>
        </p:spPr>
      </p:sp>
      <p:sp>
        <p:nvSpPr>
          <p:cNvPr id="17" name="Factor dot Agreement"/>
          <p:cNvSpPr/>
          <p:nvPr/>
        </p:nvSpPr>
        <p:spPr>
          <a:xfrm>
            <a:off x="6492240" y="4343400"/>
            <a:ext cx="822960" cy="822960"/>
          </a:xfrm>
          <a:prstGeom prst="ellipse">
            <a:avLst/>
          </a:prstGeom>
          <a:solidFill>
            <a:schemeClr val="bg2"/>
          </a:solidFill>
          <a:ln/>
        </p:spPr>
      </p:sp>
      <p:pic>
        <p:nvPicPr>
          <p:cNvPr id="18" name="Factor icon Agreement" descr="preencoded.png">    </p:cNvPr>
          <p:cNvPicPr>
            <a:picLocks noChangeAspect="1"/>
          </p:cNvPicPr>
          <p:nvPr/>
        </p:nvPicPr>
        <p:blipFill>
          <a:blip r:embed="rId4"/>
          <a:stretch>
            <a:fillRect/>
          </a:stretch>
        </p:blipFill>
        <p:spPr>
          <a:xfrm>
            <a:off x="6705600" y="4556760"/>
            <a:ext cx="396240" cy="396240"/>
          </a:xfrm>
          <a:prstGeom prst="rect">
            <a:avLst/>
          </a:prstGeom>
        </p:spPr>
      </p:pic>
      <p:sp>
        <p:nvSpPr>
          <p:cNvPr id="19" name="Factor text Agreement"/>
          <p:cNvSpPr txBox="1"/>
          <p:nvPr/>
        </p:nvSpPr>
        <p:spPr>
          <a:xfrm>
            <a:off x="7589520" y="4297680"/>
            <a:ext cx="3810000" cy="121920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rPr>
              <a:t>Agreement</a:t>
            </a:r>
            <a:endParaRPr lang="en-US" sz="1800" dirty="0"/>
          </a:p>
          <a:p>
            <a:pPr indent="0" marL="0">
              <a:spcAft>
                <a:spcPts val="600"/>
              </a:spcAft>
              <a:buNone/>
            </a:pPr>
            <a:r>
              <a:rPr lang="en-US" sz="1260" dirty="0">
                <a:solidFill>
                  <a:schemeClr val="accent6"/>
                </a:solidFill>
              </a:rPr>
              <a:t>Conflicting sources lower trust. Too low? Finn asks the owner</a:t>
            </a:r>
            <a:endParaRPr lang="en-US" sz="18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2026-10-20T12:24:36Z</dcterms:created>
  <dcterms:modified xsi:type="dcterms:W3CDTF">2026-10-20T12:24:36Z</dcterms:modified>
</cp:coreProperties>
</file>