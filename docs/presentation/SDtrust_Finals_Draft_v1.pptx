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0"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embeddedFontLst>
    <p:embeddedFont>
      <p:font typeface="Manrope" pitchFamily="34" charset="0"/>
      <p:regular r:id="rIdManropeRegular"/>
      <p:bold r:id="rIdManropeBold"/>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 Id="rIdManropeRegular" Type="http://schemas.openxmlformats.org/officeDocument/2006/relationships/font" Target="fonts/ManropeRegular.fntdata"/><Relationship Id="rIdManropeBold" Type="http://schemas.openxmlformats.org/officeDocument/2006/relationships/font" Target="fonts/Manrop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4063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answer and the right next step</a:t>
            </a:r>
          </a:p>
          <a:p>
            <a:r>
              <a:t>Timing: 15 seconds.</a:t>
            </a:r>
          </a:p>
          <a:p>
            <a:endParaRPr/>
          </a:p>
          <a:p>
            <a:r>
              <a:t>SPEAK</a:t>
            </a:r>
          </a:p>
          <a:p>
            <a:r>
              <a:t>An HR question should not become a hunt through Teams, emails and client records. Meet Finn, the SDtrust desktop companion for an answer you can check, or a clear next step.</a:t>
            </a:r>
          </a:p>
          <a:p>
            <a:endParaRPr/>
          </a:p>
          <a:p>
            <a:r>
              <a:t>PRESENTER CUES</a:t>
            </a:r>
          </a:p>
          <a:p>
            <a:r>
              <a:t>Open calmly. Introduce the team without adding a separate team slide.</a:t>
            </a:r>
          </a:p>
          <a:p>
            <a:endParaRPr/>
          </a:p>
          <a:p>
            <a:r>
              <a:t>EVIDENCE BOUNDARY</a:t>
            </a:r>
          </a:p>
          <a:p>
            <a:r>
              <a:t>Product proposition. The approved Finn artwork and desktop surfaces exist. No live app was operated to create this presentation.</a:t>
            </a:r>
          </a:p>
          <a:p>
            <a:endParaRPr/>
          </a:p>
          <a:p>
            <a:r>
              <a:t>SOURCES</a:t>
            </a:r>
          </a:p>
          <a:p>
            <a:r>
              <a:t>README.md: product intent and product surfaces</a:t>
            </a:r>
          </a:p>
          <a:p>
            <a:r>
              <a:t>Finals Guide, page 10: fragmented knowledge and calm technology</a:t>
            </a:r>
          </a:p>
          <a:p>
            <a:r>
              <a:t>docs/design/finn.png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Fragmented knowledge</a:t>
            </a:r>
          </a:p>
          <a:p>
            <a:r>
              <a:t>Timing: 20 seconds.</a:t>
            </a:r>
          </a:p>
          <a:p>
            <a:endParaRPr/>
          </a:p>
          <a:p>
            <a:r>
              <a:t>SPEAK</a:t>
            </a:r>
          </a:p>
          <a:p>
            <a:r>
              <a:t>In our synthetic Atlas case, a procedure says the twentieth. A client agreement says the twenty second. Teams mentions the twenty third and twenty fifth. Which source actually applies to this client, country and month?</a:t>
            </a:r>
          </a:p>
          <a:p>
            <a:endParaRPr/>
          </a:p>
          <a:p>
            <a:r>
              <a:t>PRESENTER CUES</a:t>
            </a:r>
          </a:p>
          <a:p>
            <a:r>
              <a:t>These are October 2026 fixture dates, not competing real SD Worx policies. Do not call every source an approved rule.</a:t>
            </a:r>
          </a:p>
          <a:p>
            <a:endParaRPr/>
          </a:p>
          <a:p>
            <a:r>
              <a:t>EVIDENCE BOUNDARY</a:t>
            </a:r>
          </a:p>
          <a:p>
            <a:r>
              <a:t>Scripted fixture content. No measured claim about how much time employees currently spend searching.</a:t>
            </a:r>
          </a:p>
          <a:p>
            <a:endParaRPr/>
          </a:p>
          <a:p>
            <a:r>
              <a:t>SOURCES</a:t>
            </a:r>
          </a:p>
          <a:p>
            <a:r>
              <a:t>apps/web/src/state/finn-scenarios.ts: loonmutatieSources, S1, S4, S10, S3</a:t>
            </a:r>
          </a:p>
          <a:p>
            <a:r>
              <a:t>Finals Guide, page 10: knowledge loses context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Meet Finn</a:t>
            </a:r>
          </a:p>
          <a:p>
            <a:r>
              <a:t>Timing: 15 seconds.</a:t>
            </a:r>
          </a:p>
          <a:p>
            <a:endParaRPr/>
          </a:p>
          <a:p>
            <a:r>
              <a:t>SPEAK</a:t>
            </a:r>
          </a:p>
          <a:p>
            <a:r>
              <a:t>Finn keeps the interaction small. Ask, see the answer, and open the evidence when needed. If evidence is missing, the experience changes from answering to finding the person who can help.</a:t>
            </a:r>
          </a:p>
          <a:p>
            <a:endParaRPr/>
          </a:p>
          <a:p>
            <a:r>
              <a:t>PRESENTER CUES</a:t>
            </a:r>
          </a:p>
          <a:p>
            <a:r>
              <a:t>The question matcher supports the prepared demo questions. Do not suggest arbitrary question coverage. Owner lookup and contact are fixture data.</a:t>
            </a:r>
          </a:p>
          <a:p>
            <a:endParaRPr/>
          </a:p>
          <a:p>
            <a:r>
              <a:t>EVIDENCE BOUNDARY</a:t>
            </a:r>
          </a:p>
          <a:p>
            <a:r>
              <a:t>Prototype source inspected: desktop UI and fixture playback. Full natural language understanding and live search are not demonstrated by this flow.</a:t>
            </a:r>
          </a:p>
          <a:p>
            <a:endParaRPr/>
          </a:p>
          <a:p>
            <a:r>
              <a:t>SOURCES</a:t>
            </a:r>
          </a:p>
          <a:p>
            <a:r>
              <a:t>apps/web/src/state/finn.ts: match, playFixture, startQuestion</a:t>
            </a:r>
          </a:p>
          <a:p>
            <a:r>
              <a:t>apps/web/src/components/FinnResultContent.tsx: evidence and next step</a:t>
            </a:r>
          </a:p>
          <a:p>
            <a:r>
              <a:t>docs/design/finn_pet_refined/session_status.json: approved waving body_lock_03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 demo</a:t>
            </a:r>
          </a:p>
          <a:p>
            <a:r>
              <a:t>Timing: 45 seconds.</a:t>
            </a:r>
          </a:p>
          <a:p>
            <a:endParaRPr/>
          </a:p>
          <a:p>
            <a:r>
              <a:t>SPEAK</a:t>
            </a:r>
          </a:p>
          <a:p>
            <a:r>
              <a:t>This first prototype uses scripted questions and synthetic records. We ask when Atlas can submit payroll changes. Finn shows the twenty second of October and the approved client agreement. We open the evidence to see why the other dates do not apply. Then we ask: and for next month?</a:t>
            </a:r>
          </a:p>
          <a:p>
            <a:endParaRPr/>
          </a:p>
          <a:p>
            <a:r>
              <a:t>PRESENTER CUES</a:t>
            </a:r>
          </a:p>
          <a:p>
            <a:r>
              <a:t>0 to 10 seconds: ask “Until when can Atlas submit payroll changes?”</a:t>
            </a:r>
          </a:p>
          <a:p>
            <a:r>
              <a:t>10 to 25 seconds: show 22 October and open View details or Why this source.</a:t>
            </a:r>
          </a:p>
          <a:p>
            <a:r>
              <a:t>25 to 35 seconds: point to S4 and one rejected source.</a:t>
            </a:r>
          </a:p>
          <a:p>
            <a:r>
              <a:t>35 to 45 seconds: ask “And for next month?” and show the evidence gap.</a:t>
            </a:r>
          </a:p>
          <a:p>
            <a:r>
              <a:t>Replace this placeholder with a final verified recording or current screenshot before submission. If the jury device has no working demo, use slides 5 and 6 as the editable fallback. The guide warns that the jury uses its own device. No video or live link is embedded in v1.</a:t>
            </a:r>
          </a:p>
          <a:p>
            <a:endParaRPr/>
          </a:p>
          <a:p>
            <a:r>
              <a:t>EVIDENCE BOUNDARY</a:t>
            </a:r>
          </a:p>
          <a:p>
            <a:r>
              <a:t>Scripted fixture flow, not live connector search. The inspected frontend matches questions and replays in memory. The README describes a broader future scripted agent with real tools, but this is not proven by the current frontend flow.</a:t>
            </a:r>
          </a:p>
          <a:p>
            <a:endParaRPr/>
          </a:p>
          <a:p>
            <a:r>
              <a:t>SOURCES</a:t>
            </a:r>
          </a:p>
          <a:p>
            <a:r>
              <a:t>Finals Guide, page 4: three minutes, five minutes of questions, jury device</a:t>
            </a:r>
          </a:p>
          <a:p>
            <a:r>
              <a:t>apps/web/src/state/finn.ts: match and playFixture</a:t>
            </a:r>
          </a:p>
          <a:p>
            <a:r>
              <a:t>apps/web/src/state/finn-scenarios.ts: d1October and d1November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22 October applies</a:t>
            </a:r>
          </a:p>
          <a:p>
            <a:r>
              <a:t>Timing: 20 seconds.</a:t>
            </a:r>
          </a:p>
          <a:p>
            <a:endParaRPr/>
          </a:p>
          <a:p>
            <a:r>
              <a:t>SPEAK</a:t>
            </a:r>
          </a:p>
          <a:p>
            <a:r>
              <a:t>The account owner approved the Atlas agreement for Belgium in October. It overrides the general deadline. The other dates are proposals or recollections. Finn makes that distinction visible, with the source behind the answer.</a:t>
            </a:r>
          </a:p>
          <a:p>
            <a:endParaRPr/>
          </a:p>
          <a:p>
            <a:r>
              <a:t>PRESENTER CUES</a:t>
            </a:r>
          </a:p>
          <a:p>
            <a:r>
              <a:t>Use this slide as the first demo fallback. Avoid reading a confidence percentage as calibrated accuracy. The fixture contains 0.92, but this is a scripted score, not an evaluation result.</a:t>
            </a:r>
          </a:p>
          <a:p>
            <a:endParaRPr/>
          </a:p>
          <a:p>
            <a:r>
              <a:t>EVIDENCE BOUNDARY</a:t>
            </a:r>
          </a:p>
          <a:p>
            <a:r>
              <a:t>Fixture reasoning and UI source display are present in inspected code. Trust scores and applicability decisions are authored fixture values, not independently computed or validated predictions.</a:t>
            </a:r>
          </a:p>
          <a:p>
            <a:endParaRPr/>
          </a:p>
          <a:p>
            <a:r>
              <a:t>SOURCES</a:t>
            </a:r>
          </a:p>
          <a:p>
            <a:r>
              <a:t>apps/web/src/state/finn-scenarios.ts: d1October, loonmutatieSources</a:t>
            </a:r>
          </a:p>
          <a:p>
            <a:r>
              <a:t>apps/web/src/components/FinnResultContent.tsx: answer sources and Why this source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right next step</a:t>
            </a:r>
          </a:p>
          <a:p>
            <a:r>
              <a:t>Timing: 15 seconds.</a:t>
            </a:r>
          </a:p>
          <a:p>
            <a:endParaRPr/>
          </a:p>
          <a:p>
            <a:r>
              <a:t>SPEAK</a:t>
            </a:r>
          </a:p>
          <a:p>
            <a:r>
              <a:t>For November, Finn does not recycle October’s answer. It shows the missing evidence and identifies Roy, the Atlas owner. Contact is simulated here. A real message and reply loop comes next.</a:t>
            </a:r>
          </a:p>
          <a:p>
            <a:endParaRPr/>
          </a:p>
          <a:p>
            <a:r>
              <a:t>PRESENTER CUES</a:t>
            </a:r>
          </a:p>
          <a:p>
            <a:r>
              <a:t>Use this slide as the second demo fallback. Do not say that Finn has actually sent a Teams message. In the fixture, all October sources are no longer applicable to November, including the general rule.</a:t>
            </a:r>
          </a:p>
          <a:p>
            <a:endParaRPr/>
          </a:p>
          <a:p>
            <a:r>
              <a:t>EVIDENCE BOUNDARY</a:t>
            </a:r>
          </a:p>
          <a:p>
            <a:r>
              <a:t>The null answer, owner and proposed message are fixture values. The UI explicitly says simulated contact. No external message has been sent.</a:t>
            </a:r>
          </a:p>
          <a:p>
            <a:endParaRPr/>
          </a:p>
          <a:p>
            <a:r>
              <a:t>SOURCES</a:t>
            </a:r>
          </a:p>
          <a:p>
            <a:r>
              <a:t>apps/web/src/state/finn-scenarios.ts: d1November, nextStep</a:t>
            </a:r>
          </a:p>
          <a:p>
            <a:r>
              <a:t>apps/web/src/components/FinnResultContent.tsx: Simulated contact in this demo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Sick leave example</a:t>
            </a:r>
          </a:p>
          <a:p>
            <a:r>
              <a:t>Timing: 15 seconds.</a:t>
            </a:r>
          </a:p>
          <a:p>
            <a:endParaRPr/>
          </a:p>
          <a:p>
            <a:r>
              <a:t>SPEAK</a:t>
            </a:r>
          </a:p>
          <a:p>
            <a:r>
              <a:t>In our synthetic sick leave case, the approved procedure says twenty four hours. Forty eight is unconfirmed. Seventy two comes from an expired version. The status of the source matters.</a:t>
            </a:r>
          </a:p>
          <a:p>
            <a:endParaRPr/>
          </a:p>
          <a:p>
            <a:r>
              <a:t>PRESENTER CUES</a:t>
            </a:r>
          </a:p>
          <a:p>
            <a:r>
              <a:t>Optional cut if the live demo runs long. These are synthetic fixture policy values, not real Belgian legal requirements. Do not present them as guidance to SD Worx clients.</a:t>
            </a:r>
          </a:p>
          <a:p>
            <a:endParaRPr/>
          </a:p>
          <a:p>
            <a:r>
              <a:t>EVIDENCE BOUNDARY</a:t>
            </a:r>
          </a:p>
          <a:p>
            <a:r>
              <a:t>d2 fixture content only. Not an independent policy, legal or payroll validation. The fixture score 0.85 is authored, not calibrated.</a:t>
            </a:r>
          </a:p>
          <a:p>
            <a:endParaRPr/>
          </a:p>
          <a:p>
            <a:r>
              <a:t>SOURCES</a:t>
            </a:r>
          </a:p>
          <a:p>
            <a:r>
              <a:t>apps/web/src/state/finn-scenarios.ts: d2, S6, S7, S34, S32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Value and next step</a:t>
            </a:r>
          </a:p>
          <a:p>
            <a:r>
              <a:t>Timing: 25 seconds.</a:t>
            </a:r>
          </a:p>
          <a:p>
            <a:endParaRPr/>
          </a:p>
          <a:p>
            <a:r>
              <a:t>SPEAK</a:t>
            </a:r>
          </a:p>
          <a:p>
            <a:r>
              <a:t>For SD Worx, everyday expertise becomes easier to use, with uncertainty in view. Next, we would pilot authorised sources and real colleague confirmation in one workflow, measuring time to a supported answer and interruptions to experts. Less searching, with better judgement.</a:t>
            </a:r>
          </a:p>
          <a:p>
            <a:endParaRPr/>
          </a:p>
          <a:p>
            <a:r>
              <a:t>PRESENTER CUES</a:t>
            </a:r>
          </a:p>
          <a:p>
            <a:r>
              <a:t>End here within 170 seconds. Leave ten seconds of safety margin. These are proposed pilot metrics, not measured savings. The safe connection and access controls are future pilot requirements, not a claim of a completed security review. Keep the completed Aikido evidence ready separately for submission and questions.</a:t>
            </a:r>
          </a:p>
          <a:p>
            <a:endParaRPr/>
          </a:p>
          <a:p>
            <a:r>
              <a:t>EVIDENCE BOUNDARY</a:t>
            </a:r>
          </a:p>
          <a:p>
            <a:r>
              <a:t>Value hypothesis and roadmap. Real connectors, permission enforcement over enterprise sources, ongoing freshness monitoring, colleague replies and knowledge reuse remain future work. Voice is deliberately excluded. No security scan result is asserted.</a:t>
            </a:r>
          </a:p>
          <a:p>
            <a:endParaRPr/>
          </a:p>
          <a:p>
            <a:r>
              <a:t>SOURCES</a:t>
            </a:r>
          </a:p>
          <a:p>
            <a:r>
              <a:t>Finals Guide, pages 6, 10, 11 and 12: criteria, challenge and Aikido requirements</a:t>
            </a:r>
          </a:p>
          <a:p>
            <a:r>
              <a:t>README.md: challenge coverage, privacy, stretch goals and source choices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D46"/>
        </a:solidFill>
        <a:effectLst/>
      </p:bgPr>
    </p:bg>
    <p:spTree>
      <p:nvGrpSpPr>
        <p:cNvPr id="1" name=""/>
        <p:cNvGrpSpPr/>
        <p:nvPr/>
      </p:nvGrpSpPr>
      <p:grpSpPr>
        <a:xfrm>
          <a:off x="0" y="0"/>
          <a:ext cx="0" cy="0"/>
          <a:chOff x="0" y="0"/>
          <a:chExt cx="0" cy="0"/>
        </a:xfrm>
      </p:grpSpPr>
      <p:sp>
        <p:nvSpPr>
          <p:cNvPr id="2" name="Text: SDtrust"/>
          <p:cNvSpPr txBox="1"/>
          <p:nvPr/>
        </p:nvSpPr>
        <p:spPr>
          <a:xfrm>
            <a:off x="1069848" y="347472"/>
            <a:ext cx="1920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F8F6F1"/>
                </a:solidFill>
                <a:latin typeface="Manrope"/>
              </a:defRPr>
            </a:pPr>
            <a:r>
              <a:t>SDtrust</a:t>
            </a:r>
          </a:p>
        </p:txBody>
      </p:sp>
      <p:sp>
        <p:nvSpPr>
          <p:cNvPr id="3" name="Text: THE IDEA"/>
          <p:cNvSpPr txBox="1"/>
          <p:nvPr/>
        </p:nvSpPr>
        <p:spPr>
          <a:xfrm>
            <a:off x="8275320" y="448056"/>
            <a:ext cx="3291840" cy="256032"/>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D6DEE8"/>
                </a:solidFill>
                <a:latin typeface="Manrope"/>
              </a:defRPr>
            </a:pPr>
            <a:r>
              <a:t>THE IDEA</a:t>
            </a:r>
          </a:p>
        </p:txBody>
      </p:sp>
      <p:sp>
        <p:nvSpPr>
          <p:cNvPr id="4" name="Text: Tectonic Hackathon · SD Worx · Draft v1"/>
          <p:cNvSpPr txBox="1"/>
          <p:nvPr/>
        </p:nvSpPr>
        <p:spPr>
          <a:xfrm>
            <a:off x="621792" y="6419088"/>
            <a:ext cx="9418320" cy="228600"/>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D6DEE8"/>
                </a:solidFill>
                <a:latin typeface="Manrope"/>
              </a:defRPr>
            </a:pPr>
            <a:r>
              <a:t>Tectonic Hackathon · SD Worx · Draft v1</a:t>
            </a:r>
          </a:p>
        </p:txBody>
      </p:sp>
      <p:sp>
        <p:nvSpPr>
          <p:cNvPr id="5" name="Text: 01"/>
          <p:cNvSpPr txBox="1"/>
          <p:nvPr/>
        </p:nvSpPr>
        <p:spPr>
          <a:xfrm>
            <a:off x="11155680" y="6391656"/>
            <a:ext cx="457200" cy="256032"/>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D6DEE8"/>
                </a:solidFill>
                <a:latin typeface="Manrope"/>
              </a:defRPr>
            </a:pPr>
            <a:r>
              <a:t>01</a:t>
            </a:r>
          </a:p>
        </p:txBody>
      </p:sp>
      <p:sp>
        <p:nvSpPr>
          <p:cNvPr id="6" name="Rectangle 5"/>
          <p:cNvSpPr/>
          <p:nvPr/>
        </p:nvSpPr>
        <p:spPr>
          <a:xfrm>
            <a:off x="640080" y="1298448"/>
            <a:ext cx="713232" cy="54864"/>
          </a:xfrm>
          <a:prstGeom prst="rect">
            <a:avLst/>
          </a:prstGeom>
          <a:solidFill>
            <a:srgbClr val="EE6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The answer. And the right next step."/>
          <p:cNvSpPr txBox="1"/>
          <p:nvPr/>
        </p:nvSpPr>
        <p:spPr>
          <a:xfrm>
            <a:off x="640080" y="1645920"/>
            <a:ext cx="7406640" cy="2468880"/>
          </a:xfrm>
          <a:prstGeom prst="rect">
            <a:avLst/>
          </a:prstGeom>
          <a:noFill/>
        </p:spPr>
        <p:txBody>
          <a:bodyPr wrap="square" lIns="0" tIns="0" rIns="0" bIns="0" anchor="t">
            <a:spAutoFit/>
          </a:bodyPr>
          <a:lstStyle/>
          <a:p>
            <a:pPr marL="0" indent="0">
              <a:lnSpc>
                <a:spcPct val="108000"/>
              </a:lnSpc>
              <a:spcBef>
                <a:spcPts val="0"/>
              </a:spcBef>
              <a:spcAft>
                <a:spcPts val="0"/>
              </a:spcAft>
              <a:defRPr sz="4700" b="1">
                <a:solidFill>
                  <a:srgbClr val="F8F6F1"/>
                </a:solidFill>
                <a:latin typeface="Manrope"/>
              </a:defRPr>
            </a:pPr>
            <a:r>
              <a:t>The answer.</a:t>
            </a:r>
          </a:p>
          <a:p>
            <a:pPr marL="0" indent="0">
              <a:lnSpc>
                <a:spcPct val="108000"/>
              </a:lnSpc>
              <a:spcBef>
                <a:spcPts val="0"/>
              </a:spcBef>
              <a:spcAft>
                <a:spcPts val="0"/>
              </a:spcAft>
              <a:defRPr sz="4700" b="1">
                <a:solidFill>
                  <a:srgbClr val="F8F6F1"/>
                </a:solidFill>
                <a:latin typeface="Manrope"/>
              </a:defRPr>
            </a:pPr>
            <a:r>
              <a:t>And the right</a:t>
            </a:r>
          </a:p>
          <a:p>
            <a:pPr marL="0" indent="0">
              <a:lnSpc>
                <a:spcPct val="108000"/>
              </a:lnSpc>
              <a:spcBef>
                <a:spcPts val="0"/>
              </a:spcBef>
              <a:spcAft>
                <a:spcPts val="0"/>
              </a:spcAft>
              <a:defRPr sz="4700" b="1">
                <a:solidFill>
                  <a:srgbClr val="F8F6F1"/>
                </a:solidFill>
                <a:latin typeface="Manrope"/>
              </a:defRPr>
            </a:pPr>
            <a:r>
              <a:t>next step.</a:t>
            </a:r>
          </a:p>
        </p:txBody>
      </p:sp>
      <p:sp>
        <p:nvSpPr>
          <p:cNvPr id="8" name="Text: Meet Finn, your SDtrust knowledge companion."/>
          <p:cNvSpPr txBox="1"/>
          <p:nvPr/>
        </p:nvSpPr>
        <p:spPr>
          <a:xfrm>
            <a:off x="676656" y="4572000"/>
            <a:ext cx="7406640" cy="731520"/>
          </a:xfrm>
          <a:prstGeom prst="rect">
            <a:avLst/>
          </a:prstGeom>
          <a:noFill/>
        </p:spPr>
        <p:txBody>
          <a:bodyPr wrap="square" lIns="0" tIns="0" rIns="0" bIns="0" anchor="t">
            <a:spAutoFit/>
          </a:bodyPr>
          <a:lstStyle/>
          <a:p>
            <a:pPr marL="0" indent="0">
              <a:lnSpc>
                <a:spcPct val="108000"/>
              </a:lnSpc>
              <a:spcBef>
                <a:spcPts val="0"/>
              </a:spcBef>
              <a:spcAft>
                <a:spcPts val="0"/>
              </a:spcAft>
              <a:defRPr sz="2500" b="0">
                <a:solidFill>
                  <a:srgbClr val="D6DEE8"/>
                </a:solidFill>
                <a:latin typeface="Manrope"/>
              </a:defRPr>
            </a:pPr>
            <a:r>
              <a:t>Meet Finn, your SDtrust knowledge companion.</a:t>
            </a:r>
          </a:p>
        </p:txBody>
      </p:sp>
      <p:sp>
        <p:nvSpPr>
          <p:cNvPr id="9" name="Text: Sebastian · Roy · Wanne"/>
          <p:cNvSpPr txBox="1"/>
          <p:nvPr/>
        </p:nvSpPr>
        <p:spPr>
          <a:xfrm>
            <a:off x="676656" y="5623560"/>
            <a:ext cx="7315200" cy="384048"/>
          </a:xfrm>
          <a:prstGeom prst="rect">
            <a:avLst/>
          </a:prstGeom>
          <a:noFill/>
        </p:spPr>
        <p:txBody>
          <a:bodyPr wrap="square" lIns="0" tIns="0" rIns="0" bIns="0" anchor="t">
            <a:spAutoFit/>
          </a:bodyPr>
          <a:lstStyle/>
          <a:p>
            <a:pPr marL="0" indent="0">
              <a:lnSpc>
                <a:spcPct val="108000"/>
              </a:lnSpc>
              <a:spcBef>
                <a:spcPts val="0"/>
              </a:spcBef>
              <a:spcAft>
                <a:spcPts val="0"/>
              </a:spcAft>
              <a:defRPr sz="1800" b="0">
                <a:solidFill>
                  <a:srgbClr val="D6DEE8"/>
                </a:solidFill>
                <a:latin typeface="Manrope"/>
              </a:defRPr>
            </a:pPr>
            <a:r>
              <a:t>Sebastian · Roy · Wanne</a:t>
            </a:r>
          </a:p>
        </p:txBody>
      </p:sp>
      <p:pic>
        <p:nvPicPr>
          <p:cNvPr id="10" name="Approved asset: Finn.png" descr="Finn.png"/>
          <p:cNvPicPr>
            <a:picLocks noChangeAspect="1"/>
          </p:cNvPicPr>
          <p:nvPr/>
        </p:nvPicPr>
        <p:blipFill>
          <a:blip r:embed="rId3"/>
          <a:stretch>
            <a:fillRect/>
          </a:stretch>
        </p:blipFill>
        <p:spPr>
          <a:xfrm>
            <a:off x="8321040" y="2048255"/>
            <a:ext cx="3200400" cy="3200400"/>
          </a:xfrm>
          <a:prstGeom prst="rect">
            <a:avLst/>
          </a:prstGeom>
        </p:spPr>
      </p:pic>
      <p:pic>
        <p:nvPicPr>
          <p:cNvPr id="12" name="Official SDtrust SVG">
            <a:extLst>
              <a:ext uri="{FF2B5EF4-FFF2-40B4-BE49-F238E27FC236}">
                <a16:creationId xmlns:a16="http://schemas.microsoft.com/office/drawing/2014/main" id="{496E9EEA-8E00-AAAD-2753-7ED3713D7E80}"/>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33528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Text: SDtrust"/>
          <p:cNvSpPr txBox="1"/>
          <p:nvPr/>
        </p:nvSpPr>
        <p:spPr>
          <a:xfrm>
            <a:off x="1069848" y="347472"/>
            <a:ext cx="1920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192D46"/>
                </a:solidFill>
                <a:latin typeface="Manrope"/>
              </a:defRPr>
            </a:pPr>
            <a:r>
              <a:t>SDtrust</a:t>
            </a:r>
          </a:p>
        </p:txBody>
      </p:sp>
      <p:sp>
        <p:nvSpPr>
          <p:cNvPr id="3" name="Text: THE PROBLEM"/>
          <p:cNvSpPr txBox="1"/>
          <p:nvPr/>
        </p:nvSpPr>
        <p:spPr>
          <a:xfrm>
            <a:off x="8275320" y="448056"/>
            <a:ext cx="3291840" cy="256032"/>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THE PROBLEM</a:t>
            </a:r>
          </a:p>
        </p:txBody>
      </p:sp>
      <p:sp>
        <p:nvSpPr>
          <p:cNvPr id="4" name="Text: Tectonic Hackathon · SD Worx · Draft v1"/>
          <p:cNvSpPr txBox="1"/>
          <p:nvPr/>
        </p:nvSpPr>
        <p:spPr>
          <a:xfrm>
            <a:off x="621792" y="6419088"/>
            <a:ext cx="9418320" cy="228600"/>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Tectonic Hackathon · SD Worx · Draft v1</a:t>
            </a:r>
          </a:p>
        </p:txBody>
      </p:sp>
      <p:sp>
        <p:nvSpPr>
          <p:cNvPr id="5" name="Text: 02"/>
          <p:cNvSpPr txBox="1"/>
          <p:nvPr/>
        </p:nvSpPr>
        <p:spPr>
          <a:xfrm>
            <a:off x="11155680" y="6391656"/>
            <a:ext cx="457200" cy="256032"/>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5F6F85"/>
                </a:solidFill>
                <a:latin typeface="Manrope"/>
              </a:defRPr>
            </a:pPr>
            <a:r>
              <a:t>02</a:t>
            </a:r>
          </a:p>
        </p:txBody>
      </p:sp>
      <p:sp>
        <p:nvSpPr>
          <p:cNvPr id="6" name="Text: One client. Four different deadlines."/>
          <p:cNvSpPr txBox="1"/>
          <p:nvPr/>
        </p:nvSpPr>
        <p:spPr>
          <a:xfrm>
            <a:off x="640080" y="1143000"/>
            <a:ext cx="10881360" cy="1078992"/>
          </a:xfrm>
          <a:prstGeom prst="rect">
            <a:avLst/>
          </a:prstGeom>
          <a:noFill/>
        </p:spPr>
        <p:txBody>
          <a:bodyPr wrap="square" lIns="0" tIns="0" rIns="0" bIns="0" anchor="t">
            <a:spAutoFit/>
          </a:bodyPr>
          <a:lstStyle/>
          <a:p>
            <a:pPr marL="0" indent="0">
              <a:lnSpc>
                <a:spcPct val="108000"/>
              </a:lnSpc>
              <a:spcBef>
                <a:spcPts val="0"/>
              </a:spcBef>
              <a:spcAft>
                <a:spcPts val="0"/>
              </a:spcAft>
              <a:defRPr sz="3600" b="1">
                <a:solidFill>
                  <a:srgbClr val="192D46"/>
                </a:solidFill>
                <a:latin typeface="Manrope"/>
              </a:defRPr>
            </a:pPr>
            <a:r>
              <a:t>One client. Four different deadlines.</a:t>
            </a:r>
          </a:p>
        </p:txBody>
      </p:sp>
      <p:sp>
        <p:nvSpPr>
          <p:cNvPr id="7" name="Text: When can Atlas submit payroll changes?"/>
          <p:cNvSpPr txBox="1"/>
          <p:nvPr/>
        </p:nvSpPr>
        <p:spPr>
          <a:xfrm>
            <a:off x="667512" y="2084831"/>
            <a:ext cx="10789920" cy="502920"/>
          </a:xfrm>
          <a:prstGeom prst="rect">
            <a:avLst/>
          </a:prstGeom>
          <a:noFill/>
        </p:spPr>
        <p:txBody>
          <a:bodyPr wrap="square" lIns="0" tIns="0" rIns="0" bIns="0" anchor="t">
            <a:spAutoFit/>
          </a:bodyPr>
          <a:lstStyle/>
          <a:p>
            <a:pPr marL="0" indent="0">
              <a:lnSpc>
                <a:spcPct val="108000"/>
              </a:lnSpc>
              <a:spcBef>
                <a:spcPts val="0"/>
              </a:spcBef>
              <a:spcAft>
                <a:spcPts val="0"/>
              </a:spcAft>
              <a:defRPr sz="2500" b="0">
                <a:solidFill>
                  <a:srgbClr val="5F6F85"/>
                </a:solidFill>
                <a:latin typeface="Manrope"/>
              </a:defRPr>
            </a:pPr>
            <a:r>
              <a:t>When can Atlas submit payroll changes?</a:t>
            </a:r>
          </a:p>
        </p:txBody>
      </p:sp>
      <p:sp>
        <p:nvSpPr>
          <p:cNvPr id="8" name="Rounded Rectangle 7"/>
          <p:cNvSpPr/>
          <p:nvPr/>
        </p:nvSpPr>
        <p:spPr>
          <a:xfrm>
            <a:off x="667512" y="2880360"/>
            <a:ext cx="2157984" cy="2057400"/>
          </a:xfrm>
          <a:prstGeom prst="roundRect">
            <a:avLst>
              <a:gd name="adj" fmla="val 10000"/>
            </a:avLst>
          </a:prstGeom>
          <a:solidFill>
            <a:srgbClr val="FFFEFD"/>
          </a:solidFill>
          <a:ln w="1270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20"/>
          <p:cNvSpPr txBox="1"/>
          <p:nvPr/>
        </p:nvSpPr>
        <p:spPr>
          <a:xfrm>
            <a:off x="850392" y="3127248"/>
            <a:ext cx="1783080" cy="749808"/>
          </a:xfrm>
          <a:prstGeom prst="rect">
            <a:avLst/>
          </a:prstGeom>
          <a:noFill/>
        </p:spPr>
        <p:txBody>
          <a:bodyPr wrap="square" lIns="0" tIns="0" rIns="0" bIns="0" anchor="t">
            <a:spAutoFit/>
          </a:bodyPr>
          <a:lstStyle/>
          <a:p>
            <a:pPr marL="0" indent="0">
              <a:lnSpc>
                <a:spcPct val="108000"/>
              </a:lnSpc>
              <a:spcBef>
                <a:spcPts val="0"/>
              </a:spcBef>
              <a:spcAft>
                <a:spcPts val="0"/>
              </a:spcAft>
              <a:defRPr sz="4600" b="1">
                <a:solidFill>
                  <a:srgbClr val="192D46"/>
                </a:solidFill>
                <a:latin typeface="Manrope"/>
              </a:defRPr>
            </a:pPr>
            <a:r>
              <a:t>20</a:t>
            </a:r>
          </a:p>
        </p:txBody>
      </p:sp>
      <p:sp>
        <p:nvSpPr>
          <p:cNvPr id="10" name="Text: General rule"/>
          <p:cNvSpPr txBox="1"/>
          <p:nvPr/>
        </p:nvSpPr>
        <p:spPr>
          <a:xfrm>
            <a:off x="850392" y="4041648"/>
            <a:ext cx="1801368" cy="411480"/>
          </a:xfrm>
          <a:prstGeom prst="rect">
            <a:avLst/>
          </a:prstGeom>
          <a:noFill/>
        </p:spPr>
        <p:txBody>
          <a:bodyPr wrap="square" lIns="0" tIns="0" rIns="0" bIns="0" anchor="t">
            <a:spAutoFit/>
          </a:bodyPr>
          <a:lstStyle/>
          <a:p>
            <a:pPr marL="0" indent="0">
              <a:lnSpc>
                <a:spcPct val="108000"/>
              </a:lnSpc>
              <a:spcBef>
                <a:spcPts val="0"/>
              </a:spcBef>
              <a:spcAft>
                <a:spcPts val="0"/>
              </a:spcAft>
              <a:defRPr sz="1600" b="1">
                <a:solidFill>
                  <a:srgbClr val="192D46"/>
                </a:solidFill>
                <a:latin typeface="Manrope"/>
              </a:defRPr>
            </a:pPr>
            <a:r>
              <a:t>General rule</a:t>
            </a:r>
          </a:p>
        </p:txBody>
      </p:sp>
      <p:sp>
        <p:nvSpPr>
          <p:cNvPr id="11" name="Text: S1 · Belgium"/>
          <p:cNvSpPr txBox="1"/>
          <p:nvPr/>
        </p:nvSpPr>
        <p:spPr>
          <a:xfrm>
            <a:off x="850392" y="4572000"/>
            <a:ext cx="1801368" cy="274320"/>
          </a:xfrm>
          <a:prstGeom prst="rect">
            <a:avLst/>
          </a:prstGeom>
          <a:noFill/>
        </p:spPr>
        <p:txBody>
          <a:bodyPr wrap="square" lIns="0" tIns="0" rIns="0" bIns="0" anchor="t">
            <a:spAutoFit/>
          </a:bodyPr>
          <a:lstStyle/>
          <a:p>
            <a:pPr marL="0" indent="0">
              <a:lnSpc>
                <a:spcPct val="108000"/>
              </a:lnSpc>
              <a:spcBef>
                <a:spcPts val="0"/>
              </a:spcBef>
              <a:spcAft>
                <a:spcPts val="0"/>
              </a:spcAft>
              <a:defRPr sz="1300" b="0">
                <a:solidFill>
                  <a:srgbClr val="5F6F85"/>
                </a:solidFill>
                <a:latin typeface="Manrope"/>
              </a:defRPr>
            </a:pPr>
            <a:r>
              <a:t>S1 · Belgium</a:t>
            </a:r>
          </a:p>
        </p:txBody>
      </p:sp>
      <p:sp>
        <p:nvSpPr>
          <p:cNvPr id="12" name="Rounded Rectangle 11"/>
          <p:cNvSpPr/>
          <p:nvPr/>
        </p:nvSpPr>
        <p:spPr>
          <a:xfrm>
            <a:off x="3566160" y="2880360"/>
            <a:ext cx="2157984" cy="2057400"/>
          </a:xfrm>
          <a:prstGeom prst="roundRect">
            <a:avLst>
              <a:gd name="adj" fmla="val 10000"/>
            </a:avLst>
          </a:prstGeom>
          <a:solidFill>
            <a:srgbClr val="FFFEFD"/>
          </a:solidFill>
          <a:ln w="1270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 22"/>
          <p:cNvSpPr txBox="1"/>
          <p:nvPr/>
        </p:nvSpPr>
        <p:spPr>
          <a:xfrm>
            <a:off x="3749039" y="3127248"/>
            <a:ext cx="1783080" cy="749808"/>
          </a:xfrm>
          <a:prstGeom prst="rect">
            <a:avLst/>
          </a:prstGeom>
          <a:noFill/>
        </p:spPr>
        <p:txBody>
          <a:bodyPr wrap="square" lIns="0" tIns="0" rIns="0" bIns="0" anchor="t">
            <a:spAutoFit/>
          </a:bodyPr>
          <a:lstStyle/>
          <a:p>
            <a:pPr marL="0" indent="0">
              <a:lnSpc>
                <a:spcPct val="108000"/>
              </a:lnSpc>
              <a:spcBef>
                <a:spcPts val="0"/>
              </a:spcBef>
              <a:spcAft>
                <a:spcPts val="0"/>
              </a:spcAft>
              <a:defRPr sz="4600" b="1">
                <a:solidFill>
                  <a:srgbClr val="192D46"/>
                </a:solidFill>
                <a:latin typeface="Manrope"/>
              </a:defRPr>
            </a:pPr>
            <a:r>
              <a:t>22</a:t>
            </a:r>
          </a:p>
        </p:txBody>
      </p:sp>
      <p:sp>
        <p:nvSpPr>
          <p:cNvPr id="14" name="Text: Client agreement"/>
          <p:cNvSpPr txBox="1"/>
          <p:nvPr/>
        </p:nvSpPr>
        <p:spPr>
          <a:xfrm>
            <a:off x="3749039" y="4041648"/>
            <a:ext cx="1801368" cy="411480"/>
          </a:xfrm>
          <a:prstGeom prst="rect">
            <a:avLst/>
          </a:prstGeom>
          <a:noFill/>
        </p:spPr>
        <p:txBody>
          <a:bodyPr wrap="square" lIns="0" tIns="0" rIns="0" bIns="0" anchor="t">
            <a:spAutoFit/>
          </a:bodyPr>
          <a:lstStyle/>
          <a:p>
            <a:pPr marL="0" indent="0">
              <a:lnSpc>
                <a:spcPct val="108000"/>
              </a:lnSpc>
              <a:spcBef>
                <a:spcPts val="0"/>
              </a:spcBef>
              <a:spcAft>
                <a:spcPts val="0"/>
              </a:spcAft>
              <a:defRPr sz="1600" b="1">
                <a:solidFill>
                  <a:srgbClr val="192D46"/>
                </a:solidFill>
                <a:latin typeface="Manrope"/>
              </a:defRPr>
            </a:pPr>
            <a:r>
              <a:t>Client agreement</a:t>
            </a:r>
          </a:p>
        </p:txBody>
      </p:sp>
      <p:sp>
        <p:nvSpPr>
          <p:cNvPr id="15" name="Text: S4 · Atlas"/>
          <p:cNvSpPr txBox="1"/>
          <p:nvPr/>
        </p:nvSpPr>
        <p:spPr>
          <a:xfrm>
            <a:off x="3749039" y="4572000"/>
            <a:ext cx="1801368" cy="274320"/>
          </a:xfrm>
          <a:prstGeom prst="rect">
            <a:avLst/>
          </a:prstGeom>
          <a:noFill/>
        </p:spPr>
        <p:txBody>
          <a:bodyPr wrap="square" lIns="0" tIns="0" rIns="0" bIns="0" anchor="t">
            <a:spAutoFit/>
          </a:bodyPr>
          <a:lstStyle/>
          <a:p>
            <a:pPr marL="0" indent="0">
              <a:lnSpc>
                <a:spcPct val="108000"/>
              </a:lnSpc>
              <a:spcBef>
                <a:spcPts val="0"/>
              </a:spcBef>
              <a:spcAft>
                <a:spcPts val="0"/>
              </a:spcAft>
              <a:defRPr sz="1300" b="0">
                <a:solidFill>
                  <a:srgbClr val="5F6F85"/>
                </a:solidFill>
                <a:latin typeface="Manrope"/>
              </a:defRPr>
            </a:pPr>
            <a:r>
              <a:t>S4 · Atlas</a:t>
            </a:r>
          </a:p>
        </p:txBody>
      </p:sp>
      <p:sp>
        <p:nvSpPr>
          <p:cNvPr id="16" name="Rounded Rectangle 15"/>
          <p:cNvSpPr/>
          <p:nvPr/>
        </p:nvSpPr>
        <p:spPr>
          <a:xfrm>
            <a:off x="6464808" y="2880360"/>
            <a:ext cx="2157984" cy="2057400"/>
          </a:xfrm>
          <a:prstGeom prst="roundRect">
            <a:avLst>
              <a:gd name="adj" fmla="val 10000"/>
            </a:avLst>
          </a:prstGeom>
          <a:solidFill>
            <a:srgbClr val="FFFEFD"/>
          </a:solidFill>
          <a:ln w="1270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23"/>
          <p:cNvSpPr txBox="1"/>
          <p:nvPr/>
        </p:nvSpPr>
        <p:spPr>
          <a:xfrm>
            <a:off x="6647688" y="3127248"/>
            <a:ext cx="1783080" cy="749808"/>
          </a:xfrm>
          <a:prstGeom prst="rect">
            <a:avLst/>
          </a:prstGeom>
          <a:noFill/>
        </p:spPr>
        <p:txBody>
          <a:bodyPr wrap="square" lIns="0" tIns="0" rIns="0" bIns="0" anchor="t">
            <a:spAutoFit/>
          </a:bodyPr>
          <a:lstStyle/>
          <a:p>
            <a:pPr marL="0" indent="0">
              <a:lnSpc>
                <a:spcPct val="108000"/>
              </a:lnSpc>
              <a:spcBef>
                <a:spcPts val="0"/>
              </a:spcBef>
              <a:spcAft>
                <a:spcPts val="0"/>
              </a:spcAft>
              <a:defRPr sz="4600" b="1">
                <a:solidFill>
                  <a:srgbClr val="192D46"/>
                </a:solidFill>
                <a:latin typeface="Manrope"/>
              </a:defRPr>
            </a:pPr>
            <a:r>
              <a:t>23</a:t>
            </a:r>
          </a:p>
        </p:txBody>
      </p:sp>
      <p:sp>
        <p:nvSpPr>
          <p:cNvPr id="18" name="Text: Meeting proposal"/>
          <p:cNvSpPr txBox="1"/>
          <p:nvPr/>
        </p:nvSpPr>
        <p:spPr>
          <a:xfrm>
            <a:off x="6647688" y="4041648"/>
            <a:ext cx="1801368" cy="411480"/>
          </a:xfrm>
          <a:prstGeom prst="rect">
            <a:avLst/>
          </a:prstGeom>
          <a:noFill/>
        </p:spPr>
        <p:txBody>
          <a:bodyPr wrap="square" lIns="0" tIns="0" rIns="0" bIns="0" anchor="t">
            <a:spAutoFit/>
          </a:bodyPr>
          <a:lstStyle/>
          <a:p>
            <a:pPr marL="0" indent="0">
              <a:lnSpc>
                <a:spcPct val="108000"/>
              </a:lnSpc>
              <a:spcBef>
                <a:spcPts val="0"/>
              </a:spcBef>
              <a:spcAft>
                <a:spcPts val="0"/>
              </a:spcAft>
              <a:defRPr sz="1600" b="1">
                <a:solidFill>
                  <a:srgbClr val="192D46"/>
                </a:solidFill>
                <a:latin typeface="Manrope"/>
              </a:defRPr>
            </a:pPr>
            <a:r>
              <a:t>Meeting proposal</a:t>
            </a:r>
          </a:p>
        </p:txBody>
      </p:sp>
      <p:sp>
        <p:nvSpPr>
          <p:cNvPr id="19" name="Text: S10 · Teams"/>
          <p:cNvSpPr txBox="1"/>
          <p:nvPr/>
        </p:nvSpPr>
        <p:spPr>
          <a:xfrm>
            <a:off x="6647688" y="4572000"/>
            <a:ext cx="1801368" cy="274320"/>
          </a:xfrm>
          <a:prstGeom prst="rect">
            <a:avLst/>
          </a:prstGeom>
          <a:noFill/>
        </p:spPr>
        <p:txBody>
          <a:bodyPr wrap="square" lIns="0" tIns="0" rIns="0" bIns="0" anchor="t">
            <a:spAutoFit/>
          </a:bodyPr>
          <a:lstStyle/>
          <a:p>
            <a:pPr marL="0" indent="0">
              <a:lnSpc>
                <a:spcPct val="108000"/>
              </a:lnSpc>
              <a:spcBef>
                <a:spcPts val="0"/>
              </a:spcBef>
              <a:spcAft>
                <a:spcPts val="0"/>
              </a:spcAft>
              <a:defRPr sz="1300" b="0">
                <a:solidFill>
                  <a:srgbClr val="5F6F85"/>
                </a:solidFill>
                <a:latin typeface="Manrope"/>
              </a:defRPr>
            </a:pPr>
            <a:r>
              <a:t>S10 · Teams</a:t>
            </a:r>
          </a:p>
        </p:txBody>
      </p:sp>
      <p:sp>
        <p:nvSpPr>
          <p:cNvPr id="20" name="Rounded Rectangle 19"/>
          <p:cNvSpPr/>
          <p:nvPr/>
        </p:nvSpPr>
        <p:spPr>
          <a:xfrm>
            <a:off x="9363456" y="2880360"/>
            <a:ext cx="2157984" cy="2057400"/>
          </a:xfrm>
          <a:prstGeom prst="roundRect">
            <a:avLst>
              <a:gd name="adj" fmla="val 10000"/>
            </a:avLst>
          </a:prstGeom>
          <a:solidFill>
            <a:srgbClr val="FFFEFD"/>
          </a:solidFill>
          <a:ln w="1270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 25"/>
          <p:cNvSpPr txBox="1"/>
          <p:nvPr/>
        </p:nvSpPr>
        <p:spPr>
          <a:xfrm>
            <a:off x="9546336" y="3127248"/>
            <a:ext cx="1783080" cy="749808"/>
          </a:xfrm>
          <a:prstGeom prst="rect">
            <a:avLst/>
          </a:prstGeom>
          <a:noFill/>
        </p:spPr>
        <p:txBody>
          <a:bodyPr wrap="square" lIns="0" tIns="0" rIns="0" bIns="0" anchor="t">
            <a:spAutoFit/>
          </a:bodyPr>
          <a:lstStyle/>
          <a:p>
            <a:pPr marL="0" indent="0">
              <a:lnSpc>
                <a:spcPct val="108000"/>
              </a:lnSpc>
              <a:spcBef>
                <a:spcPts val="0"/>
              </a:spcBef>
              <a:spcAft>
                <a:spcPts val="0"/>
              </a:spcAft>
              <a:defRPr sz="4600" b="1">
                <a:solidFill>
                  <a:srgbClr val="192D46"/>
                </a:solidFill>
                <a:latin typeface="Manrope"/>
              </a:defRPr>
            </a:pPr>
            <a:r>
              <a:t>25</a:t>
            </a:r>
          </a:p>
        </p:txBody>
      </p:sp>
      <p:sp>
        <p:nvSpPr>
          <p:cNvPr id="22" name="Text: Chat recollection"/>
          <p:cNvSpPr txBox="1"/>
          <p:nvPr/>
        </p:nvSpPr>
        <p:spPr>
          <a:xfrm>
            <a:off x="9546336" y="4041648"/>
            <a:ext cx="1801368" cy="411480"/>
          </a:xfrm>
          <a:prstGeom prst="rect">
            <a:avLst/>
          </a:prstGeom>
          <a:noFill/>
        </p:spPr>
        <p:txBody>
          <a:bodyPr wrap="square" lIns="0" tIns="0" rIns="0" bIns="0" anchor="t">
            <a:spAutoFit/>
          </a:bodyPr>
          <a:lstStyle/>
          <a:p>
            <a:pPr marL="0" indent="0">
              <a:lnSpc>
                <a:spcPct val="108000"/>
              </a:lnSpc>
              <a:spcBef>
                <a:spcPts val="0"/>
              </a:spcBef>
              <a:spcAft>
                <a:spcPts val="0"/>
              </a:spcAft>
              <a:defRPr sz="1600" b="1">
                <a:solidFill>
                  <a:srgbClr val="192D46"/>
                </a:solidFill>
                <a:latin typeface="Manrope"/>
              </a:defRPr>
            </a:pPr>
            <a:r>
              <a:t>Chat recollection</a:t>
            </a:r>
          </a:p>
        </p:txBody>
      </p:sp>
      <p:sp>
        <p:nvSpPr>
          <p:cNvPr id="23" name="Text: S3 · Teams"/>
          <p:cNvSpPr txBox="1"/>
          <p:nvPr/>
        </p:nvSpPr>
        <p:spPr>
          <a:xfrm>
            <a:off x="9546336" y="4572000"/>
            <a:ext cx="1801368" cy="274320"/>
          </a:xfrm>
          <a:prstGeom prst="rect">
            <a:avLst/>
          </a:prstGeom>
          <a:noFill/>
        </p:spPr>
        <p:txBody>
          <a:bodyPr wrap="square" lIns="0" tIns="0" rIns="0" bIns="0" anchor="t">
            <a:spAutoFit/>
          </a:bodyPr>
          <a:lstStyle/>
          <a:p>
            <a:pPr marL="0" indent="0">
              <a:lnSpc>
                <a:spcPct val="108000"/>
              </a:lnSpc>
              <a:spcBef>
                <a:spcPts val="0"/>
              </a:spcBef>
              <a:spcAft>
                <a:spcPts val="0"/>
              </a:spcAft>
              <a:defRPr sz="1300" b="0">
                <a:solidFill>
                  <a:srgbClr val="5F6F85"/>
                </a:solidFill>
                <a:latin typeface="Manrope"/>
              </a:defRPr>
            </a:pPr>
            <a:r>
              <a:t>S3 · Teams</a:t>
            </a:r>
          </a:p>
        </p:txBody>
      </p:sp>
      <p:sp>
        <p:nvSpPr>
          <p:cNvPr id="24" name="Text: Finding a message is easy. Knowing what applies is the hard part."/>
          <p:cNvSpPr txBox="1"/>
          <p:nvPr/>
        </p:nvSpPr>
        <p:spPr>
          <a:xfrm>
            <a:off x="676656" y="5413248"/>
            <a:ext cx="10744200" cy="603504"/>
          </a:xfrm>
          <a:prstGeom prst="rect">
            <a:avLst/>
          </a:prstGeom>
          <a:noFill/>
        </p:spPr>
        <p:txBody>
          <a:bodyPr wrap="square" lIns="0" tIns="0" rIns="0" bIns="0" anchor="t">
            <a:spAutoFit/>
          </a:bodyPr>
          <a:lstStyle/>
          <a:p>
            <a:pPr marL="0" indent="0">
              <a:lnSpc>
                <a:spcPct val="108000"/>
              </a:lnSpc>
              <a:spcBef>
                <a:spcPts val="0"/>
              </a:spcBef>
              <a:spcAft>
                <a:spcPts val="0"/>
              </a:spcAft>
              <a:defRPr sz="2500" b="1">
                <a:solidFill>
                  <a:srgbClr val="192D46"/>
                </a:solidFill>
                <a:latin typeface="Manrope"/>
              </a:defRPr>
            </a:pPr>
            <a:r>
              <a:t>Finding a message is easy. Knowing what applies is the hard part.</a:t>
            </a:r>
          </a:p>
        </p:txBody>
      </p:sp>
      <p:pic>
        <p:nvPicPr>
          <p:cNvPr id="26" name="Official SDtrust SVG">
            <a:extLst>
              <a:ext uri="{FF2B5EF4-FFF2-40B4-BE49-F238E27FC236}">
                <a16:creationId xmlns:a16="http://schemas.microsoft.com/office/drawing/2014/main" id="{D6C00783-6F30-C2BF-A291-1521A1DAF5DD}"/>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335280"/>
            <a:ext cx="365760" cy="365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Text: SDtrust"/>
          <p:cNvSpPr txBox="1"/>
          <p:nvPr/>
        </p:nvSpPr>
        <p:spPr>
          <a:xfrm>
            <a:off x="1069848" y="347472"/>
            <a:ext cx="1920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192D46"/>
                </a:solidFill>
                <a:latin typeface="Manrope"/>
              </a:defRPr>
            </a:pPr>
            <a:r>
              <a:t>SDtrust</a:t>
            </a:r>
          </a:p>
        </p:txBody>
      </p:sp>
      <p:sp>
        <p:nvSpPr>
          <p:cNvPr id="3" name="Text: MEET FINN"/>
          <p:cNvSpPr txBox="1"/>
          <p:nvPr/>
        </p:nvSpPr>
        <p:spPr>
          <a:xfrm>
            <a:off x="8275320" y="448056"/>
            <a:ext cx="3291840" cy="256032"/>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MEET FINN</a:t>
            </a:r>
          </a:p>
        </p:txBody>
      </p:sp>
      <p:sp>
        <p:nvSpPr>
          <p:cNvPr id="4" name="Text: Tectonic Hackathon · SD Worx · Draft v1"/>
          <p:cNvSpPr txBox="1"/>
          <p:nvPr/>
        </p:nvSpPr>
        <p:spPr>
          <a:xfrm>
            <a:off x="621792" y="6419088"/>
            <a:ext cx="9418320" cy="228600"/>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Tectonic Hackathon · SD Worx · Draft v1</a:t>
            </a:r>
          </a:p>
        </p:txBody>
      </p:sp>
      <p:sp>
        <p:nvSpPr>
          <p:cNvPr id="5" name="Text: 03"/>
          <p:cNvSpPr txBox="1"/>
          <p:nvPr/>
        </p:nvSpPr>
        <p:spPr>
          <a:xfrm>
            <a:off x="11155680" y="6391656"/>
            <a:ext cx="457200" cy="256032"/>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5F6F85"/>
                </a:solidFill>
                <a:latin typeface="Manrope"/>
              </a:defRPr>
            </a:pPr>
            <a:r>
              <a:t>03</a:t>
            </a:r>
          </a:p>
        </p:txBody>
      </p:sp>
      <p:sp>
        <p:nvSpPr>
          <p:cNvPr id="6" name="Text: Ask once. See the answer and why."/>
          <p:cNvSpPr txBox="1"/>
          <p:nvPr/>
        </p:nvSpPr>
        <p:spPr>
          <a:xfrm>
            <a:off x="640080" y="1143000"/>
            <a:ext cx="10881360" cy="1078992"/>
          </a:xfrm>
          <a:prstGeom prst="rect">
            <a:avLst/>
          </a:prstGeom>
          <a:noFill/>
        </p:spPr>
        <p:txBody>
          <a:bodyPr wrap="square" lIns="0" tIns="0" rIns="0" bIns="0" anchor="t">
            <a:spAutoFit/>
          </a:bodyPr>
          <a:lstStyle/>
          <a:p>
            <a:pPr marL="0" indent="0">
              <a:lnSpc>
                <a:spcPct val="108000"/>
              </a:lnSpc>
              <a:spcBef>
                <a:spcPts val="0"/>
              </a:spcBef>
              <a:spcAft>
                <a:spcPts val="0"/>
              </a:spcAft>
              <a:defRPr sz="3600" b="1">
                <a:solidFill>
                  <a:srgbClr val="192D46"/>
                </a:solidFill>
                <a:latin typeface="Manrope"/>
              </a:defRPr>
            </a:pPr>
            <a:r>
              <a:t>Ask once. See the answer and why.</a:t>
            </a:r>
          </a:p>
        </p:txBody>
      </p:sp>
      <p:pic>
        <p:nvPicPr>
          <p:cNvPr id="7" name="Approved asset: Finn_wave.png" descr="Finn_wave.png"/>
          <p:cNvPicPr>
            <a:picLocks noChangeAspect="1"/>
          </p:cNvPicPr>
          <p:nvPr/>
        </p:nvPicPr>
        <p:blipFill>
          <a:blip r:embed="rId3"/>
          <a:stretch>
            <a:fillRect/>
          </a:stretch>
        </p:blipFill>
        <p:spPr>
          <a:xfrm>
            <a:off x="786384" y="2546223"/>
            <a:ext cx="2423160" cy="2625090"/>
          </a:xfrm>
          <a:prstGeom prst="rect">
            <a:avLst/>
          </a:prstGeom>
        </p:spPr>
      </p:pic>
      <p:sp>
        <p:nvSpPr>
          <p:cNvPr id="8" name="Text: 01"/>
          <p:cNvSpPr txBox="1"/>
          <p:nvPr/>
        </p:nvSpPr>
        <p:spPr>
          <a:xfrm>
            <a:off x="3657600" y="2459736"/>
            <a:ext cx="594360" cy="457200"/>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EE6558"/>
                </a:solidFill>
                <a:latin typeface="Manrope"/>
              </a:defRPr>
            </a:pPr>
            <a:r>
              <a:t>01</a:t>
            </a:r>
          </a:p>
        </p:txBody>
      </p:sp>
      <p:sp>
        <p:nvSpPr>
          <p:cNvPr id="9" name="Text: Ask in your own words"/>
          <p:cNvSpPr txBox="1"/>
          <p:nvPr/>
        </p:nvSpPr>
        <p:spPr>
          <a:xfrm>
            <a:off x="4434840" y="2432304"/>
            <a:ext cx="6492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600" b="1">
                <a:solidFill>
                  <a:srgbClr val="192D46"/>
                </a:solidFill>
                <a:latin typeface="Manrope"/>
              </a:defRPr>
            </a:pPr>
            <a:r>
              <a:t>Ask in your own words</a:t>
            </a:r>
          </a:p>
        </p:txBody>
      </p:sp>
      <p:sp>
        <p:nvSpPr>
          <p:cNvPr id="10" name="Text: One small companion on your desktop."/>
          <p:cNvSpPr txBox="1"/>
          <p:nvPr/>
        </p:nvSpPr>
        <p:spPr>
          <a:xfrm>
            <a:off x="4434840" y="2898648"/>
            <a:ext cx="6766560" cy="457200"/>
          </a:xfrm>
          <a:prstGeom prst="rect">
            <a:avLst/>
          </a:prstGeom>
          <a:noFill/>
        </p:spPr>
        <p:txBody>
          <a:bodyPr wrap="square" lIns="0" tIns="0" rIns="0" bIns="0" anchor="t">
            <a:spAutoFit/>
          </a:bodyPr>
          <a:lstStyle/>
          <a:p>
            <a:pPr marL="0" indent="0">
              <a:lnSpc>
                <a:spcPct val="108000"/>
              </a:lnSpc>
              <a:spcBef>
                <a:spcPts val="0"/>
              </a:spcBef>
              <a:spcAft>
                <a:spcPts val="0"/>
              </a:spcAft>
              <a:defRPr sz="2100" b="0">
                <a:solidFill>
                  <a:srgbClr val="5F6F85"/>
                </a:solidFill>
                <a:latin typeface="Manrope"/>
              </a:defRPr>
            </a:pPr>
            <a:r>
              <a:t>One small companion on your desktop.</a:t>
            </a:r>
          </a:p>
        </p:txBody>
      </p:sp>
      <p:sp>
        <p:nvSpPr>
          <p:cNvPr id="11" name="Text: 02"/>
          <p:cNvSpPr txBox="1"/>
          <p:nvPr/>
        </p:nvSpPr>
        <p:spPr>
          <a:xfrm>
            <a:off x="3657600" y="3529584"/>
            <a:ext cx="594360" cy="457200"/>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EE6558"/>
                </a:solidFill>
                <a:latin typeface="Manrope"/>
              </a:defRPr>
            </a:pPr>
            <a:r>
              <a:t>02</a:t>
            </a:r>
          </a:p>
        </p:txBody>
      </p:sp>
      <p:sp>
        <p:nvSpPr>
          <p:cNvPr id="12" name="Text: Check the evidence"/>
          <p:cNvSpPr txBox="1"/>
          <p:nvPr/>
        </p:nvSpPr>
        <p:spPr>
          <a:xfrm>
            <a:off x="4434840" y="3502152"/>
            <a:ext cx="6492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600" b="1">
                <a:solidFill>
                  <a:srgbClr val="192D46"/>
                </a:solidFill>
                <a:latin typeface="Manrope"/>
              </a:defRPr>
            </a:pPr>
            <a:r>
              <a:t>Check the evidence</a:t>
            </a:r>
          </a:p>
        </p:txBody>
      </p:sp>
      <p:sp>
        <p:nvSpPr>
          <p:cNvPr id="13" name="Text: The answer, its sources and the reasons."/>
          <p:cNvSpPr txBox="1"/>
          <p:nvPr/>
        </p:nvSpPr>
        <p:spPr>
          <a:xfrm>
            <a:off x="4434840" y="3968496"/>
            <a:ext cx="6766560" cy="457200"/>
          </a:xfrm>
          <a:prstGeom prst="rect">
            <a:avLst/>
          </a:prstGeom>
          <a:noFill/>
        </p:spPr>
        <p:txBody>
          <a:bodyPr wrap="square" lIns="0" tIns="0" rIns="0" bIns="0" anchor="t">
            <a:spAutoFit/>
          </a:bodyPr>
          <a:lstStyle/>
          <a:p>
            <a:pPr marL="0" indent="0">
              <a:lnSpc>
                <a:spcPct val="108000"/>
              </a:lnSpc>
              <a:spcBef>
                <a:spcPts val="0"/>
              </a:spcBef>
              <a:spcAft>
                <a:spcPts val="0"/>
              </a:spcAft>
              <a:defRPr sz="2100" b="0">
                <a:solidFill>
                  <a:srgbClr val="5F6F85"/>
                </a:solidFill>
                <a:latin typeface="Manrope"/>
              </a:defRPr>
            </a:pPr>
            <a:r>
              <a:t>The answer, its sources and the reasons.</a:t>
            </a:r>
          </a:p>
        </p:txBody>
      </p:sp>
      <p:sp>
        <p:nvSpPr>
          <p:cNvPr id="14" name="Text: 03"/>
          <p:cNvSpPr txBox="1"/>
          <p:nvPr/>
        </p:nvSpPr>
        <p:spPr>
          <a:xfrm>
            <a:off x="3657600" y="4599432"/>
            <a:ext cx="594360" cy="457200"/>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EE6558"/>
                </a:solidFill>
                <a:latin typeface="Manrope"/>
              </a:defRPr>
            </a:pPr>
            <a:r>
              <a:t>03</a:t>
            </a:r>
          </a:p>
        </p:txBody>
      </p:sp>
      <p:sp>
        <p:nvSpPr>
          <p:cNvPr id="15" name="Text: Know what comes next"/>
          <p:cNvSpPr txBox="1"/>
          <p:nvPr/>
        </p:nvSpPr>
        <p:spPr>
          <a:xfrm>
            <a:off x="4434840" y="4572000"/>
            <a:ext cx="6492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600" b="1">
                <a:solidFill>
                  <a:srgbClr val="192D46"/>
                </a:solidFill>
                <a:latin typeface="Manrope"/>
              </a:defRPr>
            </a:pPr>
            <a:r>
              <a:t>Know what comes next</a:t>
            </a:r>
          </a:p>
        </p:txBody>
      </p:sp>
      <p:sp>
        <p:nvSpPr>
          <p:cNvPr id="16" name="Text: If evidence is missing, surface the owner."/>
          <p:cNvSpPr txBox="1"/>
          <p:nvPr/>
        </p:nvSpPr>
        <p:spPr>
          <a:xfrm>
            <a:off x="4434840" y="5038344"/>
            <a:ext cx="6766560" cy="457200"/>
          </a:xfrm>
          <a:prstGeom prst="rect">
            <a:avLst/>
          </a:prstGeom>
          <a:noFill/>
        </p:spPr>
        <p:txBody>
          <a:bodyPr wrap="square" lIns="0" tIns="0" rIns="0" bIns="0" anchor="t">
            <a:spAutoFit/>
          </a:bodyPr>
          <a:lstStyle/>
          <a:p>
            <a:pPr marL="0" indent="0">
              <a:lnSpc>
                <a:spcPct val="108000"/>
              </a:lnSpc>
              <a:spcBef>
                <a:spcPts val="0"/>
              </a:spcBef>
              <a:spcAft>
                <a:spcPts val="0"/>
              </a:spcAft>
              <a:defRPr sz="2100" b="0">
                <a:solidFill>
                  <a:srgbClr val="5F6F85"/>
                </a:solidFill>
                <a:latin typeface="Manrope"/>
              </a:defRPr>
            </a:pPr>
            <a:r>
              <a:t>If evidence is missing, surface the owner.</a:t>
            </a:r>
          </a:p>
        </p:txBody>
      </p:sp>
      <p:pic>
        <p:nvPicPr>
          <p:cNvPr id="18" name="Official SDtrust SVG">
            <a:extLst>
              <a:ext uri="{FF2B5EF4-FFF2-40B4-BE49-F238E27FC236}">
                <a16:creationId xmlns:a16="http://schemas.microsoft.com/office/drawing/2014/main" id="{B1DA6745-94DB-ADC2-FAB2-746A31072C29}"/>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640080" y="335280"/>
            <a:ext cx="365760" cy="365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Text: SDtrust"/>
          <p:cNvSpPr txBox="1"/>
          <p:nvPr/>
        </p:nvSpPr>
        <p:spPr>
          <a:xfrm>
            <a:off x="1069848" y="347472"/>
            <a:ext cx="1920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192D46"/>
                </a:solidFill>
                <a:latin typeface="Manrope"/>
              </a:defRPr>
            </a:pPr>
            <a:r>
              <a:t>SDtrust</a:t>
            </a:r>
          </a:p>
        </p:txBody>
      </p:sp>
      <p:sp>
        <p:nvSpPr>
          <p:cNvPr id="3" name="Text: PRODUCT DEMO"/>
          <p:cNvSpPr txBox="1"/>
          <p:nvPr/>
        </p:nvSpPr>
        <p:spPr>
          <a:xfrm>
            <a:off x="8275320" y="448056"/>
            <a:ext cx="3291840" cy="256032"/>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PRODUCT DEMO</a:t>
            </a:r>
          </a:p>
        </p:txBody>
      </p:sp>
      <p:sp>
        <p:nvSpPr>
          <p:cNvPr id="4" name="Text: Tectonic Hackathon · SD Worx · Draft v1"/>
          <p:cNvSpPr txBox="1"/>
          <p:nvPr/>
        </p:nvSpPr>
        <p:spPr>
          <a:xfrm>
            <a:off x="621792" y="6419088"/>
            <a:ext cx="9418320" cy="228600"/>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Tectonic Hackathon · SD Worx · Draft v1</a:t>
            </a:r>
          </a:p>
        </p:txBody>
      </p:sp>
      <p:sp>
        <p:nvSpPr>
          <p:cNvPr id="5" name="Text: 04"/>
          <p:cNvSpPr txBox="1"/>
          <p:nvPr/>
        </p:nvSpPr>
        <p:spPr>
          <a:xfrm>
            <a:off x="11155680" y="6391656"/>
            <a:ext cx="457200" cy="256032"/>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5F6F85"/>
                </a:solidFill>
                <a:latin typeface="Manrope"/>
              </a:defRPr>
            </a:pPr>
            <a:r>
              <a:t>04</a:t>
            </a:r>
          </a:p>
        </p:txBody>
      </p:sp>
      <p:sp>
        <p:nvSpPr>
          <p:cNvPr id="6" name="Text: Let’s ask Finn."/>
          <p:cNvSpPr txBox="1"/>
          <p:nvPr/>
        </p:nvSpPr>
        <p:spPr>
          <a:xfrm>
            <a:off x="640080" y="1143000"/>
            <a:ext cx="10881360" cy="1078992"/>
          </a:xfrm>
          <a:prstGeom prst="rect">
            <a:avLst/>
          </a:prstGeom>
          <a:noFill/>
        </p:spPr>
        <p:txBody>
          <a:bodyPr wrap="square" lIns="0" tIns="0" rIns="0" bIns="0" anchor="t">
            <a:spAutoFit/>
          </a:bodyPr>
          <a:lstStyle/>
          <a:p>
            <a:pPr marL="0" indent="0">
              <a:lnSpc>
                <a:spcPct val="108000"/>
              </a:lnSpc>
              <a:spcBef>
                <a:spcPts val="0"/>
              </a:spcBef>
              <a:spcAft>
                <a:spcPts val="0"/>
              </a:spcAft>
              <a:defRPr sz="3600" b="1">
                <a:solidFill>
                  <a:srgbClr val="192D46"/>
                </a:solidFill>
                <a:latin typeface="Manrope"/>
              </a:defRPr>
            </a:pPr>
            <a:r>
              <a:t>Let’s ask Finn.</a:t>
            </a:r>
          </a:p>
        </p:txBody>
      </p:sp>
      <p:sp>
        <p:nvSpPr>
          <p:cNvPr id="7" name="Rounded Rectangle 6"/>
          <p:cNvSpPr/>
          <p:nvPr/>
        </p:nvSpPr>
        <p:spPr>
          <a:xfrm>
            <a:off x="667512" y="2231136"/>
            <a:ext cx="7452360" cy="3584448"/>
          </a:xfrm>
          <a:prstGeom prst="roundRect">
            <a:avLst>
              <a:gd name="adj" fmla="val 10000"/>
            </a:avLst>
          </a:prstGeom>
          <a:solidFill>
            <a:srgbClr val="E9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932688" y="2496312"/>
            <a:ext cx="1417320" cy="356616"/>
          </a:xfrm>
          <a:prstGeom prst="roundRect">
            <a:avLst>
              <a:gd name="adj" fmla="val 10000"/>
            </a:avLst>
          </a:prstGeom>
          <a:solidFill>
            <a:srgbClr val="19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DEMO PLACEHOLDER"/>
          <p:cNvSpPr txBox="1"/>
          <p:nvPr/>
        </p:nvSpPr>
        <p:spPr>
          <a:xfrm>
            <a:off x="1051560" y="2587752"/>
            <a:ext cx="1197864" cy="210312"/>
          </a:xfrm>
          <a:prstGeom prst="rect">
            <a:avLst/>
          </a:prstGeom>
          <a:noFill/>
        </p:spPr>
        <p:txBody>
          <a:bodyPr wrap="square" lIns="0" tIns="0" rIns="0" bIns="0" anchor="t">
            <a:spAutoFit/>
          </a:bodyPr>
          <a:lstStyle/>
          <a:p>
            <a:pPr marL="0" indent="0">
              <a:lnSpc>
                <a:spcPct val="108000"/>
              </a:lnSpc>
              <a:spcBef>
                <a:spcPts val="0"/>
              </a:spcBef>
              <a:spcAft>
                <a:spcPts val="0"/>
              </a:spcAft>
              <a:defRPr sz="800" b="1">
                <a:solidFill>
                  <a:srgbClr val="FFFEFD"/>
                </a:solidFill>
                <a:latin typeface="Manrope"/>
              </a:defRPr>
            </a:pPr>
            <a:r>
              <a:t>DEMO PLACEHOLDER</a:t>
            </a:r>
          </a:p>
        </p:txBody>
      </p:sp>
      <p:sp>
        <p:nvSpPr>
          <p:cNvPr id="10" name="Text: Final app capture goes here"/>
          <p:cNvSpPr txBox="1"/>
          <p:nvPr/>
        </p:nvSpPr>
        <p:spPr>
          <a:xfrm>
            <a:off x="1115568" y="3401568"/>
            <a:ext cx="6492240" cy="594360"/>
          </a:xfrm>
          <a:prstGeom prst="rect">
            <a:avLst/>
          </a:prstGeom>
          <a:noFill/>
        </p:spPr>
        <p:txBody>
          <a:bodyPr wrap="square" lIns="0" tIns="0" rIns="0" bIns="0" anchor="t">
            <a:spAutoFit/>
          </a:bodyPr>
          <a:lstStyle/>
          <a:p>
            <a:pPr marL="0" indent="0">
              <a:lnSpc>
                <a:spcPct val="108000"/>
              </a:lnSpc>
              <a:spcBef>
                <a:spcPts val="0"/>
              </a:spcBef>
              <a:spcAft>
                <a:spcPts val="0"/>
              </a:spcAft>
              <a:defRPr sz="2900" b="1">
                <a:solidFill>
                  <a:srgbClr val="192D46"/>
                </a:solidFill>
                <a:latin typeface="Manrope"/>
              </a:defRPr>
            </a:pPr>
            <a:r>
              <a:t>Final app capture goes here</a:t>
            </a:r>
          </a:p>
        </p:txBody>
      </p:sp>
      <p:sp>
        <p:nvSpPr>
          <p:cNvPr id="11" name="Text: 45 seconds · ask, inspect, follow up"/>
          <p:cNvSpPr txBox="1"/>
          <p:nvPr/>
        </p:nvSpPr>
        <p:spPr>
          <a:xfrm>
            <a:off x="1115568" y="4133087"/>
            <a:ext cx="6446520" cy="475488"/>
          </a:xfrm>
          <a:prstGeom prst="rect">
            <a:avLst/>
          </a:prstGeom>
          <a:noFill/>
        </p:spPr>
        <p:txBody>
          <a:bodyPr wrap="square" lIns="0" tIns="0" rIns="0" bIns="0" anchor="t">
            <a:spAutoFit/>
          </a:bodyPr>
          <a:lstStyle/>
          <a:p>
            <a:pPr marL="0" indent="0">
              <a:lnSpc>
                <a:spcPct val="108000"/>
              </a:lnSpc>
              <a:spcBef>
                <a:spcPts val="0"/>
              </a:spcBef>
              <a:spcAft>
                <a:spcPts val="0"/>
              </a:spcAft>
              <a:defRPr sz="2100" b="0">
                <a:solidFill>
                  <a:srgbClr val="5F6F85"/>
                </a:solidFill>
                <a:latin typeface="Manrope"/>
              </a:defRPr>
            </a:pPr>
            <a:r>
              <a:t>45 seconds · ask, inspect, follow up</a:t>
            </a:r>
          </a:p>
        </p:txBody>
      </p:sp>
      <p:sp>
        <p:nvSpPr>
          <p:cNvPr id="12" name="Text: Editable storyboard. This is not an app screenshot."/>
          <p:cNvSpPr txBox="1"/>
          <p:nvPr/>
        </p:nvSpPr>
        <p:spPr>
          <a:xfrm>
            <a:off x="1115568" y="5193792"/>
            <a:ext cx="6492240" cy="274320"/>
          </a:xfrm>
          <a:prstGeom prst="rect">
            <a:avLst/>
          </a:prstGeom>
          <a:noFill/>
        </p:spPr>
        <p:txBody>
          <a:bodyPr wrap="square" lIns="0" tIns="0" rIns="0" bIns="0" anchor="t">
            <a:spAutoFit/>
          </a:bodyPr>
          <a:lstStyle/>
          <a:p>
            <a:pPr marL="0" indent="0">
              <a:lnSpc>
                <a:spcPct val="108000"/>
              </a:lnSpc>
              <a:spcBef>
                <a:spcPts val="0"/>
              </a:spcBef>
              <a:spcAft>
                <a:spcPts val="0"/>
              </a:spcAft>
              <a:defRPr sz="1300" b="0">
                <a:solidFill>
                  <a:srgbClr val="5F6F85"/>
                </a:solidFill>
                <a:latin typeface="Manrope"/>
              </a:defRPr>
            </a:pPr>
            <a:r>
              <a:t>Editable storyboard. This is not an app screenshot.</a:t>
            </a:r>
          </a:p>
        </p:txBody>
      </p:sp>
      <p:sp>
        <p:nvSpPr>
          <p:cNvPr id="13" name="Text: ASK"/>
          <p:cNvSpPr txBox="1"/>
          <p:nvPr/>
        </p:nvSpPr>
        <p:spPr>
          <a:xfrm>
            <a:off x="8549640" y="2322576"/>
            <a:ext cx="2743200" cy="274320"/>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EE6558"/>
                </a:solidFill>
                <a:latin typeface="Manrope"/>
              </a:defRPr>
            </a:pPr>
            <a:r>
              <a:t>ASK</a:t>
            </a:r>
          </a:p>
        </p:txBody>
      </p:sp>
      <p:sp>
        <p:nvSpPr>
          <p:cNvPr id="14" name="Text: Atlas deadline?"/>
          <p:cNvSpPr txBox="1"/>
          <p:nvPr/>
        </p:nvSpPr>
        <p:spPr>
          <a:xfrm>
            <a:off x="8549640" y="2679192"/>
            <a:ext cx="2743200" cy="804672"/>
          </a:xfrm>
          <a:prstGeom prst="rect">
            <a:avLst/>
          </a:prstGeom>
          <a:noFill/>
        </p:spPr>
        <p:txBody>
          <a:bodyPr wrap="square" lIns="0" tIns="0" rIns="0" bIns="0" anchor="t">
            <a:spAutoFit/>
          </a:bodyPr>
          <a:lstStyle/>
          <a:p>
            <a:pPr marL="0" indent="0">
              <a:lnSpc>
                <a:spcPct val="108000"/>
              </a:lnSpc>
              <a:spcBef>
                <a:spcPts val="0"/>
              </a:spcBef>
              <a:spcAft>
                <a:spcPts val="0"/>
              </a:spcAft>
              <a:defRPr sz="2100" b="1">
                <a:solidFill>
                  <a:srgbClr val="192D46"/>
                </a:solidFill>
                <a:latin typeface="Manrope"/>
              </a:defRPr>
            </a:pPr>
            <a:r>
              <a:t>Atlas deadline?</a:t>
            </a:r>
          </a:p>
        </p:txBody>
      </p:sp>
      <p:sp>
        <p:nvSpPr>
          <p:cNvPr id="15" name="Text: INSPECT"/>
          <p:cNvSpPr txBox="1"/>
          <p:nvPr/>
        </p:nvSpPr>
        <p:spPr>
          <a:xfrm>
            <a:off x="8549640" y="3557016"/>
            <a:ext cx="2743200" cy="274320"/>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EE6558"/>
                </a:solidFill>
                <a:latin typeface="Manrope"/>
              </a:defRPr>
            </a:pPr>
            <a:r>
              <a:t>INSPECT</a:t>
            </a:r>
          </a:p>
        </p:txBody>
      </p:sp>
      <p:sp>
        <p:nvSpPr>
          <p:cNvPr id="16" name="Text: 22 October Source S4"/>
          <p:cNvSpPr txBox="1"/>
          <p:nvPr/>
        </p:nvSpPr>
        <p:spPr>
          <a:xfrm>
            <a:off x="8549640" y="3913632"/>
            <a:ext cx="2743200" cy="804672"/>
          </a:xfrm>
          <a:prstGeom prst="rect">
            <a:avLst/>
          </a:prstGeom>
          <a:noFill/>
        </p:spPr>
        <p:txBody>
          <a:bodyPr wrap="square" lIns="0" tIns="0" rIns="0" bIns="0" anchor="t">
            <a:spAutoFit/>
          </a:bodyPr>
          <a:lstStyle/>
          <a:p>
            <a:pPr marL="0" indent="0">
              <a:lnSpc>
                <a:spcPct val="108000"/>
              </a:lnSpc>
              <a:spcBef>
                <a:spcPts val="0"/>
              </a:spcBef>
              <a:spcAft>
                <a:spcPts val="0"/>
              </a:spcAft>
              <a:defRPr sz="2100" b="1">
                <a:solidFill>
                  <a:srgbClr val="192D46"/>
                </a:solidFill>
                <a:latin typeface="Manrope"/>
              </a:defRPr>
            </a:pPr>
            <a:r>
              <a:t>22 October</a:t>
            </a:r>
          </a:p>
          <a:p>
            <a:pPr marL="0" indent="0">
              <a:lnSpc>
                <a:spcPct val="108000"/>
              </a:lnSpc>
              <a:spcBef>
                <a:spcPts val="0"/>
              </a:spcBef>
              <a:spcAft>
                <a:spcPts val="0"/>
              </a:spcAft>
              <a:defRPr sz="2100" b="1">
                <a:solidFill>
                  <a:srgbClr val="192D46"/>
                </a:solidFill>
                <a:latin typeface="Manrope"/>
              </a:defRPr>
            </a:pPr>
            <a:r>
              <a:t>Source S4</a:t>
            </a:r>
          </a:p>
        </p:txBody>
      </p:sp>
      <p:sp>
        <p:nvSpPr>
          <p:cNvPr id="17" name="Text: FOLLOW UP"/>
          <p:cNvSpPr txBox="1"/>
          <p:nvPr/>
        </p:nvSpPr>
        <p:spPr>
          <a:xfrm>
            <a:off x="8549640" y="4791456"/>
            <a:ext cx="2743200" cy="274320"/>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EE6558"/>
                </a:solidFill>
                <a:latin typeface="Manrope"/>
              </a:defRPr>
            </a:pPr>
            <a:r>
              <a:t>FOLLOW UP</a:t>
            </a:r>
          </a:p>
        </p:txBody>
      </p:sp>
      <p:sp>
        <p:nvSpPr>
          <p:cNvPr id="18" name="Text: Next month?"/>
          <p:cNvSpPr txBox="1"/>
          <p:nvPr/>
        </p:nvSpPr>
        <p:spPr>
          <a:xfrm>
            <a:off x="8549640" y="5148072"/>
            <a:ext cx="2743200" cy="804672"/>
          </a:xfrm>
          <a:prstGeom prst="rect">
            <a:avLst/>
          </a:prstGeom>
          <a:noFill/>
        </p:spPr>
        <p:txBody>
          <a:bodyPr wrap="square" lIns="0" tIns="0" rIns="0" bIns="0" anchor="t">
            <a:spAutoFit/>
          </a:bodyPr>
          <a:lstStyle/>
          <a:p>
            <a:pPr marL="0" indent="0">
              <a:lnSpc>
                <a:spcPct val="108000"/>
              </a:lnSpc>
              <a:spcBef>
                <a:spcPts val="0"/>
              </a:spcBef>
              <a:spcAft>
                <a:spcPts val="0"/>
              </a:spcAft>
              <a:defRPr sz="2100" b="1">
                <a:solidFill>
                  <a:srgbClr val="192D46"/>
                </a:solidFill>
                <a:latin typeface="Manrope"/>
              </a:defRPr>
            </a:pPr>
            <a:r>
              <a:t>Next month?</a:t>
            </a:r>
          </a:p>
        </p:txBody>
      </p:sp>
      <p:sp>
        <p:nvSpPr>
          <p:cNvPr id="19" name="Text: Scripted fixture demo · synthetic records"/>
          <p:cNvSpPr txBox="1"/>
          <p:nvPr/>
        </p:nvSpPr>
        <p:spPr>
          <a:xfrm>
            <a:off x="685800" y="6016752"/>
            <a:ext cx="10698480" cy="237744"/>
          </a:xfrm>
          <a:prstGeom prst="rect">
            <a:avLst/>
          </a:prstGeom>
          <a:noFill/>
        </p:spPr>
        <p:txBody>
          <a:bodyPr wrap="square" lIns="0" tIns="0" rIns="0" bIns="0" anchor="t">
            <a:spAutoFit/>
          </a:bodyPr>
          <a:lstStyle/>
          <a:p>
            <a:pPr marL="0" indent="0">
              <a:lnSpc>
                <a:spcPct val="108000"/>
              </a:lnSpc>
              <a:spcBef>
                <a:spcPts val="0"/>
              </a:spcBef>
              <a:spcAft>
                <a:spcPts val="0"/>
              </a:spcAft>
              <a:defRPr sz="1300" b="0">
                <a:solidFill>
                  <a:srgbClr val="5F6F85"/>
                </a:solidFill>
                <a:latin typeface="Manrope"/>
              </a:defRPr>
            </a:pPr>
            <a:r>
              <a:t>Scripted fixture demo · synthetic records</a:t>
            </a:r>
          </a:p>
        </p:txBody>
      </p:sp>
      <p:pic>
        <p:nvPicPr>
          <p:cNvPr id="21" name="Official SDtrust SVG">
            <a:extLst>
              <a:ext uri="{FF2B5EF4-FFF2-40B4-BE49-F238E27FC236}">
                <a16:creationId xmlns:a16="http://schemas.microsoft.com/office/drawing/2014/main" id="{497FB2CE-28EF-49C9-B6BA-6DEDDF7DBA3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335280"/>
            <a:ext cx="365760" cy="3657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Text: SDtrust"/>
          <p:cNvSpPr txBox="1"/>
          <p:nvPr/>
        </p:nvSpPr>
        <p:spPr>
          <a:xfrm>
            <a:off x="1069848" y="347472"/>
            <a:ext cx="1920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192D46"/>
                </a:solidFill>
                <a:latin typeface="Manrope"/>
              </a:defRPr>
            </a:pPr>
            <a:r>
              <a:t>SDtrust</a:t>
            </a:r>
          </a:p>
        </p:txBody>
      </p:sp>
      <p:sp>
        <p:nvSpPr>
          <p:cNvPr id="3" name="Text: ATLAS · OCTOBER 2026"/>
          <p:cNvSpPr txBox="1"/>
          <p:nvPr/>
        </p:nvSpPr>
        <p:spPr>
          <a:xfrm>
            <a:off x="8275320" y="448056"/>
            <a:ext cx="3291840" cy="256032"/>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ATLAS · OCTOBER 2026</a:t>
            </a:r>
          </a:p>
        </p:txBody>
      </p:sp>
      <p:sp>
        <p:nvSpPr>
          <p:cNvPr id="4" name="Text: Tectonic Hackathon · SD Worx · Draft v1"/>
          <p:cNvSpPr txBox="1"/>
          <p:nvPr/>
        </p:nvSpPr>
        <p:spPr>
          <a:xfrm>
            <a:off x="621792" y="6419088"/>
            <a:ext cx="9418320" cy="228600"/>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Tectonic Hackathon · SD Worx · Draft v1</a:t>
            </a:r>
          </a:p>
        </p:txBody>
      </p:sp>
      <p:sp>
        <p:nvSpPr>
          <p:cNvPr id="5" name="Text: 05"/>
          <p:cNvSpPr txBox="1"/>
          <p:nvPr/>
        </p:nvSpPr>
        <p:spPr>
          <a:xfrm>
            <a:off x="11155680" y="6391656"/>
            <a:ext cx="457200" cy="256032"/>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5F6F85"/>
                </a:solidFill>
                <a:latin typeface="Manrope"/>
              </a:defRPr>
            </a:pPr>
            <a:r>
              <a:t>05</a:t>
            </a:r>
          </a:p>
        </p:txBody>
      </p:sp>
      <p:sp>
        <p:nvSpPr>
          <p:cNvPr id="6" name="Text: Trust needs a reason."/>
          <p:cNvSpPr txBox="1"/>
          <p:nvPr/>
        </p:nvSpPr>
        <p:spPr>
          <a:xfrm>
            <a:off x="640080" y="1143000"/>
            <a:ext cx="10881360" cy="1078992"/>
          </a:xfrm>
          <a:prstGeom prst="rect">
            <a:avLst/>
          </a:prstGeom>
          <a:noFill/>
        </p:spPr>
        <p:txBody>
          <a:bodyPr wrap="square" lIns="0" tIns="0" rIns="0" bIns="0" anchor="t">
            <a:spAutoFit/>
          </a:bodyPr>
          <a:lstStyle/>
          <a:p>
            <a:pPr marL="0" indent="0">
              <a:lnSpc>
                <a:spcPct val="108000"/>
              </a:lnSpc>
              <a:spcBef>
                <a:spcPts val="0"/>
              </a:spcBef>
              <a:spcAft>
                <a:spcPts val="0"/>
              </a:spcAft>
              <a:defRPr sz="3600" b="1">
                <a:solidFill>
                  <a:srgbClr val="192D46"/>
                </a:solidFill>
                <a:latin typeface="Manrope"/>
              </a:defRPr>
            </a:pPr>
            <a:r>
              <a:t>Trust needs a reason.</a:t>
            </a:r>
          </a:p>
        </p:txBody>
      </p:sp>
      <p:sp>
        <p:nvSpPr>
          <p:cNvPr id="7" name="Rounded Rectangle 6"/>
          <p:cNvSpPr/>
          <p:nvPr/>
        </p:nvSpPr>
        <p:spPr>
          <a:xfrm>
            <a:off x="667512" y="2322576"/>
            <a:ext cx="3950208" cy="3401568"/>
          </a:xfrm>
          <a:prstGeom prst="roundRect">
            <a:avLst>
              <a:gd name="adj" fmla="val 10000"/>
            </a:avLst>
          </a:prstGeom>
          <a:solidFill>
            <a:srgbClr val="19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 22 October"/>
          <p:cNvSpPr txBox="1"/>
          <p:nvPr/>
        </p:nvSpPr>
        <p:spPr>
          <a:xfrm>
            <a:off x="950976" y="2715768"/>
            <a:ext cx="3429000" cy="822960"/>
          </a:xfrm>
          <a:prstGeom prst="rect">
            <a:avLst/>
          </a:prstGeom>
          <a:noFill/>
        </p:spPr>
        <p:txBody>
          <a:bodyPr wrap="square" lIns="0" tIns="0" rIns="0" bIns="0" anchor="t">
            <a:spAutoFit/>
          </a:bodyPr>
          <a:lstStyle/>
          <a:p>
            <a:pPr marL="0" indent="0">
              <a:lnSpc>
                <a:spcPct val="108000"/>
              </a:lnSpc>
              <a:spcBef>
                <a:spcPts val="0"/>
              </a:spcBef>
              <a:spcAft>
                <a:spcPts val="0"/>
              </a:spcAft>
              <a:defRPr sz="3800" b="1">
                <a:solidFill>
                  <a:srgbClr val="F8F6F1"/>
                </a:solidFill>
                <a:latin typeface="Manrope"/>
              </a:defRPr>
            </a:pPr>
            <a:r>
              <a:t>22 October</a:t>
            </a:r>
          </a:p>
        </p:txBody>
      </p:sp>
      <p:sp>
        <p:nvSpPr>
          <p:cNvPr id="9" name="Text: 2026"/>
          <p:cNvSpPr txBox="1"/>
          <p:nvPr/>
        </p:nvSpPr>
        <p:spPr>
          <a:xfrm>
            <a:off x="969264" y="3566160"/>
            <a:ext cx="3383280" cy="438912"/>
          </a:xfrm>
          <a:prstGeom prst="rect">
            <a:avLst/>
          </a:prstGeom>
          <a:noFill/>
        </p:spPr>
        <p:txBody>
          <a:bodyPr wrap="square" lIns="0" tIns="0" rIns="0" bIns="0" anchor="t">
            <a:spAutoFit/>
          </a:bodyPr>
          <a:lstStyle/>
          <a:p>
            <a:pPr marL="0" indent="0">
              <a:lnSpc>
                <a:spcPct val="108000"/>
              </a:lnSpc>
              <a:spcBef>
                <a:spcPts val="0"/>
              </a:spcBef>
              <a:spcAft>
                <a:spcPts val="0"/>
              </a:spcAft>
              <a:defRPr sz="2500" b="0">
                <a:solidFill>
                  <a:srgbClr val="D6DEE8"/>
                </a:solidFill>
                <a:latin typeface="Manrope"/>
              </a:defRPr>
            </a:pPr>
            <a:r>
              <a:t>2026</a:t>
            </a:r>
          </a:p>
        </p:txBody>
      </p:sp>
      <p:sp>
        <p:nvSpPr>
          <p:cNvPr id="10" name="Text: Approved Atlas exception Belgium · October only"/>
          <p:cNvSpPr txBox="1"/>
          <p:nvPr/>
        </p:nvSpPr>
        <p:spPr>
          <a:xfrm>
            <a:off x="978408" y="4370832"/>
            <a:ext cx="3337560" cy="859536"/>
          </a:xfrm>
          <a:prstGeom prst="rect">
            <a:avLst/>
          </a:prstGeom>
          <a:noFill/>
        </p:spPr>
        <p:txBody>
          <a:bodyPr wrap="square" lIns="0" tIns="0" rIns="0" bIns="0" anchor="t">
            <a:spAutoFit/>
          </a:bodyPr>
          <a:lstStyle/>
          <a:p>
            <a:pPr marL="0" indent="0">
              <a:lnSpc>
                <a:spcPct val="108000"/>
              </a:lnSpc>
              <a:spcBef>
                <a:spcPts val="0"/>
              </a:spcBef>
              <a:spcAft>
                <a:spcPts val="0"/>
              </a:spcAft>
              <a:defRPr sz="2100" b="0">
                <a:solidFill>
                  <a:srgbClr val="F8F6F1"/>
                </a:solidFill>
                <a:latin typeface="Manrope"/>
              </a:defRPr>
            </a:pPr>
            <a:r>
              <a:t>Approved Atlas exception</a:t>
            </a:r>
          </a:p>
          <a:p>
            <a:pPr marL="0" indent="0">
              <a:lnSpc>
                <a:spcPct val="108000"/>
              </a:lnSpc>
              <a:spcBef>
                <a:spcPts val="0"/>
              </a:spcBef>
              <a:spcAft>
                <a:spcPts val="0"/>
              </a:spcAft>
              <a:defRPr sz="2100" b="0">
                <a:solidFill>
                  <a:srgbClr val="F8F6F1"/>
                </a:solidFill>
                <a:latin typeface="Manrope"/>
              </a:defRPr>
            </a:pPr>
            <a:r>
              <a:t>Belgium · October only</a:t>
            </a:r>
          </a:p>
        </p:txBody>
      </p:sp>
      <p:sp>
        <p:nvSpPr>
          <p:cNvPr id="11" name="Text: S4"/>
          <p:cNvSpPr txBox="1"/>
          <p:nvPr/>
        </p:nvSpPr>
        <p:spPr>
          <a:xfrm>
            <a:off x="5166360" y="2395728"/>
            <a:ext cx="1188720" cy="384048"/>
          </a:xfrm>
          <a:prstGeom prst="rect">
            <a:avLst/>
          </a:prstGeom>
          <a:noFill/>
        </p:spPr>
        <p:txBody>
          <a:bodyPr wrap="square" lIns="0" tIns="0" rIns="0" bIns="0" anchor="t">
            <a:spAutoFit/>
          </a:bodyPr>
          <a:lstStyle/>
          <a:p>
            <a:pPr marL="0" indent="0">
              <a:lnSpc>
                <a:spcPct val="108000"/>
              </a:lnSpc>
              <a:spcBef>
                <a:spcPts val="0"/>
              </a:spcBef>
              <a:spcAft>
                <a:spcPts val="0"/>
              </a:spcAft>
              <a:defRPr sz="1900" b="1">
                <a:solidFill>
                  <a:srgbClr val="0F7A3A"/>
                </a:solidFill>
                <a:latin typeface="Manrope"/>
              </a:defRPr>
            </a:pPr>
            <a:r>
              <a:t>S4</a:t>
            </a:r>
          </a:p>
        </p:txBody>
      </p:sp>
      <p:sp>
        <p:nvSpPr>
          <p:cNvPr id="12" name="Text: Approved client agreement"/>
          <p:cNvSpPr txBox="1"/>
          <p:nvPr/>
        </p:nvSpPr>
        <p:spPr>
          <a:xfrm>
            <a:off x="6400800" y="2395728"/>
            <a:ext cx="5120640" cy="438912"/>
          </a:xfrm>
          <a:prstGeom prst="rect">
            <a:avLst/>
          </a:prstGeom>
          <a:noFill/>
        </p:spPr>
        <p:txBody>
          <a:bodyPr wrap="square" lIns="0" tIns="0" rIns="0" bIns="0" anchor="t">
            <a:spAutoFit/>
          </a:bodyPr>
          <a:lstStyle/>
          <a:p>
            <a:pPr marL="0" indent="0">
              <a:lnSpc>
                <a:spcPct val="108000"/>
              </a:lnSpc>
              <a:spcBef>
                <a:spcPts val="0"/>
              </a:spcBef>
              <a:spcAft>
                <a:spcPts val="0"/>
              </a:spcAft>
              <a:defRPr sz="2200" b="1">
                <a:solidFill>
                  <a:srgbClr val="192D46"/>
                </a:solidFill>
                <a:latin typeface="Manrope"/>
              </a:defRPr>
            </a:pPr>
            <a:r>
              <a:t>Approved client agreement</a:t>
            </a:r>
          </a:p>
        </p:txBody>
      </p:sp>
      <p:sp>
        <p:nvSpPr>
          <p:cNvPr id="13" name="Text: Roy approved the Atlas exception."/>
          <p:cNvSpPr txBox="1"/>
          <p:nvPr/>
        </p:nvSpPr>
        <p:spPr>
          <a:xfrm>
            <a:off x="6400800" y="2862072"/>
            <a:ext cx="5120640" cy="576072"/>
          </a:xfrm>
          <a:prstGeom prst="rect">
            <a:avLst/>
          </a:prstGeom>
          <a:noFill/>
        </p:spPr>
        <p:txBody>
          <a:bodyPr wrap="square" lIns="0" tIns="0" rIns="0" bIns="0" anchor="t">
            <a:spAutoFit/>
          </a:bodyPr>
          <a:lstStyle/>
          <a:p>
            <a:pPr marL="0" indent="0">
              <a:lnSpc>
                <a:spcPct val="108000"/>
              </a:lnSpc>
              <a:spcBef>
                <a:spcPts val="0"/>
              </a:spcBef>
              <a:spcAft>
                <a:spcPts val="0"/>
              </a:spcAft>
              <a:defRPr sz="1900" b="0">
                <a:solidFill>
                  <a:srgbClr val="5F6F85"/>
                </a:solidFill>
                <a:latin typeface="Manrope"/>
              </a:defRPr>
            </a:pPr>
            <a:r>
              <a:t>Roy approved the Atlas exception.</a:t>
            </a:r>
          </a:p>
        </p:txBody>
      </p:sp>
      <p:sp>
        <p:nvSpPr>
          <p:cNvPr id="14" name="Text: S1"/>
          <p:cNvSpPr txBox="1"/>
          <p:nvPr/>
        </p:nvSpPr>
        <p:spPr>
          <a:xfrm>
            <a:off x="5166360" y="3547872"/>
            <a:ext cx="1188720" cy="384048"/>
          </a:xfrm>
          <a:prstGeom prst="rect">
            <a:avLst/>
          </a:prstGeom>
          <a:noFill/>
        </p:spPr>
        <p:txBody>
          <a:bodyPr wrap="square" lIns="0" tIns="0" rIns="0" bIns="0" anchor="t">
            <a:spAutoFit/>
          </a:bodyPr>
          <a:lstStyle/>
          <a:p>
            <a:pPr marL="0" indent="0">
              <a:lnSpc>
                <a:spcPct val="108000"/>
              </a:lnSpc>
              <a:spcBef>
                <a:spcPts val="0"/>
              </a:spcBef>
              <a:spcAft>
                <a:spcPts val="0"/>
              </a:spcAft>
              <a:defRPr sz="1900" b="1">
                <a:solidFill>
                  <a:srgbClr val="5F6F85"/>
                </a:solidFill>
                <a:latin typeface="Manrope"/>
              </a:defRPr>
            </a:pPr>
            <a:r>
              <a:t>S1</a:t>
            </a:r>
          </a:p>
        </p:txBody>
      </p:sp>
      <p:sp>
        <p:nvSpPr>
          <p:cNvPr id="15" name="Text: General procedure"/>
          <p:cNvSpPr txBox="1"/>
          <p:nvPr/>
        </p:nvSpPr>
        <p:spPr>
          <a:xfrm>
            <a:off x="6400800" y="3547872"/>
            <a:ext cx="5120640" cy="438912"/>
          </a:xfrm>
          <a:prstGeom prst="rect">
            <a:avLst/>
          </a:prstGeom>
          <a:noFill/>
        </p:spPr>
        <p:txBody>
          <a:bodyPr wrap="square" lIns="0" tIns="0" rIns="0" bIns="0" anchor="t">
            <a:spAutoFit/>
          </a:bodyPr>
          <a:lstStyle/>
          <a:p>
            <a:pPr marL="0" indent="0">
              <a:lnSpc>
                <a:spcPct val="108000"/>
              </a:lnSpc>
              <a:spcBef>
                <a:spcPts val="0"/>
              </a:spcBef>
              <a:spcAft>
                <a:spcPts val="0"/>
              </a:spcAft>
              <a:defRPr sz="2200" b="1">
                <a:solidFill>
                  <a:srgbClr val="192D46"/>
                </a:solidFill>
                <a:latin typeface="Manrope"/>
              </a:defRPr>
            </a:pPr>
            <a:r>
              <a:t>General procedure</a:t>
            </a:r>
          </a:p>
        </p:txBody>
      </p:sp>
      <p:sp>
        <p:nvSpPr>
          <p:cNvPr id="16" name="Text: The client exception takes precedence."/>
          <p:cNvSpPr txBox="1"/>
          <p:nvPr/>
        </p:nvSpPr>
        <p:spPr>
          <a:xfrm>
            <a:off x="6400800" y="4014215"/>
            <a:ext cx="5120640" cy="576072"/>
          </a:xfrm>
          <a:prstGeom prst="rect">
            <a:avLst/>
          </a:prstGeom>
          <a:noFill/>
        </p:spPr>
        <p:txBody>
          <a:bodyPr wrap="square" lIns="0" tIns="0" rIns="0" bIns="0" anchor="t">
            <a:spAutoFit/>
          </a:bodyPr>
          <a:lstStyle/>
          <a:p>
            <a:pPr marL="0" indent="0">
              <a:lnSpc>
                <a:spcPct val="108000"/>
              </a:lnSpc>
              <a:spcBef>
                <a:spcPts val="0"/>
              </a:spcBef>
              <a:spcAft>
                <a:spcPts val="0"/>
              </a:spcAft>
              <a:defRPr sz="1900" b="0">
                <a:solidFill>
                  <a:srgbClr val="5F6F85"/>
                </a:solidFill>
                <a:latin typeface="Manrope"/>
              </a:defRPr>
            </a:pPr>
            <a:r>
              <a:t>The client exception takes precedence.</a:t>
            </a:r>
          </a:p>
        </p:txBody>
      </p:sp>
      <p:sp>
        <p:nvSpPr>
          <p:cNvPr id="17" name="Text: S10 / S3"/>
          <p:cNvSpPr txBox="1"/>
          <p:nvPr/>
        </p:nvSpPr>
        <p:spPr>
          <a:xfrm>
            <a:off x="5166360" y="4700016"/>
            <a:ext cx="1188720" cy="384048"/>
          </a:xfrm>
          <a:prstGeom prst="rect">
            <a:avLst/>
          </a:prstGeom>
          <a:noFill/>
        </p:spPr>
        <p:txBody>
          <a:bodyPr wrap="square" lIns="0" tIns="0" rIns="0" bIns="0" anchor="t">
            <a:spAutoFit/>
          </a:bodyPr>
          <a:lstStyle/>
          <a:p>
            <a:pPr marL="0" indent="0">
              <a:lnSpc>
                <a:spcPct val="108000"/>
              </a:lnSpc>
              <a:spcBef>
                <a:spcPts val="0"/>
              </a:spcBef>
              <a:spcAft>
                <a:spcPts val="0"/>
              </a:spcAft>
              <a:defRPr sz="1900" b="1">
                <a:solidFill>
                  <a:srgbClr val="A76400"/>
                </a:solidFill>
                <a:latin typeface="Manrope"/>
              </a:defRPr>
            </a:pPr>
            <a:r>
              <a:t>S10 / S3</a:t>
            </a:r>
          </a:p>
        </p:txBody>
      </p:sp>
      <p:sp>
        <p:nvSpPr>
          <p:cNvPr id="18" name="Text: Teams proposals and recollections"/>
          <p:cNvSpPr txBox="1"/>
          <p:nvPr/>
        </p:nvSpPr>
        <p:spPr>
          <a:xfrm>
            <a:off x="6400800" y="4700016"/>
            <a:ext cx="5120640" cy="438912"/>
          </a:xfrm>
          <a:prstGeom prst="rect">
            <a:avLst/>
          </a:prstGeom>
          <a:noFill/>
        </p:spPr>
        <p:txBody>
          <a:bodyPr wrap="square" lIns="0" tIns="0" rIns="0" bIns="0" anchor="t">
            <a:spAutoFit/>
          </a:bodyPr>
          <a:lstStyle/>
          <a:p>
            <a:pPr marL="0" indent="0">
              <a:lnSpc>
                <a:spcPct val="108000"/>
              </a:lnSpc>
              <a:spcBef>
                <a:spcPts val="0"/>
              </a:spcBef>
              <a:spcAft>
                <a:spcPts val="0"/>
              </a:spcAft>
              <a:defRPr sz="2200" b="1">
                <a:solidFill>
                  <a:srgbClr val="192D46"/>
                </a:solidFill>
                <a:latin typeface="Manrope"/>
              </a:defRPr>
            </a:pPr>
            <a:r>
              <a:t>Teams proposals and recollections</a:t>
            </a:r>
          </a:p>
        </p:txBody>
      </p:sp>
      <p:sp>
        <p:nvSpPr>
          <p:cNvPr id="19" name="Text: The 23rd and 25th are not approvals."/>
          <p:cNvSpPr txBox="1"/>
          <p:nvPr/>
        </p:nvSpPr>
        <p:spPr>
          <a:xfrm>
            <a:off x="6400800" y="5166359"/>
            <a:ext cx="5120640" cy="576072"/>
          </a:xfrm>
          <a:prstGeom prst="rect">
            <a:avLst/>
          </a:prstGeom>
          <a:noFill/>
        </p:spPr>
        <p:txBody>
          <a:bodyPr wrap="square" lIns="0" tIns="0" rIns="0" bIns="0" anchor="t">
            <a:spAutoFit/>
          </a:bodyPr>
          <a:lstStyle/>
          <a:p>
            <a:pPr marL="0" indent="0">
              <a:lnSpc>
                <a:spcPct val="108000"/>
              </a:lnSpc>
              <a:spcBef>
                <a:spcPts val="0"/>
              </a:spcBef>
              <a:spcAft>
                <a:spcPts val="0"/>
              </a:spcAft>
              <a:defRPr sz="1900" b="0">
                <a:solidFill>
                  <a:srgbClr val="5F6F85"/>
                </a:solidFill>
                <a:latin typeface="Manrope"/>
              </a:defRPr>
            </a:pPr>
            <a:r>
              <a:t>The 23rd and 25th are not approvals.</a:t>
            </a:r>
          </a:p>
        </p:txBody>
      </p:sp>
      <p:pic>
        <p:nvPicPr>
          <p:cNvPr id="21" name="Official SDtrust SVG">
            <a:extLst>
              <a:ext uri="{FF2B5EF4-FFF2-40B4-BE49-F238E27FC236}">
                <a16:creationId xmlns:a16="http://schemas.microsoft.com/office/drawing/2014/main" id="{E0159CF6-3BB2-D005-5288-039511D5BB63}"/>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335280"/>
            <a:ext cx="365760" cy="365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Text: SDtrust"/>
          <p:cNvSpPr txBox="1"/>
          <p:nvPr/>
        </p:nvSpPr>
        <p:spPr>
          <a:xfrm>
            <a:off x="1069848" y="347472"/>
            <a:ext cx="1920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192D46"/>
                </a:solidFill>
                <a:latin typeface="Manrope"/>
              </a:defRPr>
            </a:pPr>
            <a:r>
              <a:t>SDtrust</a:t>
            </a:r>
          </a:p>
        </p:txBody>
      </p:sp>
      <p:sp>
        <p:nvSpPr>
          <p:cNvPr id="3" name="Text: ATLAS · NOVEMBER 2026"/>
          <p:cNvSpPr txBox="1"/>
          <p:nvPr/>
        </p:nvSpPr>
        <p:spPr>
          <a:xfrm>
            <a:off x="8275320" y="448056"/>
            <a:ext cx="3291840" cy="256032"/>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ATLAS · NOVEMBER 2026</a:t>
            </a:r>
          </a:p>
        </p:txBody>
      </p:sp>
      <p:sp>
        <p:nvSpPr>
          <p:cNvPr id="4" name="Text: Tectonic Hackathon · SD Worx · Draft v1"/>
          <p:cNvSpPr txBox="1"/>
          <p:nvPr/>
        </p:nvSpPr>
        <p:spPr>
          <a:xfrm>
            <a:off x="621792" y="6419088"/>
            <a:ext cx="9418320" cy="228600"/>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Tectonic Hackathon · SD Worx · Draft v1</a:t>
            </a:r>
          </a:p>
        </p:txBody>
      </p:sp>
      <p:sp>
        <p:nvSpPr>
          <p:cNvPr id="5" name="Text: 06"/>
          <p:cNvSpPr txBox="1"/>
          <p:nvPr/>
        </p:nvSpPr>
        <p:spPr>
          <a:xfrm>
            <a:off x="11155680" y="6391656"/>
            <a:ext cx="457200" cy="256032"/>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5F6F85"/>
                </a:solidFill>
                <a:latin typeface="Manrope"/>
              </a:defRPr>
            </a:pPr>
            <a:r>
              <a:t>06</a:t>
            </a:r>
          </a:p>
        </p:txBody>
      </p:sp>
      <p:sp>
        <p:nvSpPr>
          <p:cNvPr id="6" name="Text: No evidence? Make the gap visible."/>
          <p:cNvSpPr txBox="1"/>
          <p:nvPr/>
        </p:nvSpPr>
        <p:spPr>
          <a:xfrm>
            <a:off x="640080" y="1143000"/>
            <a:ext cx="10881360" cy="1078992"/>
          </a:xfrm>
          <a:prstGeom prst="rect">
            <a:avLst/>
          </a:prstGeom>
          <a:noFill/>
        </p:spPr>
        <p:txBody>
          <a:bodyPr wrap="square" lIns="0" tIns="0" rIns="0" bIns="0" anchor="t">
            <a:spAutoFit/>
          </a:bodyPr>
          <a:lstStyle/>
          <a:p>
            <a:pPr marL="0" indent="0">
              <a:lnSpc>
                <a:spcPct val="108000"/>
              </a:lnSpc>
              <a:spcBef>
                <a:spcPts val="0"/>
              </a:spcBef>
              <a:spcAft>
                <a:spcPts val="0"/>
              </a:spcAft>
              <a:defRPr sz="3600" b="1">
                <a:solidFill>
                  <a:srgbClr val="192D46"/>
                </a:solidFill>
                <a:latin typeface="Manrope"/>
              </a:defRPr>
            </a:pPr>
            <a:r>
              <a:t>No evidence? Make the gap visible.</a:t>
            </a:r>
          </a:p>
        </p:txBody>
      </p:sp>
      <p:sp>
        <p:nvSpPr>
          <p:cNvPr id="7" name="Text: “And for next month?”"/>
          <p:cNvSpPr txBox="1"/>
          <p:nvPr/>
        </p:nvSpPr>
        <p:spPr>
          <a:xfrm>
            <a:off x="685800" y="2331720"/>
            <a:ext cx="10698480" cy="640080"/>
          </a:xfrm>
          <a:prstGeom prst="rect">
            <a:avLst/>
          </a:prstGeom>
          <a:noFill/>
        </p:spPr>
        <p:txBody>
          <a:bodyPr wrap="square" lIns="0" tIns="0" rIns="0" bIns="0" anchor="t">
            <a:spAutoFit/>
          </a:bodyPr>
          <a:lstStyle/>
          <a:p>
            <a:pPr marL="0" indent="0">
              <a:lnSpc>
                <a:spcPct val="108000"/>
              </a:lnSpc>
              <a:spcBef>
                <a:spcPts val="0"/>
              </a:spcBef>
              <a:spcAft>
                <a:spcPts val="0"/>
              </a:spcAft>
              <a:defRPr sz="3100" b="0">
                <a:solidFill>
                  <a:srgbClr val="5F6F85"/>
                </a:solidFill>
                <a:latin typeface="Manrope"/>
              </a:defRPr>
            </a:pPr>
            <a:r>
              <a:t>“And for next month?”</a:t>
            </a:r>
          </a:p>
        </p:txBody>
      </p:sp>
      <p:sp>
        <p:nvSpPr>
          <p:cNvPr id="8" name="Rounded Rectangle 7"/>
          <p:cNvSpPr/>
          <p:nvPr/>
        </p:nvSpPr>
        <p:spPr>
          <a:xfrm>
            <a:off x="676656" y="3236976"/>
            <a:ext cx="5111496" cy="2039112"/>
          </a:xfrm>
          <a:prstGeom prst="roundRect">
            <a:avLst>
              <a:gd name="adj" fmla="val 10000"/>
            </a:avLst>
          </a:prstGeom>
          <a:solidFill>
            <a:srgbClr val="FFFEFD"/>
          </a:solidFill>
          <a:ln w="12700">
            <a:solidFill>
              <a:srgbClr val="E5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No substantiated answer"/>
          <p:cNvSpPr txBox="1"/>
          <p:nvPr/>
        </p:nvSpPr>
        <p:spPr>
          <a:xfrm>
            <a:off x="950976" y="3547872"/>
            <a:ext cx="4517136" cy="603504"/>
          </a:xfrm>
          <a:prstGeom prst="rect">
            <a:avLst/>
          </a:prstGeom>
          <a:noFill/>
        </p:spPr>
        <p:txBody>
          <a:bodyPr wrap="square" lIns="0" tIns="0" rIns="0" bIns="0" anchor="t">
            <a:spAutoFit/>
          </a:bodyPr>
          <a:lstStyle/>
          <a:p>
            <a:pPr marL="0" indent="0">
              <a:lnSpc>
                <a:spcPct val="108000"/>
              </a:lnSpc>
              <a:spcBef>
                <a:spcPts val="0"/>
              </a:spcBef>
              <a:spcAft>
                <a:spcPts val="0"/>
              </a:spcAft>
              <a:defRPr sz="2700" b="1">
                <a:solidFill>
                  <a:srgbClr val="192D46"/>
                </a:solidFill>
                <a:latin typeface="Manrope"/>
              </a:defRPr>
            </a:pPr>
            <a:r>
              <a:t>No substantiated answer</a:t>
            </a:r>
          </a:p>
        </p:txBody>
      </p:sp>
      <p:sp>
        <p:nvSpPr>
          <p:cNvPr id="10" name="Text: October’s agreement does not confirm November’s deadline."/>
          <p:cNvSpPr txBox="1"/>
          <p:nvPr/>
        </p:nvSpPr>
        <p:spPr>
          <a:xfrm>
            <a:off x="950976" y="4325112"/>
            <a:ext cx="4517136" cy="713232"/>
          </a:xfrm>
          <a:prstGeom prst="rect">
            <a:avLst/>
          </a:prstGeom>
          <a:noFill/>
        </p:spPr>
        <p:txBody>
          <a:bodyPr wrap="square" lIns="0" tIns="0" rIns="0" bIns="0" anchor="t">
            <a:spAutoFit/>
          </a:bodyPr>
          <a:lstStyle/>
          <a:p>
            <a:pPr marL="0" indent="0">
              <a:lnSpc>
                <a:spcPct val="108000"/>
              </a:lnSpc>
              <a:spcBef>
                <a:spcPts val="0"/>
              </a:spcBef>
              <a:spcAft>
                <a:spcPts val="0"/>
              </a:spcAft>
              <a:defRPr sz="2200" b="0">
                <a:solidFill>
                  <a:srgbClr val="5F6F85"/>
                </a:solidFill>
                <a:latin typeface="Manrope"/>
              </a:defRPr>
            </a:pPr>
            <a:r>
              <a:t>October’s agreement does not</a:t>
            </a:r>
          </a:p>
          <a:p>
            <a:pPr marL="0" indent="0">
              <a:lnSpc>
                <a:spcPct val="108000"/>
              </a:lnSpc>
              <a:spcBef>
                <a:spcPts val="0"/>
              </a:spcBef>
              <a:spcAft>
                <a:spcPts val="0"/>
              </a:spcAft>
              <a:defRPr sz="2200" b="0">
                <a:solidFill>
                  <a:srgbClr val="5F6F85"/>
                </a:solidFill>
                <a:latin typeface="Manrope"/>
              </a:defRPr>
            </a:pPr>
            <a:r>
              <a:t>confirm November’s deadline.</a:t>
            </a:r>
          </a:p>
        </p:txBody>
      </p:sp>
      <p:sp>
        <p:nvSpPr>
          <p:cNvPr id="11" name="Rounded Rectangle 10"/>
          <p:cNvSpPr/>
          <p:nvPr/>
        </p:nvSpPr>
        <p:spPr>
          <a:xfrm>
            <a:off x="6080760" y="3236976"/>
            <a:ext cx="5413248" cy="2039112"/>
          </a:xfrm>
          <a:prstGeom prst="roundRect">
            <a:avLst>
              <a:gd name="adj" fmla="val 10000"/>
            </a:avLst>
          </a:prstGeom>
          <a:solidFill>
            <a:srgbClr val="E9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 Next step: Roy"/>
          <p:cNvSpPr txBox="1"/>
          <p:nvPr/>
        </p:nvSpPr>
        <p:spPr>
          <a:xfrm>
            <a:off x="6373368" y="3547872"/>
            <a:ext cx="4736592" cy="603504"/>
          </a:xfrm>
          <a:prstGeom prst="rect">
            <a:avLst/>
          </a:prstGeom>
          <a:noFill/>
        </p:spPr>
        <p:txBody>
          <a:bodyPr wrap="square" lIns="0" tIns="0" rIns="0" bIns="0" anchor="t">
            <a:spAutoFit/>
          </a:bodyPr>
          <a:lstStyle/>
          <a:p>
            <a:pPr marL="0" indent="0">
              <a:lnSpc>
                <a:spcPct val="108000"/>
              </a:lnSpc>
              <a:spcBef>
                <a:spcPts val="0"/>
              </a:spcBef>
              <a:spcAft>
                <a:spcPts val="0"/>
              </a:spcAft>
              <a:defRPr sz="2700" b="1">
                <a:solidFill>
                  <a:srgbClr val="192D46"/>
                </a:solidFill>
                <a:latin typeface="Manrope"/>
              </a:defRPr>
            </a:pPr>
            <a:r>
              <a:t>Next step: Roy</a:t>
            </a:r>
          </a:p>
        </p:txBody>
      </p:sp>
      <p:sp>
        <p:nvSpPr>
          <p:cNvPr id="13" name="Text: Ask the Atlas account owner for a confirmed November date."/>
          <p:cNvSpPr txBox="1"/>
          <p:nvPr/>
        </p:nvSpPr>
        <p:spPr>
          <a:xfrm>
            <a:off x="6373368" y="4325112"/>
            <a:ext cx="4736592" cy="713232"/>
          </a:xfrm>
          <a:prstGeom prst="rect">
            <a:avLst/>
          </a:prstGeom>
          <a:noFill/>
        </p:spPr>
        <p:txBody>
          <a:bodyPr wrap="square" lIns="0" tIns="0" rIns="0" bIns="0" anchor="t">
            <a:spAutoFit/>
          </a:bodyPr>
          <a:lstStyle/>
          <a:p>
            <a:pPr marL="0" indent="0">
              <a:lnSpc>
                <a:spcPct val="108000"/>
              </a:lnSpc>
              <a:spcBef>
                <a:spcPts val="0"/>
              </a:spcBef>
              <a:spcAft>
                <a:spcPts val="0"/>
              </a:spcAft>
              <a:defRPr sz="2200" b="0">
                <a:solidFill>
                  <a:srgbClr val="5F6F85"/>
                </a:solidFill>
                <a:latin typeface="Manrope"/>
              </a:defRPr>
            </a:pPr>
            <a:r>
              <a:t>Ask the Atlas account owner</a:t>
            </a:r>
          </a:p>
          <a:p>
            <a:pPr marL="0" indent="0">
              <a:lnSpc>
                <a:spcPct val="108000"/>
              </a:lnSpc>
              <a:spcBef>
                <a:spcPts val="0"/>
              </a:spcBef>
              <a:spcAft>
                <a:spcPts val="0"/>
              </a:spcAft>
              <a:defRPr sz="2200" b="0">
                <a:solidFill>
                  <a:srgbClr val="5F6F85"/>
                </a:solidFill>
                <a:latin typeface="Manrope"/>
              </a:defRPr>
            </a:pPr>
            <a:r>
              <a:t>for a confirmed November date.</a:t>
            </a:r>
          </a:p>
        </p:txBody>
      </p:sp>
      <p:sp>
        <p:nvSpPr>
          <p:cNvPr id="14" name="Text: Contact is simulated in this prototype. No message is sent."/>
          <p:cNvSpPr txBox="1"/>
          <p:nvPr/>
        </p:nvSpPr>
        <p:spPr>
          <a:xfrm>
            <a:off x="694944" y="5696712"/>
            <a:ext cx="10716768" cy="384048"/>
          </a:xfrm>
          <a:prstGeom prst="rect">
            <a:avLst/>
          </a:prstGeom>
          <a:noFill/>
        </p:spPr>
        <p:txBody>
          <a:bodyPr wrap="square" lIns="0" tIns="0" rIns="0" bIns="0" anchor="t">
            <a:spAutoFit/>
          </a:bodyPr>
          <a:lstStyle/>
          <a:p>
            <a:pPr marL="0" indent="0">
              <a:lnSpc>
                <a:spcPct val="108000"/>
              </a:lnSpc>
              <a:spcBef>
                <a:spcPts val="0"/>
              </a:spcBef>
              <a:spcAft>
                <a:spcPts val="0"/>
              </a:spcAft>
              <a:defRPr sz="1800" b="1">
                <a:solidFill>
                  <a:srgbClr val="A76400"/>
                </a:solidFill>
                <a:latin typeface="Manrope"/>
              </a:defRPr>
            </a:pPr>
            <a:r>
              <a:t>Contact is simulated in this prototype. No message is sent.</a:t>
            </a:r>
          </a:p>
        </p:txBody>
      </p:sp>
      <p:pic>
        <p:nvPicPr>
          <p:cNvPr id="16" name="Official SDtrust SVG">
            <a:extLst>
              <a:ext uri="{FF2B5EF4-FFF2-40B4-BE49-F238E27FC236}">
                <a16:creationId xmlns:a16="http://schemas.microsoft.com/office/drawing/2014/main" id="{2E7330BE-D580-9404-62D3-E043BCD702D3}"/>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335280"/>
            <a:ext cx="365760" cy="365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1"/>
        </a:solidFill>
        <a:effectLst/>
      </p:bgPr>
    </p:bg>
    <p:spTree>
      <p:nvGrpSpPr>
        <p:cNvPr id="1" name=""/>
        <p:cNvGrpSpPr/>
        <p:nvPr/>
      </p:nvGrpSpPr>
      <p:grpSpPr>
        <a:xfrm>
          <a:off x="0" y="0"/>
          <a:ext cx="0" cy="0"/>
          <a:chOff x="0" y="0"/>
          <a:chExt cx="0" cy="0"/>
        </a:xfrm>
      </p:grpSpPr>
      <p:sp>
        <p:nvSpPr>
          <p:cNvPr id="2" name="Text: SDtrust"/>
          <p:cNvSpPr txBox="1"/>
          <p:nvPr/>
        </p:nvSpPr>
        <p:spPr>
          <a:xfrm>
            <a:off x="1069848" y="347472"/>
            <a:ext cx="1920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192D46"/>
                </a:solidFill>
                <a:latin typeface="Manrope"/>
              </a:defRPr>
            </a:pPr>
            <a:r>
              <a:t>SDtrust</a:t>
            </a:r>
          </a:p>
        </p:txBody>
      </p:sp>
      <p:sp>
        <p:nvSpPr>
          <p:cNvPr id="3" name="Text: SICK LEAVE EXAMPLE"/>
          <p:cNvSpPr txBox="1"/>
          <p:nvPr/>
        </p:nvSpPr>
        <p:spPr>
          <a:xfrm>
            <a:off x="8275320" y="448056"/>
            <a:ext cx="3291840" cy="256032"/>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SICK LEAVE EXAMPLE</a:t>
            </a:r>
          </a:p>
        </p:txBody>
      </p:sp>
      <p:sp>
        <p:nvSpPr>
          <p:cNvPr id="4" name="Text: Tectonic Hackathon · SD Worx · Draft v1"/>
          <p:cNvSpPr txBox="1"/>
          <p:nvPr/>
        </p:nvSpPr>
        <p:spPr>
          <a:xfrm>
            <a:off x="621792" y="6419088"/>
            <a:ext cx="9418320" cy="228600"/>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5F6F85"/>
                </a:solidFill>
                <a:latin typeface="Manrope"/>
              </a:defRPr>
            </a:pPr>
            <a:r>
              <a:t>Tectonic Hackathon · SD Worx · Draft v1</a:t>
            </a:r>
          </a:p>
        </p:txBody>
      </p:sp>
      <p:sp>
        <p:nvSpPr>
          <p:cNvPr id="5" name="Text: 07"/>
          <p:cNvSpPr txBox="1"/>
          <p:nvPr/>
        </p:nvSpPr>
        <p:spPr>
          <a:xfrm>
            <a:off x="11155680" y="6391656"/>
            <a:ext cx="457200" cy="256032"/>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5F6F85"/>
                </a:solidFill>
                <a:latin typeface="Manrope"/>
              </a:defRPr>
            </a:pPr>
            <a:r>
              <a:t>07</a:t>
            </a:r>
          </a:p>
        </p:txBody>
      </p:sp>
      <p:sp>
        <p:nvSpPr>
          <p:cNvPr id="6" name="Text: Same principle. Another HR question."/>
          <p:cNvSpPr txBox="1"/>
          <p:nvPr/>
        </p:nvSpPr>
        <p:spPr>
          <a:xfrm>
            <a:off x="640080" y="1143000"/>
            <a:ext cx="10881360" cy="1078992"/>
          </a:xfrm>
          <a:prstGeom prst="rect">
            <a:avLst/>
          </a:prstGeom>
          <a:noFill/>
        </p:spPr>
        <p:txBody>
          <a:bodyPr wrap="square" lIns="0" tIns="0" rIns="0" bIns="0" anchor="t">
            <a:spAutoFit/>
          </a:bodyPr>
          <a:lstStyle/>
          <a:p>
            <a:pPr marL="0" indent="0">
              <a:lnSpc>
                <a:spcPct val="108000"/>
              </a:lnSpc>
              <a:spcBef>
                <a:spcPts val="0"/>
              </a:spcBef>
              <a:spcAft>
                <a:spcPts val="0"/>
              </a:spcAft>
              <a:defRPr sz="3600" b="1">
                <a:solidFill>
                  <a:srgbClr val="192D46"/>
                </a:solidFill>
                <a:latin typeface="Manrope"/>
              </a:defRPr>
            </a:pPr>
            <a:r>
              <a:t>Same principle. Another HR question.</a:t>
            </a:r>
          </a:p>
        </p:txBody>
      </p:sp>
      <p:sp>
        <p:nvSpPr>
          <p:cNvPr id="7" name="Text: When must a sick leave notice be passed on?"/>
          <p:cNvSpPr txBox="1"/>
          <p:nvPr/>
        </p:nvSpPr>
        <p:spPr>
          <a:xfrm>
            <a:off x="685800" y="2167128"/>
            <a:ext cx="10698480" cy="475488"/>
          </a:xfrm>
          <a:prstGeom prst="rect">
            <a:avLst/>
          </a:prstGeom>
          <a:noFill/>
        </p:spPr>
        <p:txBody>
          <a:bodyPr wrap="square" lIns="0" tIns="0" rIns="0" bIns="0" anchor="t">
            <a:spAutoFit/>
          </a:bodyPr>
          <a:lstStyle/>
          <a:p>
            <a:pPr marL="0" indent="0">
              <a:lnSpc>
                <a:spcPct val="108000"/>
              </a:lnSpc>
              <a:spcBef>
                <a:spcPts val="0"/>
              </a:spcBef>
              <a:spcAft>
                <a:spcPts val="0"/>
              </a:spcAft>
              <a:defRPr sz="2500" b="0">
                <a:solidFill>
                  <a:srgbClr val="5F6F85"/>
                </a:solidFill>
                <a:latin typeface="Manrope"/>
              </a:defRPr>
            </a:pPr>
            <a:r>
              <a:t>When must a sick leave notice be passed on?</a:t>
            </a:r>
          </a:p>
        </p:txBody>
      </p:sp>
      <p:sp>
        <p:nvSpPr>
          <p:cNvPr id="8" name="Rounded Rectangle 7"/>
          <p:cNvSpPr/>
          <p:nvPr/>
        </p:nvSpPr>
        <p:spPr>
          <a:xfrm>
            <a:off x="676656" y="2980944"/>
            <a:ext cx="3099816" cy="2304288"/>
          </a:xfrm>
          <a:prstGeom prst="roundRect">
            <a:avLst>
              <a:gd name="adj" fmla="val 10000"/>
            </a:avLst>
          </a:prstGeom>
          <a:solidFill>
            <a:srgbClr val="EA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24 hours"/>
          <p:cNvSpPr txBox="1"/>
          <p:nvPr/>
        </p:nvSpPr>
        <p:spPr>
          <a:xfrm>
            <a:off x="896112" y="3236976"/>
            <a:ext cx="2697480" cy="594360"/>
          </a:xfrm>
          <a:prstGeom prst="rect">
            <a:avLst/>
          </a:prstGeom>
          <a:noFill/>
        </p:spPr>
        <p:txBody>
          <a:bodyPr wrap="square" lIns="0" tIns="0" rIns="0" bIns="0" anchor="t">
            <a:spAutoFit/>
          </a:bodyPr>
          <a:lstStyle/>
          <a:p>
            <a:pPr marL="0" indent="0">
              <a:lnSpc>
                <a:spcPct val="108000"/>
              </a:lnSpc>
              <a:spcBef>
                <a:spcPts val="0"/>
              </a:spcBef>
              <a:spcAft>
                <a:spcPts val="0"/>
              </a:spcAft>
              <a:defRPr sz="3100" b="1">
                <a:solidFill>
                  <a:srgbClr val="0F7A3A"/>
                </a:solidFill>
                <a:latin typeface="Manrope"/>
              </a:defRPr>
            </a:pPr>
            <a:r>
              <a:t>24 hours</a:t>
            </a:r>
          </a:p>
        </p:txBody>
      </p:sp>
      <p:sp>
        <p:nvSpPr>
          <p:cNvPr id="10" name="Text: S6 · Approved"/>
          <p:cNvSpPr txBox="1"/>
          <p:nvPr/>
        </p:nvSpPr>
        <p:spPr>
          <a:xfrm>
            <a:off x="896112" y="4041648"/>
            <a:ext cx="2697480" cy="338328"/>
          </a:xfrm>
          <a:prstGeom prst="rect">
            <a:avLst/>
          </a:prstGeom>
          <a:noFill/>
        </p:spPr>
        <p:txBody>
          <a:bodyPr wrap="square" lIns="0" tIns="0" rIns="0" bIns="0" anchor="t">
            <a:spAutoFit/>
          </a:bodyPr>
          <a:lstStyle/>
          <a:p>
            <a:pPr marL="0" indent="0">
              <a:lnSpc>
                <a:spcPct val="108000"/>
              </a:lnSpc>
              <a:spcBef>
                <a:spcPts val="0"/>
              </a:spcBef>
              <a:spcAft>
                <a:spcPts val="0"/>
              </a:spcAft>
              <a:defRPr sz="1700" b="1">
                <a:solidFill>
                  <a:srgbClr val="192D46"/>
                </a:solidFill>
                <a:latin typeface="Manrope"/>
              </a:defRPr>
            </a:pPr>
            <a:r>
              <a:t>S6 · Approved</a:t>
            </a:r>
          </a:p>
        </p:txBody>
      </p:sp>
      <p:sp>
        <p:nvSpPr>
          <p:cNvPr id="11" name="Text: Current Belgian procedure"/>
          <p:cNvSpPr txBox="1"/>
          <p:nvPr/>
        </p:nvSpPr>
        <p:spPr>
          <a:xfrm>
            <a:off x="896112" y="4553712"/>
            <a:ext cx="2697480" cy="612648"/>
          </a:xfrm>
          <a:prstGeom prst="rect">
            <a:avLst/>
          </a:prstGeom>
          <a:noFill/>
        </p:spPr>
        <p:txBody>
          <a:bodyPr wrap="square" lIns="0" tIns="0" rIns="0" bIns="0" anchor="t">
            <a:spAutoFit/>
          </a:bodyPr>
          <a:lstStyle/>
          <a:p>
            <a:pPr marL="0" indent="0">
              <a:lnSpc>
                <a:spcPct val="108000"/>
              </a:lnSpc>
              <a:spcBef>
                <a:spcPts val="0"/>
              </a:spcBef>
              <a:spcAft>
                <a:spcPts val="0"/>
              </a:spcAft>
              <a:defRPr sz="1900" b="0">
                <a:solidFill>
                  <a:srgbClr val="5F6F85"/>
                </a:solidFill>
                <a:latin typeface="Manrope"/>
              </a:defRPr>
            </a:pPr>
            <a:r>
              <a:t>Current Belgian</a:t>
            </a:r>
          </a:p>
          <a:p>
            <a:pPr marL="0" indent="0">
              <a:lnSpc>
                <a:spcPct val="108000"/>
              </a:lnSpc>
              <a:spcBef>
                <a:spcPts val="0"/>
              </a:spcBef>
              <a:spcAft>
                <a:spcPts val="0"/>
              </a:spcAft>
              <a:defRPr sz="1900" b="0">
                <a:solidFill>
                  <a:srgbClr val="5F6F85"/>
                </a:solidFill>
                <a:latin typeface="Manrope"/>
              </a:defRPr>
            </a:pPr>
            <a:r>
              <a:t>procedure</a:t>
            </a:r>
          </a:p>
        </p:txBody>
      </p:sp>
      <p:sp>
        <p:nvSpPr>
          <p:cNvPr id="12" name="Rounded Rectangle 11"/>
          <p:cNvSpPr/>
          <p:nvPr/>
        </p:nvSpPr>
        <p:spPr>
          <a:xfrm>
            <a:off x="4553712" y="2980944"/>
            <a:ext cx="3099816" cy="2304288"/>
          </a:xfrm>
          <a:prstGeom prst="roundRect">
            <a:avLst>
              <a:gd name="adj" fmla="val 10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 48 hours"/>
          <p:cNvSpPr txBox="1"/>
          <p:nvPr/>
        </p:nvSpPr>
        <p:spPr>
          <a:xfrm>
            <a:off x="4773168" y="3236976"/>
            <a:ext cx="2697480" cy="594360"/>
          </a:xfrm>
          <a:prstGeom prst="rect">
            <a:avLst/>
          </a:prstGeom>
          <a:noFill/>
        </p:spPr>
        <p:txBody>
          <a:bodyPr wrap="square" lIns="0" tIns="0" rIns="0" bIns="0" anchor="t">
            <a:spAutoFit/>
          </a:bodyPr>
          <a:lstStyle/>
          <a:p>
            <a:pPr marL="0" indent="0">
              <a:lnSpc>
                <a:spcPct val="108000"/>
              </a:lnSpc>
              <a:spcBef>
                <a:spcPts val="0"/>
              </a:spcBef>
              <a:spcAft>
                <a:spcPts val="0"/>
              </a:spcAft>
              <a:defRPr sz="3100" b="1">
                <a:solidFill>
                  <a:srgbClr val="A76400"/>
                </a:solidFill>
                <a:latin typeface="Manrope"/>
              </a:defRPr>
            </a:pPr>
            <a:r>
              <a:t>48 hours</a:t>
            </a:r>
          </a:p>
        </p:txBody>
      </p:sp>
      <p:sp>
        <p:nvSpPr>
          <p:cNvPr id="14" name="Text: S7 · Unconfirmed"/>
          <p:cNvSpPr txBox="1"/>
          <p:nvPr/>
        </p:nvSpPr>
        <p:spPr>
          <a:xfrm>
            <a:off x="4773168" y="4041648"/>
            <a:ext cx="2697480" cy="338328"/>
          </a:xfrm>
          <a:prstGeom prst="rect">
            <a:avLst/>
          </a:prstGeom>
          <a:noFill/>
        </p:spPr>
        <p:txBody>
          <a:bodyPr wrap="square" lIns="0" tIns="0" rIns="0" bIns="0" anchor="t">
            <a:spAutoFit/>
          </a:bodyPr>
          <a:lstStyle/>
          <a:p>
            <a:pPr marL="0" indent="0">
              <a:lnSpc>
                <a:spcPct val="108000"/>
              </a:lnSpc>
              <a:spcBef>
                <a:spcPts val="0"/>
              </a:spcBef>
              <a:spcAft>
                <a:spcPts val="0"/>
              </a:spcAft>
              <a:defRPr sz="1700" b="1">
                <a:solidFill>
                  <a:srgbClr val="192D46"/>
                </a:solidFill>
                <a:latin typeface="Manrope"/>
              </a:defRPr>
            </a:pPr>
            <a:r>
              <a:t>S7 · Unconfirmed</a:t>
            </a:r>
          </a:p>
        </p:txBody>
      </p:sp>
      <p:sp>
        <p:nvSpPr>
          <p:cNvPr id="15" name="Text: A Teams message without approval"/>
          <p:cNvSpPr txBox="1"/>
          <p:nvPr/>
        </p:nvSpPr>
        <p:spPr>
          <a:xfrm>
            <a:off x="4773168" y="4553712"/>
            <a:ext cx="2697480" cy="612648"/>
          </a:xfrm>
          <a:prstGeom prst="rect">
            <a:avLst/>
          </a:prstGeom>
          <a:noFill/>
        </p:spPr>
        <p:txBody>
          <a:bodyPr wrap="square" lIns="0" tIns="0" rIns="0" bIns="0" anchor="t">
            <a:spAutoFit/>
          </a:bodyPr>
          <a:lstStyle/>
          <a:p>
            <a:pPr marL="0" indent="0">
              <a:lnSpc>
                <a:spcPct val="108000"/>
              </a:lnSpc>
              <a:spcBef>
                <a:spcPts val="0"/>
              </a:spcBef>
              <a:spcAft>
                <a:spcPts val="0"/>
              </a:spcAft>
              <a:defRPr sz="1900" b="0">
                <a:solidFill>
                  <a:srgbClr val="5F6F85"/>
                </a:solidFill>
                <a:latin typeface="Manrope"/>
              </a:defRPr>
            </a:pPr>
            <a:r>
              <a:t>A Teams message</a:t>
            </a:r>
          </a:p>
          <a:p>
            <a:pPr marL="0" indent="0">
              <a:lnSpc>
                <a:spcPct val="108000"/>
              </a:lnSpc>
              <a:spcBef>
                <a:spcPts val="0"/>
              </a:spcBef>
              <a:spcAft>
                <a:spcPts val="0"/>
              </a:spcAft>
              <a:defRPr sz="1900" b="0">
                <a:solidFill>
                  <a:srgbClr val="5F6F85"/>
                </a:solidFill>
                <a:latin typeface="Manrope"/>
              </a:defRPr>
            </a:pPr>
            <a:r>
              <a:t>without approval</a:t>
            </a:r>
          </a:p>
        </p:txBody>
      </p:sp>
      <p:sp>
        <p:nvSpPr>
          <p:cNvPr id="16" name="Rounded Rectangle 15"/>
          <p:cNvSpPr/>
          <p:nvPr/>
        </p:nvSpPr>
        <p:spPr>
          <a:xfrm>
            <a:off x="8430768" y="2980944"/>
            <a:ext cx="3099816" cy="2304288"/>
          </a:xfrm>
          <a:prstGeom prst="roundRect">
            <a:avLst>
              <a:gd name="adj" fmla="val 10000"/>
            </a:avLst>
          </a:prstGeom>
          <a:solidFill>
            <a:srgbClr val="E9EE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72 hours"/>
          <p:cNvSpPr txBox="1"/>
          <p:nvPr/>
        </p:nvSpPr>
        <p:spPr>
          <a:xfrm>
            <a:off x="8650224" y="3236976"/>
            <a:ext cx="2697480" cy="594360"/>
          </a:xfrm>
          <a:prstGeom prst="rect">
            <a:avLst/>
          </a:prstGeom>
          <a:noFill/>
        </p:spPr>
        <p:txBody>
          <a:bodyPr wrap="square" lIns="0" tIns="0" rIns="0" bIns="0" anchor="t">
            <a:spAutoFit/>
          </a:bodyPr>
          <a:lstStyle/>
          <a:p>
            <a:pPr marL="0" indent="0">
              <a:lnSpc>
                <a:spcPct val="108000"/>
              </a:lnSpc>
              <a:spcBef>
                <a:spcPts val="0"/>
              </a:spcBef>
              <a:spcAft>
                <a:spcPts val="0"/>
              </a:spcAft>
              <a:defRPr sz="3100" b="1">
                <a:solidFill>
                  <a:srgbClr val="5F6F85"/>
                </a:solidFill>
                <a:latin typeface="Manrope"/>
              </a:defRPr>
            </a:pPr>
            <a:r>
              <a:t>72 hours</a:t>
            </a:r>
          </a:p>
        </p:txBody>
      </p:sp>
      <p:sp>
        <p:nvSpPr>
          <p:cNvPr id="18" name="Text: S34 · Expired"/>
          <p:cNvSpPr txBox="1"/>
          <p:nvPr/>
        </p:nvSpPr>
        <p:spPr>
          <a:xfrm>
            <a:off x="8650224" y="4041648"/>
            <a:ext cx="2697480" cy="338328"/>
          </a:xfrm>
          <a:prstGeom prst="rect">
            <a:avLst/>
          </a:prstGeom>
          <a:noFill/>
        </p:spPr>
        <p:txBody>
          <a:bodyPr wrap="square" lIns="0" tIns="0" rIns="0" bIns="0" anchor="t">
            <a:spAutoFit/>
          </a:bodyPr>
          <a:lstStyle/>
          <a:p>
            <a:pPr marL="0" indent="0">
              <a:lnSpc>
                <a:spcPct val="108000"/>
              </a:lnSpc>
              <a:spcBef>
                <a:spcPts val="0"/>
              </a:spcBef>
              <a:spcAft>
                <a:spcPts val="0"/>
              </a:spcAft>
              <a:defRPr sz="1700" b="1">
                <a:solidFill>
                  <a:srgbClr val="192D46"/>
                </a:solidFill>
                <a:latin typeface="Manrope"/>
              </a:defRPr>
            </a:pPr>
            <a:r>
              <a:t>S34 · Expired</a:t>
            </a:r>
          </a:p>
        </p:txBody>
      </p:sp>
      <p:sp>
        <p:nvSpPr>
          <p:cNvPr id="19" name="Text: Older procedure valid until 2025"/>
          <p:cNvSpPr txBox="1"/>
          <p:nvPr/>
        </p:nvSpPr>
        <p:spPr>
          <a:xfrm>
            <a:off x="8650224" y="4553712"/>
            <a:ext cx="2697480" cy="612648"/>
          </a:xfrm>
          <a:prstGeom prst="rect">
            <a:avLst/>
          </a:prstGeom>
          <a:noFill/>
        </p:spPr>
        <p:txBody>
          <a:bodyPr wrap="square" lIns="0" tIns="0" rIns="0" bIns="0" anchor="t">
            <a:spAutoFit/>
          </a:bodyPr>
          <a:lstStyle/>
          <a:p>
            <a:pPr marL="0" indent="0">
              <a:lnSpc>
                <a:spcPct val="108000"/>
              </a:lnSpc>
              <a:spcBef>
                <a:spcPts val="0"/>
              </a:spcBef>
              <a:spcAft>
                <a:spcPts val="0"/>
              </a:spcAft>
              <a:defRPr sz="1900" b="0">
                <a:solidFill>
                  <a:srgbClr val="5F6F85"/>
                </a:solidFill>
                <a:latin typeface="Manrope"/>
              </a:defRPr>
            </a:pPr>
            <a:r>
              <a:t>Older procedure</a:t>
            </a:r>
          </a:p>
          <a:p>
            <a:pPr marL="0" indent="0">
              <a:lnSpc>
                <a:spcPct val="108000"/>
              </a:lnSpc>
              <a:spcBef>
                <a:spcPts val="0"/>
              </a:spcBef>
              <a:spcAft>
                <a:spcPts val="0"/>
              </a:spcAft>
              <a:defRPr sz="1900" b="0">
                <a:solidFill>
                  <a:srgbClr val="5F6F85"/>
                </a:solidFill>
                <a:latin typeface="Manrope"/>
              </a:defRPr>
            </a:pPr>
            <a:r>
              <a:t>valid until 2025</a:t>
            </a:r>
          </a:p>
        </p:txBody>
      </p:sp>
      <p:sp>
        <p:nvSpPr>
          <p:cNvPr id="20" name="Text: Synthetic demo policy · this is not payroll or legal advice"/>
          <p:cNvSpPr txBox="1"/>
          <p:nvPr/>
        </p:nvSpPr>
        <p:spPr>
          <a:xfrm>
            <a:off x="694944" y="5779008"/>
            <a:ext cx="10716768" cy="292608"/>
          </a:xfrm>
          <a:prstGeom prst="rect">
            <a:avLst/>
          </a:prstGeom>
          <a:noFill/>
        </p:spPr>
        <p:txBody>
          <a:bodyPr wrap="square" lIns="0" tIns="0" rIns="0" bIns="0" anchor="t">
            <a:spAutoFit/>
          </a:bodyPr>
          <a:lstStyle/>
          <a:p>
            <a:pPr marL="0" indent="0">
              <a:lnSpc>
                <a:spcPct val="108000"/>
              </a:lnSpc>
              <a:spcBef>
                <a:spcPts val="0"/>
              </a:spcBef>
              <a:spcAft>
                <a:spcPts val="0"/>
              </a:spcAft>
              <a:defRPr sz="1500" b="0">
                <a:solidFill>
                  <a:srgbClr val="5F6F85"/>
                </a:solidFill>
                <a:latin typeface="Manrope"/>
              </a:defRPr>
            </a:pPr>
            <a:r>
              <a:t>Synthetic demo policy · this is not payroll or legal advice</a:t>
            </a:r>
          </a:p>
        </p:txBody>
      </p:sp>
      <p:pic>
        <p:nvPicPr>
          <p:cNvPr id="22" name="Official SDtrust SVG">
            <a:extLst>
              <a:ext uri="{FF2B5EF4-FFF2-40B4-BE49-F238E27FC236}">
                <a16:creationId xmlns:a16="http://schemas.microsoft.com/office/drawing/2014/main" id="{D77FA11A-37DD-DB6B-4519-EF0A6D4122B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335280"/>
            <a:ext cx="365760" cy="3657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2D46"/>
        </a:solidFill>
        <a:effectLst/>
      </p:bgPr>
    </p:bg>
    <p:spTree>
      <p:nvGrpSpPr>
        <p:cNvPr id="1" name=""/>
        <p:cNvGrpSpPr/>
        <p:nvPr/>
      </p:nvGrpSpPr>
      <p:grpSpPr>
        <a:xfrm>
          <a:off x="0" y="0"/>
          <a:ext cx="0" cy="0"/>
          <a:chOff x="0" y="0"/>
          <a:chExt cx="0" cy="0"/>
        </a:xfrm>
      </p:grpSpPr>
      <p:sp>
        <p:nvSpPr>
          <p:cNvPr id="2" name="Text: SDtrust"/>
          <p:cNvSpPr txBox="1"/>
          <p:nvPr/>
        </p:nvSpPr>
        <p:spPr>
          <a:xfrm>
            <a:off x="1069848" y="347472"/>
            <a:ext cx="1920240" cy="402336"/>
          </a:xfrm>
          <a:prstGeom prst="rect">
            <a:avLst/>
          </a:prstGeom>
          <a:noFill/>
        </p:spPr>
        <p:txBody>
          <a:bodyPr wrap="square" lIns="0" tIns="0" rIns="0" bIns="0" anchor="t">
            <a:spAutoFit/>
          </a:bodyPr>
          <a:lstStyle/>
          <a:p>
            <a:pPr marL="0" indent="0">
              <a:lnSpc>
                <a:spcPct val="108000"/>
              </a:lnSpc>
              <a:spcBef>
                <a:spcPts val="0"/>
              </a:spcBef>
              <a:spcAft>
                <a:spcPts val="0"/>
              </a:spcAft>
              <a:defRPr sz="2400" b="1">
                <a:solidFill>
                  <a:srgbClr val="F8F6F1"/>
                </a:solidFill>
                <a:latin typeface="Manrope"/>
              </a:defRPr>
            </a:pPr>
            <a:r>
              <a:t>SDtrust</a:t>
            </a:r>
          </a:p>
        </p:txBody>
      </p:sp>
      <p:sp>
        <p:nvSpPr>
          <p:cNvPr id="3" name="Text: VALUE FOR SD WORX"/>
          <p:cNvSpPr txBox="1"/>
          <p:nvPr/>
        </p:nvSpPr>
        <p:spPr>
          <a:xfrm>
            <a:off x="8275320" y="448056"/>
            <a:ext cx="3291840" cy="256032"/>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D6DEE8"/>
                </a:solidFill>
                <a:latin typeface="Manrope"/>
              </a:defRPr>
            </a:pPr>
            <a:r>
              <a:t>VALUE FOR SD WORX</a:t>
            </a:r>
          </a:p>
        </p:txBody>
      </p:sp>
      <p:sp>
        <p:nvSpPr>
          <p:cNvPr id="4" name="Text: Tectonic Hackathon · SD Worx · Draft v1"/>
          <p:cNvSpPr txBox="1"/>
          <p:nvPr/>
        </p:nvSpPr>
        <p:spPr>
          <a:xfrm>
            <a:off x="621792" y="6419088"/>
            <a:ext cx="9418320" cy="228600"/>
          </a:xfrm>
          <a:prstGeom prst="rect">
            <a:avLst/>
          </a:prstGeom>
          <a:noFill/>
        </p:spPr>
        <p:txBody>
          <a:bodyPr wrap="square" lIns="0" tIns="0" rIns="0" bIns="0" anchor="t">
            <a:spAutoFit/>
          </a:bodyPr>
          <a:lstStyle/>
          <a:p>
            <a:pPr marL="0" indent="0">
              <a:lnSpc>
                <a:spcPct val="108000"/>
              </a:lnSpc>
              <a:spcBef>
                <a:spcPts val="0"/>
              </a:spcBef>
              <a:spcAft>
                <a:spcPts val="0"/>
              </a:spcAft>
              <a:defRPr sz="1100" b="0">
                <a:solidFill>
                  <a:srgbClr val="D6DEE8"/>
                </a:solidFill>
                <a:latin typeface="Manrope"/>
              </a:defRPr>
            </a:pPr>
            <a:r>
              <a:t>Tectonic Hackathon · SD Worx · Draft v1</a:t>
            </a:r>
          </a:p>
        </p:txBody>
      </p:sp>
      <p:sp>
        <p:nvSpPr>
          <p:cNvPr id="5" name="Text: 08"/>
          <p:cNvSpPr txBox="1"/>
          <p:nvPr/>
        </p:nvSpPr>
        <p:spPr>
          <a:xfrm>
            <a:off x="11155680" y="6391656"/>
            <a:ext cx="457200" cy="256032"/>
          </a:xfrm>
          <a:prstGeom prst="rect">
            <a:avLst/>
          </a:prstGeom>
          <a:noFill/>
        </p:spPr>
        <p:txBody>
          <a:bodyPr wrap="square" lIns="0" tIns="0" rIns="0" bIns="0" anchor="t">
            <a:spAutoFit/>
          </a:bodyPr>
          <a:lstStyle/>
          <a:p>
            <a:pPr marL="0" indent="0">
              <a:lnSpc>
                <a:spcPct val="108000"/>
              </a:lnSpc>
              <a:spcBef>
                <a:spcPts val="0"/>
              </a:spcBef>
              <a:spcAft>
                <a:spcPts val="0"/>
              </a:spcAft>
              <a:defRPr sz="1200" b="1">
                <a:solidFill>
                  <a:srgbClr val="D6DEE8"/>
                </a:solidFill>
                <a:latin typeface="Manrope"/>
              </a:defRPr>
            </a:pPr>
            <a:r>
              <a:t>08</a:t>
            </a:r>
          </a:p>
        </p:txBody>
      </p:sp>
      <p:sp>
        <p:nvSpPr>
          <p:cNvPr id="6" name="Text: Less searching. Better judgement."/>
          <p:cNvSpPr txBox="1"/>
          <p:nvPr/>
        </p:nvSpPr>
        <p:spPr>
          <a:xfrm>
            <a:off x="640080" y="1143000"/>
            <a:ext cx="10881360" cy="1078992"/>
          </a:xfrm>
          <a:prstGeom prst="rect">
            <a:avLst/>
          </a:prstGeom>
          <a:noFill/>
        </p:spPr>
        <p:txBody>
          <a:bodyPr wrap="square" lIns="0" tIns="0" rIns="0" bIns="0" anchor="t">
            <a:spAutoFit/>
          </a:bodyPr>
          <a:lstStyle/>
          <a:p>
            <a:pPr marL="0" indent="0">
              <a:lnSpc>
                <a:spcPct val="108000"/>
              </a:lnSpc>
              <a:spcBef>
                <a:spcPts val="0"/>
              </a:spcBef>
              <a:spcAft>
                <a:spcPts val="0"/>
              </a:spcAft>
              <a:defRPr sz="3600" b="1">
                <a:solidFill>
                  <a:srgbClr val="F8F6F1"/>
                </a:solidFill>
                <a:latin typeface="Manrope"/>
              </a:defRPr>
            </a:pPr>
            <a:r>
              <a:t>Less searching. Better judgement.</a:t>
            </a:r>
          </a:p>
        </p:txBody>
      </p:sp>
      <p:sp>
        <p:nvSpPr>
          <p:cNvPr id="7" name="Text: Help people use the right context without maintaining another knowledg"/>
          <p:cNvSpPr txBox="1"/>
          <p:nvPr/>
        </p:nvSpPr>
        <p:spPr>
          <a:xfrm>
            <a:off x="676656" y="2249424"/>
            <a:ext cx="10607040" cy="886968"/>
          </a:xfrm>
          <a:prstGeom prst="rect">
            <a:avLst/>
          </a:prstGeom>
          <a:noFill/>
        </p:spPr>
        <p:txBody>
          <a:bodyPr wrap="square" lIns="0" tIns="0" rIns="0" bIns="0" anchor="t">
            <a:spAutoFit/>
          </a:bodyPr>
          <a:lstStyle/>
          <a:p>
            <a:pPr marL="0" indent="0">
              <a:lnSpc>
                <a:spcPct val="108000"/>
              </a:lnSpc>
              <a:spcBef>
                <a:spcPts val="0"/>
              </a:spcBef>
              <a:spcAft>
                <a:spcPts val="0"/>
              </a:spcAft>
              <a:defRPr sz="2800" b="0">
                <a:solidFill>
                  <a:srgbClr val="F8F6F1"/>
                </a:solidFill>
                <a:latin typeface="Manrope"/>
              </a:defRPr>
            </a:pPr>
            <a:r>
              <a:t>Help people use the right context</a:t>
            </a:r>
          </a:p>
          <a:p>
            <a:pPr marL="0" indent="0">
              <a:lnSpc>
                <a:spcPct val="108000"/>
              </a:lnSpc>
              <a:spcBef>
                <a:spcPts val="0"/>
              </a:spcBef>
              <a:spcAft>
                <a:spcPts val="0"/>
              </a:spcAft>
              <a:defRPr sz="2800" b="0">
                <a:solidFill>
                  <a:srgbClr val="F8F6F1"/>
                </a:solidFill>
                <a:latin typeface="Manrope"/>
              </a:defRPr>
            </a:pPr>
            <a:r>
              <a:t>without maintaining another knowledge portal.</a:t>
            </a:r>
          </a:p>
        </p:txBody>
      </p:sp>
      <p:sp>
        <p:nvSpPr>
          <p:cNvPr id="8" name="Rectangle 7"/>
          <p:cNvSpPr/>
          <p:nvPr/>
        </p:nvSpPr>
        <p:spPr>
          <a:xfrm>
            <a:off x="694944" y="3575304"/>
            <a:ext cx="10762488" cy="22860"/>
          </a:xfrm>
          <a:prstGeom prst="rect">
            <a:avLst/>
          </a:prstGeom>
          <a:solidFill>
            <a:srgbClr val="4961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NEXT STEP · A FOCUSED PILOT"/>
          <p:cNvSpPr txBox="1"/>
          <p:nvPr/>
        </p:nvSpPr>
        <p:spPr>
          <a:xfrm>
            <a:off x="704088" y="3922776"/>
            <a:ext cx="10424160" cy="274320"/>
          </a:xfrm>
          <a:prstGeom prst="rect">
            <a:avLst/>
          </a:prstGeom>
          <a:noFill/>
        </p:spPr>
        <p:txBody>
          <a:bodyPr wrap="square" lIns="0" tIns="0" rIns="0" bIns="0" anchor="t">
            <a:spAutoFit/>
          </a:bodyPr>
          <a:lstStyle/>
          <a:p>
            <a:pPr marL="0" indent="0">
              <a:lnSpc>
                <a:spcPct val="108000"/>
              </a:lnSpc>
              <a:spcBef>
                <a:spcPts val="0"/>
              </a:spcBef>
              <a:spcAft>
                <a:spcPts val="0"/>
              </a:spcAft>
              <a:defRPr sz="1300" b="1">
                <a:solidFill>
                  <a:srgbClr val="F3BA55"/>
                </a:solidFill>
                <a:latin typeface="Manrope"/>
              </a:defRPr>
            </a:pPr>
            <a:r>
              <a:t>NEXT STEP · A FOCUSED PILOT</a:t>
            </a:r>
          </a:p>
        </p:txBody>
      </p:sp>
      <p:sp>
        <p:nvSpPr>
          <p:cNvPr id="10" name="Text: 01"/>
          <p:cNvSpPr txBox="1"/>
          <p:nvPr/>
        </p:nvSpPr>
        <p:spPr>
          <a:xfrm>
            <a:off x="704088" y="4480560"/>
            <a:ext cx="502920" cy="338328"/>
          </a:xfrm>
          <a:prstGeom prst="rect">
            <a:avLst/>
          </a:prstGeom>
          <a:noFill/>
        </p:spPr>
        <p:txBody>
          <a:bodyPr wrap="square" lIns="0" tIns="0" rIns="0" bIns="0" anchor="t">
            <a:spAutoFit/>
          </a:bodyPr>
          <a:lstStyle/>
          <a:p>
            <a:pPr marL="0" indent="0">
              <a:lnSpc>
                <a:spcPct val="108000"/>
              </a:lnSpc>
              <a:spcBef>
                <a:spcPts val="0"/>
              </a:spcBef>
              <a:spcAft>
                <a:spcPts val="0"/>
              </a:spcAft>
              <a:defRPr sz="1600" b="1">
                <a:solidFill>
                  <a:srgbClr val="EE6558"/>
                </a:solidFill>
                <a:latin typeface="Manrope"/>
              </a:defRPr>
            </a:pPr>
            <a:r>
              <a:t>01</a:t>
            </a:r>
          </a:p>
        </p:txBody>
      </p:sp>
      <p:sp>
        <p:nvSpPr>
          <p:cNvPr id="11" name="Text: Connect safely"/>
          <p:cNvSpPr txBox="1"/>
          <p:nvPr/>
        </p:nvSpPr>
        <p:spPr>
          <a:xfrm>
            <a:off x="704088" y="4937760"/>
            <a:ext cx="3246120" cy="393192"/>
          </a:xfrm>
          <a:prstGeom prst="rect">
            <a:avLst/>
          </a:prstGeom>
          <a:noFill/>
        </p:spPr>
        <p:txBody>
          <a:bodyPr wrap="square" lIns="0" tIns="0" rIns="0" bIns="0" anchor="t">
            <a:spAutoFit/>
          </a:bodyPr>
          <a:lstStyle/>
          <a:p>
            <a:pPr marL="0" indent="0">
              <a:lnSpc>
                <a:spcPct val="108000"/>
              </a:lnSpc>
              <a:spcBef>
                <a:spcPts val="0"/>
              </a:spcBef>
              <a:spcAft>
                <a:spcPts val="0"/>
              </a:spcAft>
              <a:defRPr sz="2200" b="1">
                <a:solidFill>
                  <a:srgbClr val="F8F6F1"/>
                </a:solidFill>
                <a:latin typeface="Manrope"/>
              </a:defRPr>
            </a:pPr>
            <a:r>
              <a:t>Connect safely</a:t>
            </a:r>
          </a:p>
        </p:txBody>
      </p:sp>
      <p:sp>
        <p:nvSpPr>
          <p:cNvPr id="12" name="Text: Authorised sources and access controls"/>
          <p:cNvSpPr txBox="1"/>
          <p:nvPr/>
        </p:nvSpPr>
        <p:spPr>
          <a:xfrm>
            <a:off x="704088" y="5431536"/>
            <a:ext cx="3337560" cy="621792"/>
          </a:xfrm>
          <a:prstGeom prst="rect">
            <a:avLst/>
          </a:prstGeom>
          <a:noFill/>
        </p:spPr>
        <p:txBody>
          <a:bodyPr wrap="square" lIns="0" tIns="0" rIns="0" bIns="0" anchor="t">
            <a:spAutoFit/>
          </a:bodyPr>
          <a:lstStyle/>
          <a:p>
            <a:pPr marL="0" indent="0">
              <a:lnSpc>
                <a:spcPct val="108000"/>
              </a:lnSpc>
              <a:spcBef>
                <a:spcPts val="0"/>
              </a:spcBef>
              <a:spcAft>
                <a:spcPts val="0"/>
              </a:spcAft>
              <a:defRPr sz="1700" b="0">
                <a:solidFill>
                  <a:srgbClr val="D6DEE8"/>
                </a:solidFill>
                <a:latin typeface="Manrope"/>
              </a:defRPr>
            </a:pPr>
            <a:r>
              <a:t>Authorised sources</a:t>
            </a:r>
          </a:p>
          <a:p>
            <a:pPr marL="0" indent="0">
              <a:lnSpc>
                <a:spcPct val="108000"/>
              </a:lnSpc>
              <a:spcBef>
                <a:spcPts val="0"/>
              </a:spcBef>
              <a:spcAft>
                <a:spcPts val="0"/>
              </a:spcAft>
              <a:defRPr sz="1700" b="0">
                <a:solidFill>
                  <a:srgbClr val="D6DEE8"/>
                </a:solidFill>
                <a:latin typeface="Manrope"/>
              </a:defRPr>
            </a:pPr>
            <a:r>
              <a:t>and access controls</a:t>
            </a:r>
          </a:p>
        </p:txBody>
      </p:sp>
      <p:sp>
        <p:nvSpPr>
          <p:cNvPr id="13" name="Text: 02"/>
          <p:cNvSpPr txBox="1"/>
          <p:nvPr/>
        </p:nvSpPr>
        <p:spPr>
          <a:xfrm>
            <a:off x="4517136" y="4480560"/>
            <a:ext cx="502920" cy="338328"/>
          </a:xfrm>
          <a:prstGeom prst="rect">
            <a:avLst/>
          </a:prstGeom>
          <a:noFill/>
        </p:spPr>
        <p:txBody>
          <a:bodyPr wrap="square" lIns="0" tIns="0" rIns="0" bIns="0" anchor="t">
            <a:spAutoFit/>
          </a:bodyPr>
          <a:lstStyle/>
          <a:p>
            <a:pPr marL="0" indent="0">
              <a:lnSpc>
                <a:spcPct val="108000"/>
              </a:lnSpc>
              <a:spcBef>
                <a:spcPts val="0"/>
              </a:spcBef>
              <a:spcAft>
                <a:spcPts val="0"/>
              </a:spcAft>
              <a:defRPr sz="1600" b="1">
                <a:solidFill>
                  <a:srgbClr val="EE6558"/>
                </a:solidFill>
                <a:latin typeface="Manrope"/>
              </a:defRPr>
            </a:pPr>
            <a:r>
              <a:t>02</a:t>
            </a:r>
          </a:p>
        </p:txBody>
      </p:sp>
      <p:sp>
        <p:nvSpPr>
          <p:cNvPr id="14" name="Text: Close the loop"/>
          <p:cNvSpPr txBox="1"/>
          <p:nvPr/>
        </p:nvSpPr>
        <p:spPr>
          <a:xfrm>
            <a:off x="4517136" y="4937760"/>
            <a:ext cx="3246120" cy="393192"/>
          </a:xfrm>
          <a:prstGeom prst="rect">
            <a:avLst/>
          </a:prstGeom>
          <a:noFill/>
        </p:spPr>
        <p:txBody>
          <a:bodyPr wrap="square" lIns="0" tIns="0" rIns="0" bIns="0" anchor="t">
            <a:spAutoFit/>
          </a:bodyPr>
          <a:lstStyle/>
          <a:p>
            <a:pPr marL="0" indent="0">
              <a:lnSpc>
                <a:spcPct val="108000"/>
              </a:lnSpc>
              <a:spcBef>
                <a:spcPts val="0"/>
              </a:spcBef>
              <a:spcAft>
                <a:spcPts val="0"/>
              </a:spcAft>
              <a:defRPr sz="2200" b="1">
                <a:solidFill>
                  <a:srgbClr val="F8F6F1"/>
                </a:solidFill>
                <a:latin typeface="Manrope"/>
              </a:defRPr>
            </a:pPr>
            <a:r>
              <a:t>Close the loop</a:t>
            </a:r>
          </a:p>
        </p:txBody>
      </p:sp>
      <p:sp>
        <p:nvSpPr>
          <p:cNvPr id="15" name="Text: Real colleague confirmation when evidence is missing"/>
          <p:cNvSpPr txBox="1"/>
          <p:nvPr/>
        </p:nvSpPr>
        <p:spPr>
          <a:xfrm>
            <a:off x="4517136" y="5431536"/>
            <a:ext cx="3337560" cy="621792"/>
          </a:xfrm>
          <a:prstGeom prst="rect">
            <a:avLst/>
          </a:prstGeom>
          <a:noFill/>
        </p:spPr>
        <p:txBody>
          <a:bodyPr wrap="square" lIns="0" tIns="0" rIns="0" bIns="0" anchor="t">
            <a:spAutoFit/>
          </a:bodyPr>
          <a:lstStyle/>
          <a:p>
            <a:pPr marL="0" indent="0">
              <a:lnSpc>
                <a:spcPct val="108000"/>
              </a:lnSpc>
              <a:spcBef>
                <a:spcPts val="0"/>
              </a:spcBef>
              <a:spcAft>
                <a:spcPts val="0"/>
              </a:spcAft>
              <a:defRPr sz="1700" b="0">
                <a:solidFill>
                  <a:srgbClr val="D6DEE8"/>
                </a:solidFill>
                <a:latin typeface="Manrope"/>
              </a:defRPr>
            </a:pPr>
            <a:r>
              <a:t>Real colleague confirmation</a:t>
            </a:r>
          </a:p>
          <a:p>
            <a:pPr marL="0" indent="0">
              <a:lnSpc>
                <a:spcPct val="108000"/>
              </a:lnSpc>
              <a:spcBef>
                <a:spcPts val="0"/>
              </a:spcBef>
              <a:spcAft>
                <a:spcPts val="0"/>
              </a:spcAft>
              <a:defRPr sz="1700" b="0">
                <a:solidFill>
                  <a:srgbClr val="D6DEE8"/>
                </a:solidFill>
                <a:latin typeface="Manrope"/>
              </a:defRPr>
            </a:pPr>
            <a:r>
              <a:t>when evidence is missing</a:t>
            </a:r>
          </a:p>
        </p:txBody>
      </p:sp>
      <p:sp>
        <p:nvSpPr>
          <p:cNvPr id="16" name="Text: 03"/>
          <p:cNvSpPr txBox="1"/>
          <p:nvPr/>
        </p:nvSpPr>
        <p:spPr>
          <a:xfrm>
            <a:off x="8302752" y="4480560"/>
            <a:ext cx="502920" cy="338328"/>
          </a:xfrm>
          <a:prstGeom prst="rect">
            <a:avLst/>
          </a:prstGeom>
          <a:noFill/>
        </p:spPr>
        <p:txBody>
          <a:bodyPr wrap="square" lIns="0" tIns="0" rIns="0" bIns="0" anchor="t">
            <a:spAutoFit/>
          </a:bodyPr>
          <a:lstStyle/>
          <a:p>
            <a:pPr marL="0" indent="0">
              <a:lnSpc>
                <a:spcPct val="108000"/>
              </a:lnSpc>
              <a:spcBef>
                <a:spcPts val="0"/>
              </a:spcBef>
              <a:spcAft>
                <a:spcPts val="0"/>
              </a:spcAft>
              <a:defRPr sz="1600" b="1">
                <a:solidFill>
                  <a:srgbClr val="EE6558"/>
                </a:solidFill>
                <a:latin typeface="Manrope"/>
              </a:defRPr>
            </a:pPr>
            <a:r>
              <a:t>03</a:t>
            </a:r>
          </a:p>
        </p:txBody>
      </p:sp>
      <p:sp>
        <p:nvSpPr>
          <p:cNvPr id="17" name="Text: Measure value"/>
          <p:cNvSpPr txBox="1"/>
          <p:nvPr/>
        </p:nvSpPr>
        <p:spPr>
          <a:xfrm>
            <a:off x="8302752" y="4937760"/>
            <a:ext cx="3246120" cy="393192"/>
          </a:xfrm>
          <a:prstGeom prst="rect">
            <a:avLst/>
          </a:prstGeom>
          <a:noFill/>
        </p:spPr>
        <p:txBody>
          <a:bodyPr wrap="square" lIns="0" tIns="0" rIns="0" bIns="0" anchor="t">
            <a:spAutoFit/>
          </a:bodyPr>
          <a:lstStyle/>
          <a:p>
            <a:pPr marL="0" indent="0">
              <a:lnSpc>
                <a:spcPct val="108000"/>
              </a:lnSpc>
              <a:spcBef>
                <a:spcPts val="0"/>
              </a:spcBef>
              <a:spcAft>
                <a:spcPts val="0"/>
              </a:spcAft>
              <a:defRPr sz="2200" b="1">
                <a:solidFill>
                  <a:srgbClr val="F8F6F1"/>
                </a:solidFill>
                <a:latin typeface="Manrope"/>
              </a:defRPr>
            </a:pPr>
            <a:r>
              <a:t>Measure value</a:t>
            </a:r>
          </a:p>
        </p:txBody>
      </p:sp>
      <p:sp>
        <p:nvSpPr>
          <p:cNvPr id="18" name="Text: Time to a supported answer and expert interruptions"/>
          <p:cNvSpPr txBox="1"/>
          <p:nvPr/>
        </p:nvSpPr>
        <p:spPr>
          <a:xfrm>
            <a:off x="8302752" y="5431536"/>
            <a:ext cx="3337560" cy="621792"/>
          </a:xfrm>
          <a:prstGeom prst="rect">
            <a:avLst/>
          </a:prstGeom>
          <a:noFill/>
        </p:spPr>
        <p:txBody>
          <a:bodyPr wrap="square" lIns="0" tIns="0" rIns="0" bIns="0" anchor="t">
            <a:spAutoFit/>
          </a:bodyPr>
          <a:lstStyle/>
          <a:p>
            <a:pPr marL="0" indent="0">
              <a:lnSpc>
                <a:spcPct val="108000"/>
              </a:lnSpc>
              <a:spcBef>
                <a:spcPts val="0"/>
              </a:spcBef>
              <a:spcAft>
                <a:spcPts val="0"/>
              </a:spcAft>
              <a:defRPr sz="1700" b="0">
                <a:solidFill>
                  <a:srgbClr val="D6DEE8"/>
                </a:solidFill>
                <a:latin typeface="Manrope"/>
              </a:defRPr>
            </a:pPr>
            <a:r>
              <a:t>Time to a supported answer</a:t>
            </a:r>
          </a:p>
          <a:p>
            <a:pPr marL="0" indent="0">
              <a:lnSpc>
                <a:spcPct val="108000"/>
              </a:lnSpc>
              <a:spcBef>
                <a:spcPts val="0"/>
              </a:spcBef>
              <a:spcAft>
                <a:spcPts val="0"/>
              </a:spcAft>
              <a:defRPr sz="1700" b="0">
                <a:solidFill>
                  <a:srgbClr val="D6DEE8"/>
                </a:solidFill>
                <a:latin typeface="Manrope"/>
              </a:defRPr>
            </a:pPr>
            <a:r>
              <a:t>and expert interruptions</a:t>
            </a:r>
          </a:p>
        </p:txBody>
      </p:sp>
      <p:pic>
        <p:nvPicPr>
          <p:cNvPr id="20" name="Official SDtrust SVG">
            <a:extLst>
              <a:ext uri="{FF2B5EF4-FFF2-40B4-BE49-F238E27FC236}">
                <a16:creationId xmlns:a16="http://schemas.microsoft.com/office/drawing/2014/main" id="{1F6FB655-8D03-C750-D0A9-035913069DFE}"/>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640080" y="335280"/>
            <a:ext cx="365760" cy="365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1772</Words>
  <Application>Microsoft Office PowerPoint</Application>
  <PresentationFormat>Breedbeeld</PresentationFormat>
  <Paragraphs>255</Paragraphs>
  <Slides>8</Slides>
  <Notes>8</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8</vt:i4>
      </vt:variant>
    </vt:vector>
  </HeadingPairs>
  <TitlesOfParts>
    <vt:vector size="11" baseType="lpstr">
      <vt:lpstr>Arial</vt:lpstr>
      <vt:lpstr>Calibri</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SDtrust | Tectonic Hackathon Finals | Draft v1</dc:title>
  <dc:subject>An evidence grounded pitch with an editable demo storyboard</dc:subject>
  <dc:creator>Sebastian, Roy and Wanne</dc:creator>
  <cp:keywords>SDtrust, Finn, SD Worx, Tectonic, draft</cp:keywords>
  <dc:description>Synthetic fixture examples. This deck does not certify app runtime or security.</dc:description>
  <cp:lastModifiedBy>Sebastien De Couvreur</cp:lastModifiedBy>
  <cp:revision>2</cp:revision>
  <dcterms:created xsi:type="dcterms:W3CDTF">2013-01-27T09:14:16Z</dcterms:created>
  <dcterms:modified xsi:type="dcterms:W3CDTF">2026-10-20T10:43:58Z</dcterms:modified>
  <cp:category/>
</cp:coreProperties>
</file>