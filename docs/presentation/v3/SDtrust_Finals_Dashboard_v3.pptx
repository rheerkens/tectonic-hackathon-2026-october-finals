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0"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embeddedFontLst>
    <p:embeddedFont>
      <p:font typeface="Manrope" pitchFamily="34" charset="0"/>
      <p:regular r:id="rIdManropeRegular"/>
      <p:bold r:id="rIdManropeBold"/>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 Id="rIdManropeRegular" Type="http://schemas.openxmlformats.org/officeDocument/2006/relationships/font" Target="fonts/ManropeRegular.fntdata"/><Relationship Id="rIdManropeBold" Type="http://schemas.openxmlformats.org/officeDocument/2006/relationships/font" Target="fonts/Manrop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877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answer and the right next step</a:t>
            </a:r>
          </a:p>
          <a:p>
            <a:r>
              <a:t>Timing: 15 seconds.</a:t>
            </a:r>
          </a:p>
          <a:p>
            <a:endParaRPr/>
          </a:p>
          <a:p>
            <a:r>
              <a:t>SPEAK</a:t>
            </a:r>
          </a:p>
          <a:p>
            <a:r>
              <a:t>An HR question should not become a hunt through Teams, emails and client records. Meet Finn, the SDtrust desktop companion for an answer you can check, or a clear next step.</a:t>
            </a:r>
          </a:p>
          <a:p>
            <a:endParaRPr/>
          </a:p>
          <a:p>
            <a:r>
              <a:t>PRESENTER CUES</a:t>
            </a:r>
          </a:p>
          <a:p>
            <a:r>
              <a:t>Open calmly. Introduce the team without adding a separate team slide.</a:t>
            </a:r>
          </a:p>
          <a:p>
            <a:endParaRPr/>
          </a:p>
          <a:p>
            <a:r>
              <a:t>EVIDENCE BOUNDARY</a:t>
            </a:r>
          </a:p>
          <a:p>
            <a:r>
              <a:t>Product proposition. The approved Finn artwork and desktop surfaces exist. No live app was operated to create this presentation.</a:t>
            </a:r>
          </a:p>
          <a:p>
            <a:endParaRPr/>
          </a:p>
          <a:p>
            <a:r>
              <a:t>SOURCES</a:t>
            </a:r>
          </a:p>
          <a:p>
            <a:r>
              <a:t>README.md: product intent and product surfaces</a:t>
            </a:r>
          </a:p>
          <a:p>
            <a:r>
              <a:t>Finals Guide, page 10: fragmented knowledge and calm technology</a:t>
            </a:r>
          </a:p>
          <a:p>
            <a:r>
              <a:t>docs/design/finn.png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Fragmented knowledge</a:t>
            </a:r>
          </a:p>
          <a:p>
            <a:r>
              <a:t>Timing: 20 seconds.</a:t>
            </a:r>
          </a:p>
          <a:p>
            <a:endParaRPr/>
          </a:p>
          <a:p>
            <a:r>
              <a:t>SPEAK</a:t>
            </a:r>
          </a:p>
          <a:p>
            <a:r>
              <a:t>In our synthetic Atlas case, a procedure says the twentieth. A client agreement says the twenty second. Teams mentions the twenty third and twenty fifth. Which source actually applies to this client, country and month?</a:t>
            </a:r>
          </a:p>
          <a:p>
            <a:endParaRPr/>
          </a:p>
          <a:p>
            <a:r>
              <a:t>PRESENTER CUES</a:t>
            </a:r>
          </a:p>
          <a:p>
            <a:r>
              <a:t>These are October 2026 fixture dates, not competing real SD Worx policies. Do not call every source an approved rule.</a:t>
            </a:r>
          </a:p>
          <a:p>
            <a:endParaRPr/>
          </a:p>
          <a:p>
            <a:r>
              <a:t>EVIDENCE BOUNDARY</a:t>
            </a:r>
          </a:p>
          <a:p>
            <a:r>
              <a:t>Scripted fixture content. No measured claim about how much time employees currently spend searching.</a:t>
            </a:r>
          </a:p>
          <a:p>
            <a:endParaRPr/>
          </a:p>
          <a:p>
            <a:r>
              <a:t>SOURCES</a:t>
            </a:r>
          </a:p>
          <a:p>
            <a:r>
              <a:t>apps/web/src/state/finn-scenarios.ts: loonmutatieSources, S1, S4, S10, S3</a:t>
            </a:r>
          </a:p>
          <a:p>
            <a:r>
              <a:t>Finals Guide, page 10: knowledge loses context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Meet Finn</a:t>
            </a:r>
          </a:p>
          <a:p>
            <a:r>
              <a:t>Timing: 15 seconds.</a:t>
            </a:r>
          </a:p>
          <a:p>
            <a:endParaRPr/>
          </a:p>
          <a:p>
            <a:r>
              <a:t>SPEAK</a:t>
            </a:r>
          </a:p>
          <a:p>
            <a:r>
              <a:t>Finn keeps the interaction small. Ask, see the answer, and open the evidence when needed. If evidence is missing, the experience changes from answering to finding the person who can help.</a:t>
            </a:r>
          </a:p>
          <a:p>
            <a:endParaRPr/>
          </a:p>
          <a:p>
            <a:r>
              <a:t>PRESENTER CUES</a:t>
            </a:r>
          </a:p>
          <a:p>
            <a:r>
              <a:t>The question matcher supports the prepared demo questions. Do not suggest arbitrary question coverage. Owner lookup and contact are fixture data.</a:t>
            </a:r>
          </a:p>
          <a:p>
            <a:endParaRPr/>
          </a:p>
          <a:p>
            <a:r>
              <a:t>EVIDENCE BOUNDARY</a:t>
            </a:r>
          </a:p>
          <a:p>
            <a:r>
              <a:t>Prototype source inspected: desktop UI and fixture playback. Full natural language understanding and live search are not demonstrated by this flow.</a:t>
            </a:r>
          </a:p>
          <a:p>
            <a:endParaRPr/>
          </a:p>
          <a:p>
            <a:r>
              <a:t>SOURCES</a:t>
            </a:r>
          </a:p>
          <a:p>
            <a:r>
              <a:t>apps/web/src/state/finn.ts: match, playFixture, startQuestion</a:t>
            </a:r>
          </a:p>
          <a:p>
            <a:r>
              <a:t>apps/web/src/components/FinnResultContent.tsx: evidence and next step</a:t>
            </a:r>
          </a:p>
          <a:p>
            <a:r>
              <a:t>docs/design/finn_pet_refined/session_status.json: approved waving body_lock_03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Product demo</a:t>
            </a:r>
          </a:p>
          <a:p>
            <a:r>
              <a:t>Timing: 45 seconds.</a:t>
            </a:r>
          </a:p>
          <a:p>
            <a:endParaRPr/>
          </a:p>
          <a:p>
            <a:r>
              <a:t>SPEAK</a:t>
            </a:r>
          </a:p>
          <a:p>
            <a:r>
              <a:t>This first prototype uses scripted questions and synthetic records. We ask when Atlas can submit payroll changes. Finn shows the twenty second of October and the approved client agreement. We open the evidence to see why the other dates do not apply. Then we ask: and for next month?</a:t>
            </a:r>
          </a:p>
          <a:p>
            <a:endParaRPr/>
          </a:p>
          <a:p>
            <a:r>
              <a:t>PRESENTER CUES</a:t>
            </a:r>
          </a:p>
          <a:p>
            <a:r>
              <a:t>0 to 10 seconds: ask “Until when can Atlas submit payroll changes?”</a:t>
            </a:r>
          </a:p>
          <a:p>
            <a:r>
              <a:t>10 to 25 seconds: show 22 October and open View details or Why this source.</a:t>
            </a:r>
          </a:p>
          <a:p>
            <a:r>
              <a:t>25 to 35 seconds: point to S4 and one rejected source.</a:t>
            </a:r>
          </a:p>
          <a:p>
            <a:r>
              <a:t>35 to 45 seconds: ask “And for next month?” and show the evidence gap.</a:t>
            </a:r>
          </a:p>
          <a:p>
            <a:r>
              <a:t>Replace this placeholder with a final verified recording or current screenshot before submission. If the jury device has no working demo, use slides 5 and 6 as the editable fallback. The guide warns that the jury uses its own device. No video or live link is embedded in this deck.</a:t>
            </a:r>
          </a:p>
          <a:p>
            <a:endParaRPr/>
          </a:p>
          <a:p>
            <a:r>
              <a:t>EVIDENCE BOUNDARY</a:t>
            </a:r>
          </a:p>
          <a:p>
            <a:r>
              <a:t>Scripted fixture flow, not live connector search. The inspected frontend matches questions and replays in memory. The README describes a broader future scripted agent with real tools, but this is not proven by the current frontend flow.</a:t>
            </a:r>
          </a:p>
          <a:p>
            <a:endParaRPr/>
          </a:p>
          <a:p>
            <a:r>
              <a:t>SOURCES</a:t>
            </a:r>
          </a:p>
          <a:p>
            <a:r>
              <a:t>Finals Guide, page 4: three minutes, five minutes of questions, jury device</a:t>
            </a:r>
          </a:p>
          <a:p>
            <a:r>
              <a:t>apps/web/src/state/finn.ts: match and playFixture</a:t>
            </a:r>
          </a:p>
          <a:p>
            <a:r>
              <a:t>apps/web/src/state/finn-scenarios.ts: d1October and d1November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22 October applies</a:t>
            </a:r>
          </a:p>
          <a:p>
            <a:r>
              <a:t>Timing: 20 seconds.</a:t>
            </a:r>
          </a:p>
          <a:p>
            <a:endParaRPr/>
          </a:p>
          <a:p>
            <a:r>
              <a:t>SPEAK</a:t>
            </a:r>
          </a:p>
          <a:p>
            <a:r>
              <a:t>The account owner approved the Atlas agreement for Belgium in October. It overrides the general deadline. The other dates are proposals or recollections. Finn makes that distinction visible, with the source behind the answer.</a:t>
            </a:r>
          </a:p>
          <a:p>
            <a:endParaRPr/>
          </a:p>
          <a:p>
            <a:r>
              <a:t>PRESENTER CUES</a:t>
            </a:r>
          </a:p>
          <a:p>
            <a:r>
              <a:t>Use this slide as the first demo fallback. Avoid reading a confidence percentage as calibrated accuracy. The fixture contains 0.92, but this is a scripted score, not an evaluation result.</a:t>
            </a:r>
          </a:p>
          <a:p>
            <a:endParaRPr/>
          </a:p>
          <a:p>
            <a:r>
              <a:t>EVIDENCE BOUNDARY</a:t>
            </a:r>
          </a:p>
          <a:p>
            <a:r>
              <a:t>Fixture reasoning and UI source display are present in inspected code. Trust scores and applicability decisions are authored fixture values, not independently computed or validated predictions.</a:t>
            </a:r>
          </a:p>
          <a:p>
            <a:endParaRPr/>
          </a:p>
          <a:p>
            <a:r>
              <a:t>SOURCES</a:t>
            </a:r>
          </a:p>
          <a:p>
            <a:r>
              <a:t>apps/web/src/state/finn-scenarios.ts: d1October, loonmutatieSources</a:t>
            </a:r>
          </a:p>
          <a:p>
            <a:r>
              <a:t>apps/web/src/components/FinnResultContent.tsx: answer sources and Why this source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right next step</a:t>
            </a:r>
          </a:p>
          <a:p>
            <a:r>
              <a:t>Timing: 15 seconds.</a:t>
            </a:r>
          </a:p>
          <a:p>
            <a:endParaRPr/>
          </a:p>
          <a:p>
            <a:r>
              <a:t>SPEAK</a:t>
            </a:r>
          </a:p>
          <a:p>
            <a:r>
              <a:t>For November, Finn does not recycle October’s answer. It shows the missing evidence and identifies Roy, the Atlas owner. Contact is simulated here. A real message and reply loop comes next.</a:t>
            </a:r>
          </a:p>
          <a:p>
            <a:endParaRPr/>
          </a:p>
          <a:p>
            <a:r>
              <a:t>PRESENTER CUES</a:t>
            </a:r>
          </a:p>
          <a:p>
            <a:r>
              <a:t>Use this slide as the second demo fallback. Do not say that Finn has actually sent a Teams message. In the fixture, all October sources are no longer applicable to November, including the general rule.</a:t>
            </a:r>
          </a:p>
          <a:p>
            <a:endParaRPr/>
          </a:p>
          <a:p>
            <a:r>
              <a:t>EVIDENCE BOUNDARY</a:t>
            </a:r>
          </a:p>
          <a:p>
            <a:r>
              <a:t>The null answer, owner and proposed message are fixture values. The UI explicitly says simulated contact. No external message has been sent.</a:t>
            </a:r>
          </a:p>
          <a:p>
            <a:endParaRPr/>
          </a:p>
          <a:p>
            <a:r>
              <a:t>SOURCES</a:t>
            </a:r>
          </a:p>
          <a:p>
            <a:r>
              <a:t>apps/web/src/state/finn-scenarios.ts: d1November, nextStep</a:t>
            </a:r>
          </a:p>
          <a:p>
            <a:r>
              <a:t>apps/web/src/components/FinnResultContent.tsx: Simulated contact in this demo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Sick leave example</a:t>
            </a:r>
          </a:p>
          <a:p>
            <a:r>
              <a:t>Timing: 15 seconds.</a:t>
            </a:r>
          </a:p>
          <a:p>
            <a:endParaRPr/>
          </a:p>
          <a:p>
            <a:r>
              <a:t>SPEAK</a:t>
            </a:r>
          </a:p>
          <a:p>
            <a:r>
              <a:t>In our synthetic sick leave case, the approved procedure says twenty four hours. Forty eight is unconfirmed. Seventy two comes from an expired version. The status of the source matters.</a:t>
            </a:r>
          </a:p>
          <a:p>
            <a:endParaRPr/>
          </a:p>
          <a:p>
            <a:r>
              <a:t>PRESENTER CUES</a:t>
            </a:r>
          </a:p>
          <a:p>
            <a:r>
              <a:t>Optional cut if the live demo runs long. These are synthetic fixture policy values, not real Belgian legal requirements. Do not present them as guidance to SD Worx clients.</a:t>
            </a:r>
          </a:p>
          <a:p>
            <a:endParaRPr/>
          </a:p>
          <a:p>
            <a:r>
              <a:t>EVIDENCE BOUNDARY</a:t>
            </a:r>
          </a:p>
          <a:p>
            <a:r>
              <a:t>d2 fixture content only. Not an independent policy, legal or payroll validation. The fixture score 0.85 is authored, not calibrated.</a:t>
            </a:r>
          </a:p>
          <a:p>
            <a:endParaRPr/>
          </a:p>
          <a:p>
            <a:r>
              <a:t>SOURCES</a:t>
            </a:r>
          </a:p>
          <a:p>
            <a:r>
              <a:t>apps/web/src/state/finn-scenarios.ts: d2, S6, S7, S34, S32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Value and next step</a:t>
            </a:r>
          </a:p>
          <a:p>
            <a:r>
              <a:t>Timing: 25 seconds.</a:t>
            </a:r>
          </a:p>
          <a:p>
            <a:endParaRPr/>
          </a:p>
          <a:p>
            <a:r>
              <a:t>SPEAK</a:t>
            </a:r>
          </a:p>
          <a:p>
            <a:r>
              <a:t>For SD Worx, everyday expertise becomes easier to use, with uncertainty in view. Next, we would pilot authorised sources and real colleague confirmation in one workflow, measuring time to a supported answer and interruptions to experts. Less searching, with better judgement.</a:t>
            </a:r>
          </a:p>
          <a:p>
            <a:endParaRPr/>
          </a:p>
          <a:p>
            <a:r>
              <a:t>PRESENTER CUES</a:t>
            </a:r>
          </a:p>
          <a:p>
            <a:r>
              <a:t>End here within 170 seconds. Leave ten seconds of safety margin. These are proposed pilot metrics, not measured savings. The safe connection and access controls are future pilot requirements, not a claim of a completed security review. Keep the completed Aikido evidence ready separately for submission and questions.</a:t>
            </a:r>
          </a:p>
          <a:p>
            <a:endParaRPr/>
          </a:p>
          <a:p>
            <a:r>
              <a:t>EVIDENCE BOUNDARY</a:t>
            </a:r>
          </a:p>
          <a:p>
            <a:r>
              <a:t>Value hypothesis and roadmap. Real connectors, permission enforcement over enterprise sources, ongoing freshness monitoring, colleague replies and knowledge reuse remain future work. Voice is deliberately excluded. No security scan result is asserted.</a:t>
            </a:r>
          </a:p>
          <a:p>
            <a:endParaRPr/>
          </a:p>
          <a:p>
            <a:r>
              <a:t>SOURCES</a:t>
            </a:r>
          </a:p>
          <a:p>
            <a:r>
              <a:t>Finals Guide, pages 6, 10, 11 and 12: criteria, challenge and Aikido requirements</a:t>
            </a:r>
          </a:p>
          <a:p>
            <a:r>
              <a:t>README.md: challenge coverage, privacy, stretch goals and source choices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Dashboard ambient EE6558"/>
          <p:cNvSpPr/>
          <p:nvPr/>
        </p:nvSpPr>
        <p:spPr>
          <a:xfrm>
            <a:off x="7955279" y="0"/>
            <a:ext cx="4233672" cy="3474720"/>
          </a:xfrm>
          <a:prstGeom prst="ellipse">
            <a:avLst/>
          </a:prstGeom>
          <a:gradFill rotWithShape="1">
            <a:gsLst>
              <a:gs pos="0">
                <a:srgbClr val="EE6558">
                  <a:alpha val="0"/>
                </a:srgbClr>
              </a:gs>
              <a:gs pos="100000">
                <a:srgbClr val="EE6558">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ashboard ambient 6F9BE0"/>
          <p:cNvSpPr/>
          <p:nvPr/>
        </p:nvSpPr>
        <p:spPr>
          <a:xfrm>
            <a:off x="0" y="3474720"/>
            <a:ext cx="4937760" cy="3383280"/>
          </a:xfrm>
          <a:prstGeom prst="ellipse">
            <a:avLst/>
          </a:prstGeom>
          <a:gradFill rotWithShape="1">
            <a:gsLst>
              <a:gs pos="0">
                <a:srgbClr val="6F9BE0">
                  <a:alpha val="0"/>
                </a:srgbClr>
              </a:gs>
              <a:gs pos="100000">
                <a:srgbClr val="6F9BE0">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ashboard ambient F2A55A"/>
          <p:cNvSpPr/>
          <p:nvPr/>
        </p:nvSpPr>
        <p:spPr>
          <a:xfrm>
            <a:off x="6675120" y="3017520"/>
            <a:ext cx="3657600" cy="3383280"/>
          </a:xfrm>
          <a:prstGeom prst="ellipse">
            <a:avLst/>
          </a:prstGeom>
          <a:gradFill rotWithShape="1">
            <a:gsLst>
              <a:gs pos="0">
                <a:srgbClr val="F2A55A">
                  <a:alpha val="0"/>
                </a:srgbClr>
              </a:gs>
              <a:gs pos="100000">
                <a:srgbClr val="F2A55A">
                  <a:alpha val="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ver panel"/>
          <p:cNvSpPr/>
          <p:nvPr/>
        </p:nvSpPr>
        <p:spPr>
          <a:xfrm>
            <a:off x="7726679" y="0"/>
            <a:ext cx="4465319" cy="6858000"/>
          </a:xfrm>
          <a:prstGeom prst="rect">
            <a:avLst/>
          </a:prstGeom>
          <a:solidFill>
            <a:srgbClr val="192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ashboard ambient EE6558"/>
          <p:cNvSpPr/>
          <p:nvPr/>
        </p:nvSpPr>
        <p:spPr>
          <a:xfrm>
            <a:off x="7726679" y="182880"/>
            <a:ext cx="4389120" cy="4389120"/>
          </a:xfrm>
          <a:prstGeom prst="ellipse">
            <a:avLst/>
          </a:prstGeom>
          <a:gradFill rotWithShape="1">
            <a:gsLst>
              <a:gs pos="0">
                <a:srgbClr val="EE6558">
                  <a:alpha val="0"/>
                </a:srgbClr>
              </a:gs>
              <a:gs pos="100000">
                <a:srgbClr val="EE6558">
                  <a:alpha val="30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Dashboard ambient 6F9BE0"/>
          <p:cNvSpPr/>
          <p:nvPr/>
        </p:nvSpPr>
        <p:spPr>
          <a:xfrm>
            <a:off x="7726679" y="2743200"/>
            <a:ext cx="4389120" cy="4114800"/>
          </a:xfrm>
          <a:prstGeom prst="ellipse">
            <a:avLst/>
          </a:prstGeom>
          <a:gradFill rotWithShape="1">
            <a:gsLst>
              <a:gs pos="0">
                <a:srgbClr val="6F9BE0">
                  <a:alpha val="0"/>
                </a:srgbClr>
              </a:gs>
              <a:gs pos="100000">
                <a:srgbClr val="6F9BE0">
                  <a:alpha val="2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inn glass companion panel"/>
          <p:cNvSpPr/>
          <p:nvPr/>
        </p:nvSpPr>
        <p:spPr>
          <a:xfrm>
            <a:off x="8028431" y="1170432"/>
            <a:ext cx="3657600" cy="5230368"/>
          </a:xfrm>
          <a:prstGeom prst="roundRect">
            <a:avLst>
              <a:gd name="adj" fmla="val 8500"/>
            </a:avLst>
          </a:prstGeom>
          <a:gradFill rotWithShape="1">
            <a:gsLst>
              <a:gs pos="0">
                <a:srgbClr val="29435F">
                  <a:alpha val="97000"/>
                </a:srgbClr>
              </a:gs>
              <a:gs pos="100000">
                <a:srgbClr val="172637">
                  <a:alpha val="95000"/>
                </a:srgbClr>
              </a:gs>
            </a:gsLst>
            <a:lin ang="6300000" scaled="1"/>
          </a:gradFill>
          <a:ln w="12700">
            <a:solidFill>
              <a:srgbClr val="31475D"/>
            </a:solidFill>
          </a:ln>
          <a:effectLst>
            <a:outerShdw blurRad="177800" dist="4445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Approved asset: Finn original" descr="Finn.png"/>
          <p:cNvPicPr>
            <a:picLocks noChangeAspect="1"/>
          </p:cNvPicPr>
          <p:nvPr/>
        </p:nvPicPr>
        <p:blipFill>
          <a:blip r:embed="rId3"/>
          <a:stretch>
            <a:fillRect/>
          </a:stretch>
        </p:blipFill>
        <p:spPr>
          <a:xfrm>
            <a:off x="8092440" y="1737360"/>
            <a:ext cx="3749039" cy="3749039"/>
          </a:xfrm>
          <a:prstGeom prst="rect">
            <a:avLst/>
          </a:prstGeom>
        </p:spPr>
      </p:pic>
      <p:sp>
        <p:nvSpPr>
          <p:cNvPr id="10" name="Finn name"/>
          <p:cNvSpPr txBox="1"/>
          <p:nvPr/>
        </p:nvSpPr>
        <p:spPr>
          <a:xfrm>
            <a:off x="8183879" y="5742432"/>
            <a:ext cx="3566160" cy="310896"/>
          </a:xfrm>
          <a:prstGeom prst="rect">
            <a:avLst/>
          </a:prstGeom>
          <a:noFill/>
        </p:spPr>
        <p:txBody>
          <a:bodyPr wrap="square" lIns="0" tIns="0" rIns="0" bIns="0" anchor="t">
            <a:spAutoFit/>
          </a:bodyPr>
          <a:lstStyle/>
          <a:p>
            <a:pPr algn="ctr">
              <a:lnSpc>
                <a:spcPct val="105000"/>
              </a:lnSpc>
              <a:spcBef>
                <a:spcPts val="0"/>
              </a:spcBef>
              <a:spcAft>
                <a:spcPts val="0"/>
              </a:spcAft>
            </a:pPr>
            <a:r>
              <a:rPr sz="1600" b="1">
                <a:solidFill>
                  <a:srgbClr val="F8F6F1"/>
                </a:solidFill>
                <a:latin typeface="Manrope"/>
              </a:rPr>
              <a:t>Finn</a:t>
            </a:r>
          </a:p>
        </p:txBody>
      </p:sp>
      <p:sp>
        <p:nvSpPr>
          <p:cNvPr id="11" name="Finn role"/>
          <p:cNvSpPr txBox="1"/>
          <p:nvPr/>
        </p:nvSpPr>
        <p:spPr>
          <a:xfrm>
            <a:off x="8183879" y="6053328"/>
            <a:ext cx="3566160" cy="274320"/>
          </a:xfrm>
          <a:prstGeom prst="rect">
            <a:avLst/>
          </a:prstGeom>
          <a:noFill/>
        </p:spPr>
        <p:txBody>
          <a:bodyPr wrap="square" lIns="0" tIns="0" rIns="0" bIns="0" anchor="t">
            <a:spAutoFit/>
          </a:bodyPr>
          <a:lstStyle/>
          <a:p>
            <a:pPr algn="ctr">
              <a:lnSpc>
                <a:spcPct val="105000"/>
              </a:lnSpc>
              <a:spcBef>
                <a:spcPts val="0"/>
              </a:spcBef>
              <a:spcAft>
                <a:spcPts val="0"/>
              </a:spcAft>
            </a:pPr>
            <a:r>
              <a:rPr sz="1200" b="0">
                <a:solidFill>
                  <a:srgbClr val="D6DEE8"/>
                </a:solidFill>
                <a:latin typeface="Manrope"/>
              </a:rPr>
              <a:t>Your SDtrust desktop companion</a:t>
            </a:r>
          </a:p>
        </p:txBody>
      </p:sp>
      <p:sp>
        <p:nvSpPr>
          <p:cNvPr id="13" name="Wordmark"/>
          <p:cNvSpPr txBox="1"/>
          <p:nvPr/>
        </p:nvSpPr>
        <p:spPr>
          <a:xfrm>
            <a:off x="1170432" y="603504"/>
            <a:ext cx="2011680" cy="365760"/>
          </a:xfrm>
          <a:prstGeom prst="rect">
            <a:avLst/>
          </a:prstGeom>
          <a:noFill/>
        </p:spPr>
        <p:txBody>
          <a:bodyPr wrap="square" lIns="0" tIns="0" rIns="0" bIns="0" anchor="t">
            <a:spAutoFit/>
          </a:bodyPr>
          <a:lstStyle/>
          <a:p>
            <a:pPr>
              <a:lnSpc>
                <a:spcPct val="105000"/>
              </a:lnSpc>
              <a:spcBef>
                <a:spcPts val="0"/>
              </a:spcBef>
              <a:spcAft>
                <a:spcPts val="0"/>
              </a:spcAft>
            </a:pPr>
            <a:r>
              <a:rPr sz="2000" b="1">
                <a:solidFill>
                  <a:srgbClr val="192D46"/>
                </a:solidFill>
                <a:latin typeface="Manrope"/>
              </a:rPr>
              <a:t>SDtrust</a:t>
            </a:r>
          </a:p>
        </p:txBody>
      </p:sp>
      <p:sp>
        <p:nvSpPr>
          <p:cNvPr id="14" name="Kicker"/>
          <p:cNvSpPr txBox="1"/>
          <p:nvPr/>
        </p:nvSpPr>
        <p:spPr>
          <a:xfrm>
            <a:off x="658368" y="1828800"/>
            <a:ext cx="6766560" cy="256032"/>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TECTONIC HACKATHON FINALS · SD WORX</a:t>
            </a:r>
          </a:p>
        </p:txBody>
      </p:sp>
      <p:sp>
        <p:nvSpPr>
          <p:cNvPr id="15" name="Cover headline"/>
          <p:cNvSpPr txBox="1"/>
          <p:nvPr/>
        </p:nvSpPr>
        <p:spPr>
          <a:xfrm>
            <a:off x="621792" y="2176272"/>
            <a:ext cx="6949440" cy="1874519"/>
          </a:xfrm>
          <a:prstGeom prst="rect">
            <a:avLst/>
          </a:prstGeom>
          <a:noFill/>
        </p:spPr>
        <p:txBody>
          <a:bodyPr wrap="square" lIns="0" tIns="0" rIns="0" bIns="0" anchor="t">
            <a:spAutoFit/>
          </a:bodyPr>
          <a:lstStyle/>
          <a:p>
            <a:pPr>
              <a:lnSpc>
                <a:spcPct val="94000"/>
              </a:lnSpc>
              <a:spcBef>
                <a:spcPts val="0"/>
              </a:spcBef>
              <a:spcAft>
                <a:spcPts val="0"/>
              </a:spcAft>
            </a:pPr>
            <a:r>
              <a:rPr sz="6200" b="1">
                <a:solidFill>
                  <a:srgbClr val="192D46"/>
                </a:solidFill>
                <a:latin typeface="Manrope"/>
              </a:rPr>
              <a:t>The answer.</a:t>
            </a:r>
          </a:p>
          <a:p>
            <a:pPr>
              <a:lnSpc>
                <a:spcPct val="94000"/>
              </a:lnSpc>
              <a:spcBef>
                <a:spcPts val="0"/>
              </a:spcBef>
              <a:spcAft>
                <a:spcPts val="0"/>
              </a:spcAft>
            </a:pPr>
            <a:r>
              <a:rPr sz="6200" b="1">
                <a:solidFill>
                  <a:srgbClr val="192D46"/>
                </a:solidFill>
                <a:latin typeface="Manrope"/>
              </a:rPr>
              <a:t>And the right</a:t>
            </a:r>
          </a:p>
        </p:txBody>
      </p:sp>
      <p:sp>
        <p:nvSpPr>
          <p:cNvPr id="16" name="Aurora headline"/>
          <p:cNvSpPr txBox="1"/>
          <p:nvPr/>
        </p:nvSpPr>
        <p:spPr>
          <a:xfrm>
            <a:off x="621792" y="3776472"/>
            <a:ext cx="6949440" cy="1005840"/>
          </a:xfrm>
          <a:prstGeom prst="rect">
            <a:avLst/>
          </a:prstGeom>
          <a:noFill/>
        </p:spPr>
        <p:txBody>
          <a:bodyPr wrap="square" lIns="0" tIns="0" rIns="0" bIns="0" anchor="t">
            <a:spAutoFit/>
          </a:bodyPr>
          <a:lstStyle/>
          <a:p>
            <a:pPr>
              <a:lnSpc>
                <a:spcPct val="94000"/>
              </a:lnSpc>
              <a:spcBef>
                <a:spcPts val="0"/>
              </a:spcBef>
              <a:spcAft>
                <a:spcPts val="0"/>
              </a:spcAft>
            </a:pPr>
            <a:r>
              <a:rPr sz="6200" b="1">
                <a:gradFill rotWithShape="1">
                  <a:gsLst>
                    <a:gs pos="0">
                      <a:srgbClr val="D84935"/>
                    </a:gs>
                    <a:gs pos="55000">
                      <a:srgbClr val="C26D12"/>
                    </a:gs>
                    <a:gs pos="100000">
                      <a:srgbClr val="4A74C0"/>
                    </a:gs>
                  </a:gsLst>
                  <a:lin ang="0" scaled="1"/>
                </a:gradFill>
                <a:latin typeface="Manrope"/>
              </a:rPr>
              <a:t>next step.</a:t>
            </a:r>
          </a:p>
        </p:txBody>
      </p:sp>
      <p:sp>
        <p:nvSpPr>
          <p:cNvPr id="17" name="Cover subline"/>
          <p:cNvSpPr txBox="1"/>
          <p:nvPr/>
        </p:nvSpPr>
        <p:spPr>
          <a:xfrm>
            <a:off x="658368" y="5120640"/>
            <a:ext cx="6766560" cy="411480"/>
          </a:xfrm>
          <a:prstGeom prst="rect">
            <a:avLst/>
          </a:prstGeom>
          <a:noFill/>
        </p:spPr>
        <p:txBody>
          <a:bodyPr wrap="square" lIns="0" tIns="0" rIns="0" bIns="0" anchor="t">
            <a:spAutoFit/>
          </a:bodyPr>
          <a:lstStyle/>
          <a:p>
            <a:pPr>
              <a:lnSpc>
                <a:spcPct val="105000"/>
              </a:lnSpc>
              <a:spcBef>
                <a:spcPts val="0"/>
              </a:spcBef>
              <a:spcAft>
                <a:spcPts val="0"/>
              </a:spcAft>
            </a:pPr>
            <a:r>
              <a:rPr sz="2100" b="0">
                <a:solidFill>
                  <a:srgbClr val="5F6F85"/>
                </a:solidFill>
                <a:latin typeface="Manrope"/>
              </a:rPr>
              <a:t>Meet Finn, your SDtrust knowledge companion.</a:t>
            </a:r>
          </a:p>
        </p:txBody>
      </p:sp>
      <p:cxnSp>
        <p:nvCxnSpPr>
          <p:cNvPr id="18" name="Rule"/>
          <p:cNvCxnSpPr/>
          <p:nvPr/>
        </p:nvCxnSpPr>
        <p:spPr>
          <a:xfrm>
            <a:off x="658368" y="5870448"/>
            <a:ext cx="548640" cy="0"/>
          </a:xfrm>
          <a:prstGeom prst="line">
            <a:avLst/>
          </a:prstGeom>
          <a:ln w="15875">
            <a:solidFill>
              <a:srgbClr val="192D46"/>
            </a:solidFill>
          </a:ln>
        </p:spPr>
      </p:cxnSp>
      <p:sp>
        <p:nvSpPr>
          <p:cNvPr id="19" name="Team"/>
          <p:cNvSpPr txBox="1"/>
          <p:nvPr/>
        </p:nvSpPr>
        <p:spPr>
          <a:xfrm>
            <a:off x="658368" y="6016752"/>
            <a:ext cx="5486400" cy="329184"/>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Sebastian · Roy · Wanne</a:t>
            </a:r>
          </a:p>
        </p:txBody>
      </p:sp>
      <p:pic>
        <p:nvPicPr>
          <p:cNvPr id="21" name="Official SDtrust SVG">
            <a:extLst>
              <a:ext uri="{FF2B5EF4-FFF2-40B4-BE49-F238E27FC236}">
                <a16:creationId xmlns:a16="http://schemas.microsoft.com/office/drawing/2014/main" id="{E290583A-5515-EC73-15F4-10B3763636F0}"/>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0080" y="566928"/>
            <a:ext cx="420624" cy="4206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Dashboard ambient EE6558"/>
          <p:cNvSpPr/>
          <p:nvPr/>
        </p:nvSpPr>
        <p:spPr>
          <a:xfrm>
            <a:off x="7955279" y="0"/>
            <a:ext cx="4233672" cy="3474720"/>
          </a:xfrm>
          <a:prstGeom prst="ellipse">
            <a:avLst/>
          </a:prstGeom>
          <a:gradFill rotWithShape="1">
            <a:gsLst>
              <a:gs pos="0">
                <a:srgbClr val="EE6558">
                  <a:alpha val="0"/>
                </a:srgbClr>
              </a:gs>
              <a:gs pos="100000">
                <a:srgbClr val="EE6558">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ashboard ambient 6F9BE0"/>
          <p:cNvSpPr/>
          <p:nvPr/>
        </p:nvSpPr>
        <p:spPr>
          <a:xfrm>
            <a:off x="0" y="3474720"/>
            <a:ext cx="4937760" cy="3383280"/>
          </a:xfrm>
          <a:prstGeom prst="ellipse">
            <a:avLst/>
          </a:prstGeom>
          <a:gradFill rotWithShape="1">
            <a:gsLst>
              <a:gs pos="0">
                <a:srgbClr val="6F9BE0">
                  <a:alpha val="0"/>
                </a:srgbClr>
              </a:gs>
              <a:gs pos="100000">
                <a:srgbClr val="6F9BE0">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ashboard ambient F2A55A"/>
          <p:cNvSpPr/>
          <p:nvPr/>
        </p:nvSpPr>
        <p:spPr>
          <a:xfrm>
            <a:off x="6675120" y="3017520"/>
            <a:ext cx="3657600" cy="3383280"/>
          </a:xfrm>
          <a:prstGeom prst="ellipse">
            <a:avLst/>
          </a:prstGeom>
          <a:gradFill rotWithShape="1">
            <a:gsLst>
              <a:gs pos="0">
                <a:srgbClr val="F2A55A">
                  <a:alpha val="0"/>
                </a:srgbClr>
              </a:gs>
              <a:gs pos="100000">
                <a:srgbClr val="F2A55A">
                  <a:alpha val="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ashboard brand strip"/>
          <p:cNvSpPr/>
          <p:nvPr/>
        </p:nvSpPr>
        <p:spPr>
          <a:xfrm>
            <a:off x="484632" y="283464"/>
            <a:ext cx="11201400" cy="685800"/>
          </a:xfrm>
          <a:prstGeom prst="roundRect">
            <a:avLst>
              <a:gd name="adj" fmla="val 24000"/>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SDtrust</a:t>
            </a:r>
          </a:p>
        </p:txBody>
      </p:sp>
      <p:sp>
        <p:nvSpPr>
          <p:cNvPr id="8"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5F6F85"/>
                </a:solidFill>
                <a:latin typeface="Manrope"/>
              </a:rPr>
              <a:t>02 / 08</a:t>
            </a:r>
          </a:p>
        </p:txBody>
      </p:sp>
      <p:sp>
        <p:nvSpPr>
          <p:cNvPr id="9"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THE PROBLEM</a:t>
            </a:r>
          </a:p>
        </p:txBody>
      </p:sp>
      <p:sp>
        <p:nvSpPr>
          <p:cNvPr id="10"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192D46"/>
                </a:solidFill>
                <a:latin typeface="Manrope"/>
              </a:rPr>
              <a:t>One client. Four different deadlines.</a:t>
            </a:r>
          </a:p>
        </p:txBody>
      </p:sp>
      <p:sp>
        <p:nvSpPr>
          <p:cNvPr id="11" name="Question"/>
          <p:cNvSpPr txBox="1"/>
          <p:nvPr/>
        </p:nvSpPr>
        <p:spPr>
          <a:xfrm>
            <a:off x="640080" y="2212848"/>
            <a:ext cx="10515600" cy="384048"/>
          </a:xfrm>
          <a:prstGeom prst="rect">
            <a:avLst/>
          </a:prstGeom>
          <a:noFill/>
        </p:spPr>
        <p:txBody>
          <a:bodyPr wrap="square" lIns="0" tIns="0" rIns="0" bIns="0" anchor="t">
            <a:spAutoFit/>
          </a:bodyPr>
          <a:lstStyle/>
          <a:p>
            <a:pPr>
              <a:lnSpc>
                <a:spcPct val="105000"/>
              </a:lnSpc>
              <a:spcBef>
                <a:spcPts val="0"/>
              </a:spcBef>
              <a:spcAft>
                <a:spcPts val="0"/>
              </a:spcAft>
            </a:pPr>
            <a:r>
              <a:rPr sz="2200" b="0">
                <a:solidFill>
                  <a:srgbClr val="5F6F85"/>
                </a:solidFill>
                <a:latin typeface="Manrope"/>
              </a:rPr>
              <a:t>“When can Atlas submit payroll changes?”</a:t>
            </a:r>
          </a:p>
        </p:txBody>
      </p:sp>
      <p:sp>
        <p:nvSpPr>
          <p:cNvPr id="12" name="Dashboard source panel 20"/>
          <p:cNvSpPr/>
          <p:nvPr/>
        </p:nvSpPr>
        <p:spPr>
          <a:xfrm>
            <a:off x="521207" y="2734056"/>
            <a:ext cx="2688336" cy="3035808"/>
          </a:xfrm>
          <a:prstGeom prst="roundRect">
            <a:avLst>
              <a:gd name="adj" fmla="val 7482"/>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hip: S1 · PROCEDURE"/>
          <p:cNvSpPr/>
          <p:nvPr/>
        </p:nvSpPr>
        <p:spPr>
          <a:xfrm>
            <a:off x="640080" y="2834640"/>
            <a:ext cx="1654332" cy="292608"/>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hip text: S1 · PROCEDURE"/>
          <p:cNvSpPr txBox="1"/>
          <p:nvPr/>
        </p:nvSpPr>
        <p:spPr>
          <a:xfrm>
            <a:off x="640080" y="2834640"/>
            <a:ext cx="1654332" cy="292608"/>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5F6F85"/>
                </a:solidFill>
                <a:latin typeface="Manrope"/>
              </a:rPr>
              <a:t>S1 · PROCEDURE</a:t>
            </a:r>
          </a:p>
        </p:txBody>
      </p:sp>
      <p:sp>
        <p:nvSpPr>
          <p:cNvPr id="15" name="Numeral 20"/>
          <p:cNvSpPr txBox="1"/>
          <p:nvPr/>
        </p:nvSpPr>
        <p:spPr>
          <a:xfrm>
            <a:off x="603503" y="3127248"/>
            <a:ext cx="2468880" cy="1645920"/>
          </a:xfrm>
          <a:prstGeom prst="rect">
            <a:avLst/>
          </a:prstGeom>
          <a:noFill/>
        </p:spPr>
        <p:txBody>
          <a:bodyPr wrap="square" lIns="0" tIns="0" rIns="0" bIns="0" anchor="t">
            <a:spAutoFit/>
          </a:bodyPr>
          <a:lstStyle/>
          <a:p>
            <a:pPr>
              <a:lnSpc>
                <a:spcPct val="90000"/>
              </a:lnSpc>
              <a:spcBef>
                <a:spcPts val="0"/>
              </a:spcBef>
              <a:spcAft>
                <a:spcPts val="0"/>
              </a:spcAft>
            </a:pPr>
            <a:r>
              <a:rPr sz="11200" b="1">
                <a:solidFill>
                  <a:srgbClr val="192D46"/>
                </a:solidFill>
                <a:latin typeface="Manrope"/>
              </a:rPr>
              <a:t>20</a:t>
            </a:r>
          </a:p>
        </p:txBody>
      </p:sp>
      <p:sp>
        <p:nvSpPr>
          <p:cNvPr id="16" name="Text: General rule"/>
          <p:cNvSpPr txBox="1"/>
          <p:nvPr/>
        </p:nvSpPr>
        <p:spPr>
          <a:xfrm>
            <a:off x="640080" y="4617720"/>
            <a:ext cx="2560320" cy="329184"/>
          </a:xfrm>
          <a:prstGeom prst="rect">
            <a:avLst/>
          </a:prstGeom>
          <a:noFill/>
        </p:spPr>
        <p:txBody>
          <a:bodyPr wrap="square" lIns="0" tIns="0" rIns="0" bIns="0" anchor="t">
            <a:spAutoFit/>
          </a:bodyPr>
          <a:lstStyle/>
          <a:p>
            <a:pPr>
              <a:lnSpc>
                <a:spcPct val="105000"/>
              </a:lnSpc>
              <a:spcBef>
                <a:spcPts val="0"/>
              </a:spcBef>
              <a:spcAft>
                <a:spcPts val="0"/>
              </a:spcAft>
            </a:pPr>
            <a:r>
              <a:rPr sz="1700" b="1">
                <a:solidFill>
                  <a:srgbClr val="192D46"/>
                </a:solidFill>
                <a:latin typeface="Manrope"/>
              </a:rPr>
              <a:t>General rule</a:t>
            </a:r>
          </a:p>
        </p:txBody>
      </p:sp>
      <p:sp>
        <p:nvSpPr>
          <p:cNvPr id="17" name="Text: Belgium"/>
          <p:cNvSpPr txBox="1"/>
          <p:nvPr/>
        </p:nvSpPr>
        <p:spPr>
          <a:xfrm>
            <a:off x="640080" y="4928616"/>
            <a:ext cx="2560320" cy="2743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5F6F85"/>
                </a:solidFill>
                <a:latin typeface="Manrope"/>
              </a:rPr>
              <a:t>Belgium</a:t>
            </a:r>
          </a:p>
        </p:txBody>
      </p:sp>
      <p:sp>
        <p:nvSpPr>
          <p:cNvPr id="18" name="Dashboard source panel 22"/>
          <p:cNvSpPr/>
          <p:nvPr/>
        </p:nvSpPr>
        <p:spPr>
          <a:xfrm>
            <a:off x="3337560" y="2734056"/>
            <a:ext cx="2688336" cy="3035808"/>
          </a:xfrm>
          <a:prstGeom prst="roundRect">
            <a:avLst>
              <a:gd name="adj" fmla="val 7482"/>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hip: S4 · AGREEMENT"/>
          <p:cNvSpPr/>
          <p:nvPr/>
        </p:nvSpPr>
        <p:spPr>
          <a:xfrm>
            <a:off x="3456432" y="3218688"/>
            <a:ext cx="1654332" cy="292608"/>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hip text: S4 · AGREEMENT"/>
          <p:cNvSpPr txBox="1"/>
          <p:nvPr/>
        </p:nvSpPr>
        <p:spPr>
          <a:xfrm>
            <a:off x="3456432" y="3218688"/>
            <a:ext cx="1654332" cy="292608"/>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5F6F85"/>
                </a:solidFill>
                <a:latin typeface="Manrope"/>
              </a:rPr>
              <a:t>S4 · AGREEMENT</a:t>
            </a:r>
          </a:p>
        </p:txBody>
      </p:sp>
      <p:sp>
        <p:nvSpPr>
          <p:cNvPr id="21" name="Numeral 22"/>
          <p:cNvSpPr txBox="1"/>
          <p:nvPr/>
        </p:nvSpPr>
        <p:spPr>
          <a:xfrm>
            <a:off x="3419856" y="3511296"/>
            <a:ext cx="2468880" cy="1645920"/>
          </a:xfrm>
          <a:prstGeom prst="rect">
            <a:avLst/>
          </a:prstGeom>
          <a:noFill/>
        </p:spPr>
        <p:txBody>
          <a:bodyPr wrap="square" lIns="0" tIns="0" rIns="0" bIns="0" anchor="t">
            <a:spAutoFit/>
          </a:bodyPr>
          <a:lstStyle/>
          <a:p>
            <a:pPr>
              <a:lnSpc>
                <a:spcPct val="90000"/>
              </a:lnSpc>
              <a:spcBef>
                <a:spcPts val="0"/>
              </a:spcBef>
              <a:spcAft>
                <a:spcPts val="0"/>
              </a:spcAft>
            </a:pPr>
            <a:r>
              <a:rPr sz="11200" b="1">
                <a:solidFill>
                  <a:srgbClr val="192D46"/>
                </a:solidFill>
                <a:latin typeface="Manrope"/>
              </a:rPr>
              <a:t>22</a:t>
            </a:r>
          </a:p>
        </p:txBody>
      </p:sp>
      <p:sp>
        <p:nvSpPr>
          <p:cNvPr id="22" name="Text: Client agreement"/>
          <p:cNvSpPr txBox="1"/>
          <p:nvPr/>
        </p:nvSpPr>
        <p:spPr>
          <a:xfrm>
            <a:off x="3456432" y="5001768"/>
            <a:ext cx="2560320" cy="329184"/>
          </a:xfrm>
          <a:prstGeom prst="rect">
            <a:avLst/>
          </a:prstGeom>
          <a:noFill/>
        </p:spPr>
        <p:txBody>
          <a:bodyPr wrap="square" lIns="0" tIns="0" rIns="0" bIns="0" anchor="t">
            <a:spAutoFit/>
          </a:bodyPr>
          <a:lstStyle/>
          <a:p>
            <a:pPr>
              <a:lnSpc>
                <a:spcPct val="105000"/>
              </a:lnSpc>
              <a:spcBef>
                <a:spcPts val="0"/>
              </a:spcBef>
              <a:spcAft>
                <a:spcPts val="0"/>
              </a:spcAft>
            </a:pPr>
            <a:r>
              <a:rPr sz="1700" b="1">
                <a:solidFill>
                  <a:srgbClr val="192D46"/>
                </a:solidFill>
                <a:latin typeface="Manrope"/>
              </a:rPr>
              <a:t>Client agreement</a:t>
            </a:r>
          </a:p>
        </p:txBody>
      </p:sp>
      <p:sp>
        <p:nvSpPr>
          <p:cNvPr id="23" name="Text: Atlas"/>
          <p:cNvSpPr txBox="1"/>
          <p:nvPr/>
        </p:nvSpPr>
        <p:spPr>
          <a:xfrm>
            <a:off x="3456432" y="5312664"/>
            <a:ext cx="2560320" cy="2743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5F6F85"/>
                </a:solidFill>
                <a:latin typeface="Manrope"/>
              </a:rPr>
              <a:t>Atlas</a:t>
            </a:r>
          </a:p>
        </p:txBody>
      </p:sp>
      <p:sp>
        <p:nvSpPr>
          <p:cNvPr id="24" name="Dashboard source panel 23"/>
          <p:cNvSpPr/>
          <p:nvPr/>
        </p:nvSpPr>
        <p:spPr>
          <a:xfrm>
            <a:off x="6153912" y="2734056"/>
            <a:ext cx="2688336" cy="3035808"/>
          </a:xfrm>
          <a:prstGeom prst="roundRect">
            <a:avLst>
              <a:gd name="adj" fmla="val 7482"/>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hip: S10 · TEAMS"/>
          <p:cNvSpPr/>
          <p:nvPr/>
        </p:nvSpPr>
        <p:spPr>
          <a:xfrm>
            <a:off x="6272784" y="2962656"/>
            <a:ext cx="1358615" cy="292608"/>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hip text: S10 · TEAMS"/>
          <p:cNvSpPr txBox="1"/>
          <p:nvPr/>
        </p:nvSpPr>
        <p:spPr>
          <a:xfrm>
            <a:off x="6272784" y="2962656"/>
            <a:ext cx="1358615" cy="292608"/>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5F6F85"/>
                </a:solidFill>
                <a:latin typeface="Manrope"/>
              </a:rPr>
              <a:t>S10 · TEAMS</a:t>
            </a:r>
          </a:p>
        </p:txBody>
      </p:sp>
      <p:sp>
        <p:nvSpPr>
          <p:cNvPr id="27" name="Numeral 23"/>
          <p:cNvSpPr txBox="1"/>
          <p:nvPr/>
        </p:nvSpPr>
        <p:spPr>
          <a:xfrm>
            <a:off x="6236208" y="3255264"/>
            <a:ext cx="2468880" cy="1645920"/>
          </a:xfrm>
          <a:prstGeom prst="rect">
            <a:avLst/>
          </a:prstGeom>
          <a:noFill/>
        </p:spPr>
        <p:txBody>
          <a:bodyPr wrap="square" lIns="0" tIns="0" rIns="0" bIns="0" anchor="t">
            <a:spAutoFit/>
          </a:bodyPr>
          <a:lstStyle/>
          <a:p>
            <a:pPr>
              <a:lnSpc>
                <a:spcPct val="90000"/>
              </a:lnSpc>
              <a:spcBef>
                <a:spcPts val="0"/>
              </a:spcBef>
              <a:spcAft>
                <a:spcPts val="0"/>
              </a:spcAft>
            </a:pPr>
            <a:r>
              <a:rPr sz="11200" b="1">
                <a:solidFill>
                  <a:srgbClr val="192D46"/>
                </a:solidFill>
                <a:latin typeface="Manrope"/>
              </a:rPr>
              <a:t>23</a:t>
            </a:r>
          </a:p>
        </p:txBody>
      </p:sp>
      <p:sp>
        <p:nvSpPr>
          <p:cNvPr id="28" name="Text: Meeting proposal"/>
          <p:cNvSpPr txBox="1"/>
          <p:nvPr/>
        </p:nvSpPr>
        <p:spPr>
          <a:xfrm>
            <a:off x="6272784" y="4745736"/>
            <a:ext cx="2560320" cy="329184"/>
          </a:xfrm>
          <a:prstGeom prst="rect">
            <a:avLst/>
          </a:prstGeom>
          <a:noFill/>
        </p:spPr>
        <p:txBody>
          <a:bodyPr wrap="square" lIns="0" tIns="0" rIns="0" bIns="0" anchor="t">
            <a:spAutoFit/>
          </a:bodyPr>
          <a:lstStyle/>
          <a:p>
            <a:pPr>
              <a:lnSpc>
                <a:spcPct val="105000"/>
              </a:lnSpc>
              <a:spcBef>
                <a:spcPts val="0"/>
              </a:spcBef>
              <a:spcAft>
                <a:spcPts val="0"/>
              </a:spcAft>
            </a:pPr>
            <a:r>
              <a:rPr sz="1700" b="1">
                <a:solidFill>
                  <a:srgbClr val="192D46"/>
                </a:solidFill>
                <a:latin typeface="Manrope"/>
              </a:rPr>
              <a:t>Meeting proposal</a:t>
            </a:r>
          </a:p>
        </p:txBody>
      </p:sp>
      <p:sp>
        <p:nvSpPr>
          <p:cNvPr id="29" name="Text: Teams"/>
          <p:cNvSpPr txBox="1"/>
          <p:nvPr/>
        </p:nvSpPr>
        <p:spPr>
          <a:xfrm>
            <a:off x="6272784" y="5056632"/>
            <a:ext cx="2560320" cy="2743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5F6F85"/>
                </a:solidFill>
                <a:latin typeface="Manrope"/>
              </a:rPr>
              <a:t>Teams</a:t>
            </a:r>
          </a:p>
        </p:txBody>
      </p:sp>
      <p:sp>
        <p:nvSpPr>
          <p:cNvPr id="30" name="Dashboard source panel 25"/>
          <p:cNvSpPr/>
          <p:nvPr/>
        </p:nvSpPr>
        <p:spPr>
          <a:xfrm>
            <a:off x="8970263" y="2734056"/>
            <a:ext cx="2688336" cy="3035808"/>
          </a:xfrm>
          <a:prstGeom prst="roundRect">
            <a:avLst>
              <a:gd name="adj" fmla="val 7482"/>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S3 · TEAMS"/>
          <p:cNvSpPr/>
          <p:nvPr/>
        </p:nvSpPr>
        <p:spPr>
          <a:xfrm>
            <a:off x="9089136" y="3310128"/>
            <a:ext cx="1260043" cy="292608"/>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S3 · TEAMS"/>
          <p:cNvSpPr txBox="1"/>
          <p:nvPr/>
        </p:nvSpPr>
        <p:spPr>
          <a:xfrm>
            <a:off x="9089136" y="3310128"/>
            <a:ext cx="1260043" cy="292608"/>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5F6F85"/>
                </a:solidFill>
                <a:latin typeface="Manrope"/>
              </a:rPr>
              <a:t>S3 · TEAMS</a:t>
            </a:r>
          </a:p>
        </p:txBody>
      </p:sp>
      <p:sp>
        <p:nvSpPr>
          <p:cNvPr id="33" name="Numeral 25"/>
          <p:cNvSpPr txBox="1"/>
          <p:nvPr/>
        </p:nvSpPr>
        <p:spPr>
          <a:xfrm>
            <a:off x="9052560" y="3602736"/>
            <a:ext cx="2468880" cy="1645920"/>
          </a:xfrm>
          <a:prstGeom prst="rect">
            <a:avLst/>
          </a:prstGeom>
          <a:noFill/>
        </p:spPr>
        <p:txBody>
          <a:bodyPr wrap="square" lIns="0" tIns="0" rIns="0" bIns="0" anchor="t">
            <a:spAutoFit/>
          </a:bodyPr>
          <a:lstStyle/>
          <a:p>
            <a:pPr>
              <a:lnSpc>
                <a:spcPct val="90000"/>
              </a:lnSpc>
              <a:spcBef>
                <a:spcPts val="0"/>
              </a:spcBef>
              <a:spcAft>
                <a:spcPts val="0"/>
              </a:spcAft>
            </a:pPr>
            <a:r>
              <a:rPr sz="11200" b="1">
                <a:solidFill>
                  <a:srgbClr val="192D46"/>
                </a:solidFill>
                <a:latin typeface="Manrope"/>
              </a:rPr>
              <a:t>25</a:t>
            </a:r>
          </a:p>
        </p:txBody>
      </p:sp>
      <p:sp>
        <p:nvSpPr>
          <p:cNvPr id="34" name="Text: Chat recollection"/>
          <p:cNvSpPr txBox="1"/>
          <p:nvPr/>
        </p:nvSpPr>
        <p:spPr>
          <a:xfrm>
            <a:off x="9089136" y="5093208"/>
            <a:ext cx="2560320" cy="329184"/>
          </a:xfrm>
          <a:prstGeom prst="rect">
            <a:avLst/>
          </a:prstGeom>
          <a:noFill/>
        </p:spPr>
        <p:txBody>
          <a:bodyPr wrap="square" lIns="0" tIns="0" rIns="0" bIns="0" anchor="t">
            <a:spAutoFit/>
          </a:bodyPr>
          <a:lstStyle/>
          <a:p>
            <a:pPr>
              <a:lnSpc>
                <a:spcPct val="105000"/>
              </a:lnSpc>
              <a:spcBef>
                <a:spcPts val="0"/>
              </a:spcBef>
              <a:spcAft>
                <a:spcPts val="0"/>
              </a:spcAft>
            </a:pPr>
            <a:r>
              <a:rPr sz="1700" b="1">
                <a:solidFill>
                  <a:srgbClr val="192D46"/>
                </a:solidFill>
                <a:latin typeface="Manrope"/>
              </a:rPr>
              <a:t>Chat recollection</a:t>
            </a:r>
          </a:p>
        </p:txBody>
      </p:sp>
      <p:sp>
        <p:nvSpPr>
          <p:cNvPr id="35" name="Text: Teams"/>
          <p:cNvSpPr txBox="1"/>
          <p:nvPr/>
        </p:nvSpPr>
        <p:spPr>
          <a:xfrm>
            <a:off x="9089136" y="5404104"/>
            <a:ext cx="2560320" cy="2743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5F6F85"/>
                </a:solidFill>
                <a:latin typeface="Manrope"/>
              </a:rPr>
              <a:t>Teams</a:t>
            </a:r>
          </a:p>
        </p:txBody>
      </p:sp>
      <p:sp>
        <p:nvSpPr>
          <p:cNvPr id="36" name="Month"/>
          <p:cNvSpPr txBox="1"/>
          <p:nvPr/>
        </p:nvSpPr>
        <p:spPr>
          <a:xfrm>
            <a:off x="10360152" y="2286000"/>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200" b="0">
                <a:solidFill>
                  <a:srgbClr val="5F6F85"/>
                </a:solidFill>
                <a:latin typeface="Manrope"/>
              </a:rPr>
              <a:t>October 2026</a:t>
            </a:r>
          </a:p>
        </p:txBody>
      </p:sp>
      <p:sp>
        <p:nvSpPr>
          <p:cNvPr id="37" name="Problem statement"/>
          <p:cNvSpPr txBox="1"/>
          <p:nvPr/>
        </p:nvSpPr>
        <p:spPr>
          <a:xfrm>
            <a:off x="640080" y="5870448"/>
            <a:ext cx="10881360" cy="384048"/>
          </a:xfrm>
          <a:prstGeom prst="rect">
            <a:avLst/>
          </a:prstGeom>
          <a:noFill/>
        </p:spPr>
        <p:txBody>
          <a:bodyPr wrap="square" lIns="0" tIns="0" rIns="0" bIns="0" anchor="t">
            <a:spAutoFit/>
          </a:bodyPr>
          <a:lstStyle/>
          <a:p>
            <a:pPr>
              <a:lnSpc>
                <a:spcPct val="105000"/>
              </a:lnSpc>
              <a:spcBef>
                <a:spcPts val="0"/>
              </a:spcBef>
              <a:spcAft>
                <a:spcPts val="0"/>
              </a:spcAft>
            </a:pPr>
            <a:r>
              <a:rPr sz="2200" b="1">
                <a:solidFill>
                  <a:srgbClr val="192D46"/>
                </a:solidFill>
                <a:latin typeface="Manrope"/>
              </a:rPr>
              <a:t>Finding a message is easy. </a:t>
            </a:r>
            <a:r>
              <a:rPr sz="2200" b="1">
                <a:solidFill>
                  <a:srgbClr val="EE6558"/>
                </a:solidFill>
                <a:latin typeface="Manrope"/>
              </a:rPr>
              <a:t>Knowing what applies is the hard part.</a:t>
            </a:r>
          </a:p>
        </p:txBody>
      </p:sp>
      <p:pic>
        <p:nvPicPr>
          <p:cNvPr id="39" name="Official SDtrust SVG">
            <a:extLst>
              <a:ext uri="{FF2B5EF4-FFF2-40B4-BE49-F238E27FC236}">
                <a16:creationId xmlns:a16="http://schemas.microsoft.com/office/drawing/2014/main" id="{DF7D137C-CB3A-D147-B279-94C8A808C43F}"/>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457200"/>
            <a:ext cx="310896"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Dashboard ambient EE6558"/>
          <p:cNvSpPr/>
          <p:nvPr/>
        </p:nvSpPr>
        <p:spPr>
          <a:xfrm>
            <a:off x="7955279" y="0"/>
            <a:ext cx="4233672" cy="3474720"/>
          </a:xfrm>
          <a:prstGeom prst="ellipse">
            <a:avLst/>
          </a:prstGeom>
          <a:gradFill rotWithShape="1">
            <a:gsLst>
              <a:gs pos="0">
                <a:srgbClr val="EE6558">
                  <a:alpha val="0"/>
                </a:srgbClr>
              </a:gs>
              <a:gs pos="100000">
                <a:srgbClr val="EE6558">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ashboard ambient 6F9BE0"/>
          <p:cNvSpPr/>
          <p:nvPr/>
        </p:nvSpPr>
        <p:spPr>
          <a:xfrm>
            <a:off x="0" y="3474720"/>
            <a:ext cx="4937760" cy="3383280"/>
          </a:xfrm>
          <a:prstGeom prst="ellipse">
            <a:avLst/>
          </a:prstGeom>
          <a:gradFill rotWithShape="1">
            <a:gsLst>
              <a:gs pos="0">
                <a:srgbClr val="6F9BE0">
                  <a:alpha val="0"/>
                </a:srgbClr>
              </a:gs>
              <a:gs pos="100000">
                <a:srgbClr val="6F9BE0">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ashboard ambient F2A55A"/>
          <p:cNvSpPr/>
          <p:nvPr/>
        </p:nvSpPr>
        <p:spPr>
          <a:xfrm>
            <a:off x="6675120" y="3017520"/>
            <a:ext cx="3657600" cy="3383280"/>
          </a:xfrm>
          <a:prstGeom prst="ellipse">
            <a:avLst/>
          </a:prstGeom>
          <a:gradFill rotWithShape="1">
            <a:gsLst>
              <a:gs pos="0">
                <a:srgbClr val="F2A55A">
                  <a:alpha val="0"/>
                </a:srgbClr>
              </a:gs>
              <a:gs pos="100000">
                <a:srgbClr val="F2A55A">
                  <a:alpha val="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ashboard brand strip"/>
          <p:cNvSpPr/>
          <p:nvPr/>
        </p:nvSpPr>
        <p:spPr>
          <a:xfrm>
            <a:off x="484632" y="283464"/>
            <a:ext cx="11201400" cy="685800"/>
          </a:xfrm>
          <a:prstGeom prst="roundRect">
            <a:avLst>
              <a:gd name="adj" fmla="val 24000"/>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SDtrust</a:t>
            </a:r>
          </a:p>
        </p:txBody>
      </p:sp>
      <p:sp>
        <p:nvSpPr>
          <p:cNvPr id="8"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5F6F85"/>
                </a:solidFill>
                <a:latin typeface="Manrope"/>
              </a:rPr>
              <a:t>03 / 08</a:t>
            </a:r>
          </a:p>
        </p:txBody>
      </p:sp>
      <p:sp>
        <p:nvSpPr>
          <p:cNvPr id="9"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MEET FINN</a:t>
            </a:r>
          </a:p>
        </p:txBody>
      </p:sp>
      <p:sp>
        <p:nvSpPr>
          <p:cNvPr id="10"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192D46"/>
                </a:solidFill>
                <a:latin typeface="Manrope"/>
              </a:rPr>
              <a:t>Ask once. See the answer and why.</a:t>
            </a:r>
          </a:p>
        </p:txBody>
      </p:sp>
      <p:sp>
        <p:nvSpPr>
          <p:cNvPr id="11" name="Companion glass stage"/>
          <p:cNvSpPr/>
          <p:nvPr/>
        </p:nvSpPr>
        <p:spPr>
          <a:xfrm>
            <a:off x="868680" y="2514600"/>
            <a:ext cx="3520440" cy="3520440"/>
          </a:xfrm>
          <a:prstGeom prst="roundRect">
            <a:avLst>
              <a:gd name="adj" fmla="val 15584"/>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ashboard ambient F2A55A"/>
          <p:cNvSpPr/>
          <p:nvPr/>
        </p:nvSpPr>
        <p:spPr>
          <a:xfrm>
            <a:off x="914400" y="2651760"/>
            <a:ext cx="3291840" cy="3108960"/>
          </a:xfrm>
          <a:prstGeom prst="ellipse">
            <a:avLst/>
          </a:prstGeom>
          <a:gradFill rotWithShape="1">
            <a:gsLst>
              <a:gs pos="0">
                <a:srgbClr val="F2A55A">
                  <a:alpha val="0"/>
                </a:srgbClr>
              </a:gs>
              <a:gs pos="100000">
                <a:srgbClr val="F2A55A">
                  <a:alpha val="16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Approved asset: Finn waving body_lock_03" descr="Finn_wave.png"/>
          <p:cNvPicPr>
            <a:picLocks noChangeAspect="1"/>
          </p:cNvPicPr>
          <p:nvPr/>
        </p:nvPicPr>
        <p:blipFill>
          <a:blip r:embed="rId3"/>
          <a:stretch>
            <a:fillRect/>
          </a:stretch>
        </p:blipFill>
        <p:spPr>
          <a:xfrm>
            <a:off x="1130690" y="2606040"/>
            <a:ext cx="2996418" cy="3246120"/>
          </a:xfrm>
          <a:prstGeom prst="rect">
            <a:avLst/>
          </a:prstGeom>
        </p:spPr>
      </p:pic>
      <p:sp>
        <p:nvSpPr>
          <p:cNvPr id="14" name="Dashboard action row"/>
          <p:cNvSpPr/>
          <p:nvPr/>
        </p:nvSpPr>
        <p:spPr>
          <a:xfrm>
            <a:off x="5138928" y="2432304"/>
            <a:ext cx="6473952" cy="996696"/>
          </a:xfrm>
          <a:prstGeom prst="roundRect">
            <a:avLst>
              <a:gd name="adj" fmla="val 20183"/>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ashboard action row"/>
          <p:cNvSpPr/>
          <p:nvPr/>
        </p:nvSpPr>
        <p:spPr>
          <a:xfrm>
            <a:off x="5138928" y="3575304"/>
            <a:ext cx="6473952" cy="996696"/>
          </a:xfrm>
          <a:prstGeom prst="roundRect">
            <a:avLst>
              <a:gd name="adj" fmla="val 20183"/>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Dashboard action row"/>
          <p:cNvSpPr/>
          <p:nvPr/>
        </p:nvSpPr>
        <p:spPr>
          <a:xfrm>
            <a:off x="5138928" y="4718304"/>
            <a:ext cx="6473952" cy="996696"/>
          </a:xfrm>
          <a:prstGeom prst="roundRect">
            <a:avLst>
              <a:gd name="adj" fmla="val 20183"/>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Step connector"/>
          <p:cNvCxnSpPr/>
          <p:nvPr/>
        </p:nvCxnSpPr>
        <p:spPr>
          <a:xfrm>
            <a:off x="5605272" y="2880360"/>
            <a:ext cx="0" cy="2286000"/>
          </a:xfrm>
          <a:prstGeom prst="line">
            <a:avLst/>
          </a:prstGeom>
          <a:ln w="19050">
            <a:solidFill>
              <a:srgbClr val="C9CED6"/>
            </a:solidFill>
          </a:ln>
        </p:spPr>
      </p:cxnSp>
      <p:sp>
        <p:nvSpPr>
          <p:cNvPr id="18" name="Step dot 1"/>
          <p:cNvSpPr/>
          <p:nvPr/>
        </p:nvSpPr>
        <p:spPr>
          <a:xfrm>
            <a:off x="5349240" y="2587752"/>
            <a:ext cx="512064" cy="512064"/>
          </a:xfrm>
          <a:prstGeom prst="roundRect">
            <a:avLst>
              <a:gd name="adj" fmla="val 28571"/>
            </a:avLst>
          </a:prstGeom>
          <a:gradFill rotWithShape="1">
            <a:gsLst>
              <a:gs pos="0">
                <a:srgbClr val="4A74C0">
                  <a:alpha val="100000"/>
                </a:srgbClr>
              </a:gs>
              <a:gs pos="100000">
                <a:srgbClr val="6F9BE0">
                  <a:alpha val="100000"/>
                </a:srgbClr>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 1"/>
          <p:cNvSpPr txBox="1"/>
          <p:nvPr/>
        </p:nvSpPr>
        <p:spPr>
          <a:xfrm>
            <a:off x="5349240" y="2587752"/>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F8F6F1"/>
                </a:solidFill>
                <a:latin typeface="Manrope"/>
              </a:rPr>
              <a:t>1</a:t>
            </a:r>
          </a:p>
        </p:txBody>
      </p:sp>
      <p:sp>
        <p:nvSpPr>
          <p:cNvPr id="20" name="Text: Ask in your own words"/>
          <p:cNvSpPr txBox="1"/>
          <p:nvPr/>
        </p:nvSpPr>
        <p:spPr>
          <a:xfrm>
            <a:off x="6217920" y="2569464"/>
            <a:ext cx="5303520" cy="365760"/>
          </a:xfrm>
          <a:prstGeom prst="rect">
            <a:avLst/>
          </a:prstGeom>
          <a:noFill/>
        </p:spPr>
        <p:txBody>
          <a:bodyPr wrap="square" lIns="0" tIns="0" rIns="0" bIns="0" anchor="t">
            <a:spAutoFit/>
          </a:bodyPr>
          <a:lstStyle/>
          <a:p>
            <a:pPr>
              <a:lnSpc>
                <a:spcPct val="105000"/>
              </a:lnSpc>
              <a:spcBef>
                <a:spcPts val="0"/>
              </a:spcBef>
              <a:spcAft>
                <a:spcPts val="0"/>
              </a:spcAft>
            </a:pPr>
            <a:r>
              <a:rPr sz="2500" b="1">
                <a:solidFill>
                  <a:srgbClr val="192D46"/>
                </a:solidFill>
                <a:latin typeface="Manrope"/>
              </a:rPr>
              <a:t>Ask in your own words</a:t>
            </a:r>
          </a:p>
        </p:txBody>
      </p:sp>
      <p:sp>
        <p:nvSpPr>
          <p:cNvPr id="21" name="Text: One small companion on your desktop."/>
          <p:cNvSpPr txBox="1"/>
          <p:nvPr/>
        </p:nvSpPr>
        <p:spPr>
          <a:xfrm>
            <a:off x="6217920" y="2990088"/>
            <a:ext cx="5303520" cy="310896"/>
          </a:xfrm>
          <a:prstGeom prst="rect">
            <a:avLst/>
          </a:prstGeom>
          <a:noFill/>
        </p:spPr>
        <p:txBody>
          <a:bodyPr wrap="square" lIns="0" tIns="0" rIns="0" bIns="0" anchor="t">
            <a:spAutoFit/>
          </a:bodyPr>
          <a:lstStyle/>
          <a:p>
            <a:pPr>
              <a:lnSpc>
                <a:spcPct val="105000"/>
              </a:lnSpc>
              <a:spcBef>
                <a:spcPts val="0"/>
              </a:spcBef>
              <a:spcAft>
                <a:spcPts val="0"/>
              </a:spcAft>
            </a:pPr>
            <a:r>
              <a:rPr sz="1700" b="0">
                <a:solidFill>
                  <a:srgbClr val="5F6F85"/>
                </a:solidFill>
                <a:latin typeface="Manrope"/>
              </a:rPr>
              <a:t>One small companion on your desktop.</a:t>
            </a:r>
          </a:p>
        </p:txBody>
      </p:sp>
      <p:sp>
        <p:nvSpPr>
          <p:cNvPr id="22" name="Step dot 2"/>
          <p:cNvSpPr/>
          <p:nvPr/>
        </p:nvSpPr>
        <p:spPr>
          <a:xfrm>
            <a:off x="5349240" y="3730752"/>
            <a:ext cx="512064" cy="512064"/>
          </a:xfrm>
          <a:prstGeom prst="roundRect">
            <a:avLst>
              <a:gd name="adj" fmla="val 28571"/>
            </a:avLst>
          </a:prstGeom>
          <a:gradFill rotWithShape="1">
            <a:gsLst>
              <a:gs pos="0">
                <a:srgbClr val="4A74C0">
                  <a:alpha val="100000"/>
                </a:srgbClr>
              </a:gs>
              <a:gs pos="100000">
                <a:srgbClr val="6F9BE0">
                  <a:alpha val="100000"/>
                </a:srgbClr>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 2"/>
          <p:cNvSpPr txBox="1"/>
          <p:nvPr/>
        </p:nvSpPr>
        <p:spPr>
          <a:xfrm>
            <a:off x="5349240" y="3730752"/>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F8F6F1"/>
                </a:solidFill>
                <a:latin typeface="Manrope"/>
              </a:rPr>
              <a:t>2</a:t>
            </a:r>
          </a:p>
        </p:txBody>
      </p:sp>
      <p:sp>
        <p:nvSpPr>
          <p:cNvPr id="24" name="Text: Check the evidence"/>
          <p:cNvSpPr txBox="1"/>
          <p:nvPr/>
        </p:nvSpPr>
        <p:spPr>
          <a:xfrm>
            <a:off x="6217920" y="3712464"/>
            <a:ext cx="5303520" cy="365760"/>
          </a:xfrm>
          <a:prstGeom prst="rect">
            <a:avLst/>
          </a:prstGeom>
          <a:noFill/>
        </p:spPr>
        <p:txBody>
          <a:bodyPr wrap="square" lIns="0" tIns="0" rIns="0" bIns="0" anchor="t">
            <a:spAutoFit/>
          </a:bodyPr>
          <a:lstStyle/>
          <a:p>
            <a:pPr>
              <a:lnSpc>
                <a:spcPct val="105000"/>
              </a:lnSpc>
              <a:spcBef>
                <a:spcPts val="0"/>
              </a:spcBef>
              <a:spcAft>
                <a:spcPts val="0"/>
              </a:spcAft>
            </a:pPr>
            <a:r>
              <a:rPr sz="2500" b="1">
                <a:solidFill>
                  <a:srgbClr val="192D46"/>
                </a:solidFill>
                <a:latin typeface="Manrope"/>
              </a:rPr>
              <a:t>Check the evidence</a:t>
            </a:r>
          </a:p>
        </p:txBody>
      </p:sp>
      <p:sp>
        <p:nvSpPr>
          <p:cNvPr id="25" name="Text: The answer, its sources and the reasons."/>
          <p:cNvSpPr txBox="1"/>
          <p:nvPr/>
        </p:nvSpPr>
        <p:spPr>
          <a:xfrm>
            <a:off x="6217920" y="4133088"/>
            <a:ext cx="5303520" cy="310896"/>
          </a:xfrm>
          <a:prstGeom prst="rect">
            <a:avLst/>
          </a:prstGeom>
          <a:noFill/>
        </p:spPr>
        <p:txBody>
          <a:bodyPr wrap="square" lIns="0" tIns="0" rIns="0" bIns="0" anchor="t">
            <a:spAutoFit/>
          </a:bodyPr>
          <a:lstStyle/>
          <a:p>
            <a:pPr>
              <a:lnSpc>
                <a:spcPct val="105000"/>
              </a:lnSpc>
              <a:spcBef>
                <a:spcPts val="0"/>
              </a:spcBef>
              <a:spcAft>
                <a:spcPts val="0"/>
              </a:spcAft>
            </a:pPr>
            <a:r>
              <a:rPr sz="1700" b="0">
                <a:solidFill>
                  <a:srgbClr val="5F6F85"/>
                </a:solidFill>
                <a:latin typeface="Manrope"/>
              </a:rPr>
              <a:t>The answer, its sources and the reasons.</a:t>
            </a:r>
          </a:p>
        </p:txBody>
      </p:sp>
      <p:sp>
        <p:nvSpPr>
          <p:cNvPr id="26" name="Step dot 3"/>
          <p:cNvSpPr/>
          <p:nvPr/>
        </p:nvSpPr>
        <p:spPr>
          <a:xfrm>
            <a:off x="5349240" y="4873752"/>
            <a:ext cx="512064" cy="512064"/>
          </a:xfrm>
          <a:prstGeom prst="roundRect">
            <a:avLst>
              <a:gd name="adj" fmla="val 28571"/>
            </a:avLst>
          </a:prstGeom>
          <a:gradFill rotWithShape="1">
            <a:gsLst>
              <a:gs pos="0">
                <a:srgbClr val="D84935">
                  <a:alpha val="100000"/>
                </a:srgbClr>
              </a:gs>
              <a:gs pos="100000">
                <a:srgbClr val="EE6558">
                  <a:alpha val="100000"/>
                </a:srgbClr>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3"/>
          <p:cNvSpPr txBox="1"/>
          <p:nvPr/>
        </p:nvSpPr>
        <p:spPr>
          <a:xfrm>
            <a:off x="5349240" y="4873752"/>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F8F6F1"/>
                </a:solidFill>
                <a:latin typeface="Manrope"/>
              </a:rPr>
              <a:t>3</a:t>
            </a:r>
          </a:p>
        </p:txBody>
      </p:sp>
      <p:sp>
        <p:nvSpPr>
          <p:cNvPr id="28" name="Text: Know what comes next"/>
          <p:cNvSpPr txBox="1"/>
          <p:nvPr/>
        </p:nvSpPr>
        <p:spPr>
          <a:xfrm>
            <a:off x="6217920" y="4855464"/>
            <a:ext cx="5303520" cy="365760"/>
          </a:xfrm>
          <a:prstGeom prst="rect">
            <a:avLst/>
          </a:prstGeom>
          <a:noFill/>
        </p:spPr>
        <p:txBody>
          <a:bodyPr wrap="square" lIns="0" tIns="0" rIns="0" bIns="0" anchor="t">
            <a:spAutoFit/>
          </a:bodyPr>
          <a:lstStyle/>
          <a:p>
            <a:pPr>
              <a:lnSpc>
                <a:spcPct val="105000"/>
              </a:lnSpc>
              <a:spcBef>
                <a:spcPts val="0"/>
              </a:spcBef>
              <a:spcAft>
                <a:spcPts val="0"/>
              </a:spcAft>
            </a:pPr>
            <a:r>
              <a:rPr sz="2500" b="1">
                <a:solidFill>
                  <a:srgbClr val="192D46"/>
                </a:solidFill>
                <a:latin typeface="Manrope"/>
              </a:rPr>
              <a:t>Know what comes next</a:t>
            </a:r>
          </a:p>
        </p:txBody>
      </p:sp>
      <p:sp>
        <p:nvSpPr>
          <p:cNvPr id="29" name="Text: If evidence is missing, surface the owner."/>
          <p:cNvSpPr txBox="1"/>
          <p:nvPr/>
        </p:nvSpPr>
        <p:spPr>
          <a:xfrm>
            <a:off x="6217920" y="5276088"/>
            <a:ext cx="5303520" cy="310896"/>
          </a:xfrm>
          <a:prstGeom prst="rect">
            <a:avLst/>
          </a:prstGeom>
          <a:noFill/>
        </p:spPr>
        <p:txBody>
          <a:bodyPr wrap="square" lIns="0" tIns="0" rIns="0" bIns="0" anchor="t">
            <a:spAutoFit/>
          </a:bodyPr>
          <a:lstStyle/>
          <a:p>
            <a:pPr>
              <a:lnSpc>
                <a:spcPct val="105000"/>
              </a:lnSpc>
              <a:spcBef>
                <a:spcPts val="0"/>
              </a:spcBef>
              <a:spcAft>
                <a:spcPts val="0"/>
              </a:spcAft>
            </a:pPr>
            <a:r>
              <a:rPr sz="1700" b="0">
                <a:solidFill>
                  <a:srgbClr val="5F6F85"/>
                </a:solidFill>
                <a:latin typeface="Manrope"/>
              </a:rPr>
              <a:t>If evidence is missing, surface the owner.</a:t>
            </a:r>
          </a:p>
        </p:txBody>
      </p:sp>
      <p:pic>
        <p:nvPicPr>
          <p:cNvPr id="31" name="Official SDtrust SVG">
            <a:extLst>
              <a:ext uri="{FF2B5EF4-FFF2-40B4-BE49-F238E27FC236}">
                <a16:creationId xmlns:a16="http://schemas.microsoft.com/office/drawing/2014/main" id="{EB484345-61F0-6EEF-4BFB-2FAA7E0C61E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0080" y="457200"/>
            <a:ext cx="310896"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2D46"/>
        </a:solidFill>
        <a:effectLst/>
      </p:bgPr>
    </p:bg>
    <p:spTree>
      <p:nvGrpSpPr>
        <p:cNvPr id="1" name=""/>
        <p:cNvGrpSpPr/>
        <p:nvPr/>
      </p:nvGrpSpPr>
      <p:grpSpPr>
        <a:xfrm>
          <a:off x="0" y="0"/>
          <a:ext cx="0" cy="0"/>
          <a:chOff x="0" y="0"/>
          <a:chExt cx="0" cy="0"/>
        </a:xfrm>
      </p:grpSpPr>
      <p:sp>
        <p:nvSpPr>
          <p:cNvPr id="2" name="Dashboard ambient EE6558"/>
          <p:cNvSpPr/>
          <p:nvPr/>
        </p:nvSpPr>
        <p:spPr>
          <a:xfrm>
            <a:off x="7955279" y="0"/>
            <a:ext cx="4233672" cy="3474720"/>
          </a:xfrm>
          <a:prstGeom prst="ellipse">
            <a:avLst/>
          </a:prstGeom>
          <a:gradFill rotWithShape="1">
            <a:gsLst>
              <a:gs pos="0">
                <a:srgbClr val="EE6558">
                  <a:alpha val="0"/>
                </a:srgbClr>
              </a:gs>
              <a:gs pos="100000">
                <a:srgbClr val="EE6558">
                  <a:alpha val="1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ashboard ambient 6F9BE0"/>
          <p:cNvSpPr/>
          <p:nvPr/>
        </p:nvSpPr>
        <p:spPr>
          <a:xfrm>
            <a:off x="0" y="3474720"/>
            <a:ext cx="4937760" cy="3383280"/>
          </a:xfrm>
          <a:prstGeom prst="ellipse">
            <a:avLst/>
          </a:prstGeom>
          <a:gradFill rotWithShape="1">
            <a:gsLst>
              <a:gs pos="0">
                <a:srgbClr val="6F9BE0">
                  <a:alpha val="0"/>
                </a:srgbClr>
              </a:gs>
              <a:gs pos="100000">
                <a:srgbClr val="6F9BE0">
                  <a:alpha val="17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ashboard ambient F2A55A"/>
          <p:cNvSpPr/>
          <p:nvPr/>
        </p:nvSpPr>
        <p:spPr>
          <a:xfrm>
            <a:off x="6675120" y="3017520"/>
            <a:ext cx="3657600" cy="3383280"/>
          </a:xfrm>
          <a:prstGeom prst="ellipse">
            <a:avLst/>
          </a:prstGeom>
          <a:gradFill rotWithShape="1">
            <a:gsLst>
              <a:gs pos="0">
                <a:srgbClr val="F2A55A">
                  <a:alpha val="0"/>
                </a:srgbClr>
              </a:gs>
              <a:gs pos="100000">
                <a:srgbClr val="F2A55A">
                  <a:alpha val="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ashboard brand strip"/>
          <p:cNvSpPr/>
          <p:nvPr/>
        </p:nvSpPr>
        <p:spPr>
          <a:xfrm>
            <a:off x="484632" y="283464"/>
            <a:ext cx="11201400" cy="685800"/>
          </a:xfrm>
          <a:prstGeom prst="roundRect">
            <a:avLst>
              <a:gd name="adj" fmla="val 24000"/>
            </a:avLst>
          </a:prstGeom>
          <a:gradFill rotWithShape="1">
            <a:gsLst>
              <a:gs pos="0">
                <a:srgbClr val="29435F">
                  <a:alpha val="97000"/>
                </a:srgbClr>
              </a:gs>
              <a:gs pos="100000">
                <a:srgbClr val="172637">
                  <a:alpha val="95000"/>
                </a:srgbClr>
              </a:gs>
            </a:gsLst>
            <a:lin ang="6300000" scaled="1"/>
          </a:gradFill>
          <a:ln w="12700">
            <a:solidFill>
              <a:srgbClr val="31475D"/>
            </a:solidFill>
          </a:ln>
          <a:effectLst>
            <a:outerShdw blurRad="177800" dist="4445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F8F6F1"/>
                </a:solidFill>
                <a:latin typeface="Manrope"/>
              </a:rPr>
              <a:t>SDtrust</a:t>
            </a:r>
          </a:p>
        </p:txBody>
      </p:sp>
      <p:sp>
        <p:nvSpPr>
          <p:cNvPr id="8"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D6DEE8"/>
                </a:solidFill>
                <a:latin typeface="Manrope"/>
              </a:rPr>
              <a:t>04 / 08</a:t>
            </a:r>
          </a:p>
        </p:txBody>
      </p:sp>
      <p:sp>
        <p:nvSpPr>
          <p:cNvPr id="9"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F3BA55"/>
                </a:solidFill>
                <a:latin typeface="Manrope"/>
              </a:rPr>
              <a:t>PRODUCT DEMO</a:t>
            </a:r>
          </a:p>
        </p:txBody>
      </p:sp>
      <p:sp>
        <p:nvSpPr>
          <p:cNvPr id="10"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F8F6F1"/>
                </a:solidFill>
                <a:latin typeface="Manrope"/>
              </a:rPr>
              <a:t>Let’s ask Finn.</a:t>
            </a:r>
          </a:p>
        </p:txBody>
      </p:sp>
      <p:sp>
        <p:nvSpPr>
          <p:cNvPr id="11" name="Demo outer bezel"/>
          <p:cNvSpPr/>
          <p:nvPr/>
        </p:nvSpPr>
        <p:spPr>
          <a:xfrm>
            <a:off x="548640" y="2194560"/>
            <a:ext cx="7726679" cy="3749039"/>
          </a:xfrm>
          <a:prstGeom prst="roundRect">
            <a:avLst>
              <a:gd name="adj" fmla="val 5853"/>
            </a:avLst>
          </a:prstGeom>
          <a:gradFill rotWithShape="1">
            <a:gsLst>
              <a:gs pos="0">
                <a:srgbClr val="29435F">
                  <a:alpha val="97000"/>
                </a:srgbClr>
              </a:gs>
              <a:gs pos="100000">
                <a:srgbClr val="172637">
                  <a:alpha val="95000"/>
                </a:srgbClr>
              </a:gs>
            </a:gsLst>
            <a:lin ang="6300000" scaled="1"/>
          </a:gradFill>
          <a:ln w="12700">
            <a:solidFill>
              <a:srgbClr val="31475D"/>
            </a:solidFill>
          </a:ln>
          <a:effectLst>
            <a:outerShdw blurRad="177800" dist="4445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emo frame"/>
          <p:cNvSpPr/>
          <p:nvPr/>
        </p:nvSpPr>
        <p:spPr>
          <a:xfrm>
            <a:off x="640080" y="2286000"/>
            <a:ext cx="7543800" cy="3566160"/>
          </a:xfrm>
          <a:prstGeom prst="roundRect">
            <a:avLst>
              <a:gd name="adj" fmla="val 4102"/>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ame dot"/>
          <p:cNvSpPr/>
          <p:nvPr/>
        </p:nvSpPr>
        <p:spPr>
          <a:xfrm>
            <a:off x="914400" y="2505456"/>
            <a:ext cx="109728" cy="109728"/>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ame dot"/>
          <p:cNvSpPr/>
          <p:nvPr/>
        </p:nvSpPr>
        <p:spPr>
          <a:xfrm>
            <a:off x="1115568" y="2505456"/>
            <a:ext cx="109728" cy="109728"/>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ame dot"/>
          <p:cNvSpPr/>
          <p:nvPr/>
        </p:nvSpPr>
        <p:spPr>
          <a:xfrm>
            <a:off x="1316736" y="2505456"/>
            <a:ext cx="109728" cy="109728"/>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Frame bar"/>
          <p:cNvCxnSpPr/>
          <p:nvPr/>
        </p:nvCxnSpPr>
        <p:spPr>
          <a:xfrm>
            <a:off x="640080" y="2798064"/>
            <a:ext cx="7543799" cy="0"/>
          </a:xfrm>
          <a:prstGeom prst="line">
            <a:avLst/>
          </a:prstGeom>
          <a:ln w="12700">
            <a:solidFill>
              <a:srgbClr val="E5E1D8"/>
            </a:solidFill>
          </a:ln>
        </p:spPr>
      </p:cxnSp>
      <p:sp>
        <p:nvSpPr>
          <p:cNvPr id="17" name="Chip: DEMO PLACEHOLDER"/>
          <p:cNvSpPr/>
          <p:nvPr/>
        </p:nvSpPr>
        <p:spPr>
          <a:xfrm>
            <a:off x="960120" y="3108960"/>
            <a:ext cx="1708099" cy="310896"/>
          </a:xfrm>
          <a:prstGeom prst="roundRect">
            <a:avLst>
              <a:gd name="adj" fmla="val 50000"/>
            </a:avLst>
          </a:prstGeom>
          <a:solidFill>
            <a:srgbClr val="192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hip text: DEMO PLACEHOLDER"/>
          <p:cNvSpPr txBox="1"/>
          <p:nvPr/>
        </p:nvSpPr>
        <p:spPr>
          <a:xfrm>
            <a:off x="960120" y="3108960"/>
            <a:ext cx="1708099" cy="310896"/>
          </a:xfrm>
          <a:prstGeom prst="rect">
            <a:avLst/>
          </a:prstGeom>
          <a:noFill/>
        </p:spPr>
        <p:txBody>
          <a:bodyPr wrap="square" lIns="0" tIns="0" rIns="0" bIns="0" anchor="ctr">
            <a:spAutoFit/>
          </a:bodyPr>
          <a:lstStyle/>
          <a:p>
            <a:pPr algn="ctr">
              <a:lnSpc>
                <a:spcPct val="100000"/>
              </a:lnSpc>
              <a:spcBef>
                <a:spcPts val="0"/>
              </a:spcBef>
              <a:spcAft>
                <a:spcPts val="0"/>
              </a:spcAft>
            </a:pPr>
            <a:r>
              <a:rPr sz="1000" b="1">
                <a:solidFill>
                  <a:srgbClr val="F8F6F1"/>
                </a:solidFill>
                <a:latin typeface="Manrope"/>
              </a:rPr>
              <a:t>DEMO PLACEHOLDER</a:t>
            </a:r>
          </a:p>
        </p:txBody>
      </p:sp>
      <p:sp>
        <p:nvSpPr>
          <p:cNvPr id="19" name="Text: Final app capture goes here"/>
          <p:cNvSpPr txBox="1"/>
          <p:nvPr/>
        </p:nvSpPr>
        <p:spPr>
          <a:xfrm>
            <a:off x="960120" y="3703320"/>
            <a:ext cx="6858000" cy="502920"/>
          </a:xfrm>
          <a:prstGeom prst="rect">
            <a:avLst/>
          </a:prstGeom>
          <a:noFill/>
        </p:spPr>
        <p:txBody>
          <a:bodyPr wrap="square" lIns="0" tIns="0" rIns="0" bIns="0" anchor="t">
            <a:spAutoFit/>
          </a:bodyPr>
          <a:lstStyle/>
          <a:p>
            <a:pPr>
              <a:lnSpc>
                <a:spcPct val="105000"/>
              </a:lnSpc>
              <a:spcBef>
                <a:spcPts val="0"/>
              </a:spcBef>
              <a:spcAft>
                <a:spcPts val="0"/>
              </a:spcAft>
            </a:pPr>
            <a:r>
              <a:rPr sz="3000" b="1">
                <a:solidFill>
                  <a:srgbClr val="192D46"/>
                </a:solidFill>
                <a:latin typeface="Manrope"/>
              </a:rPr>
              <a:t>Final app capture goes here</a:t>
            </a:r>
          </a:p>
        </p:txBody>
      </p:sp>
      <p:sp>
        <p:nvSpPr>
          <p:cNvPr id="20" name="Text: 45 seconds · ask, inspect, follow up"/>
          <p:cNvSpPr txBox="1"/>
          <p:nvPr/>
        </p:nvSpPr>
        <p:spPr>
          <a:xfrm>
            <a:off x="960120" y="4297680"/>
            <a:ext cx="6858000" cy="310896"/>
          </a:xfrm>
          <a:prstGeom prst="rect">
            <a:avLst/>
          </a:prstGeom>
          <a:noFill/>
        </p:spPr>
        <p:txBody>
          <a:bodyPr wrap="square" lIns="0" tIns="0" rIns="0" bIns="0" anchor="t">
            <a:spAutoFit/>
          </a:bodyPr>
          <a:lstStyle/>
          <a:p>
            <a:pPr>
              <a:lnSpc>
                <a:spcPct val="105000"/>
              </a:lnSpc>
              <a:spcBef>
                <a:spcPts val="0"/>
              </a:spcBef>
              <a:spcAft>
                <a:spcPts val="0"/>
              </a:spcAft>
            </a:pPr>
            <a:r>
              <a:rPr sz="1800" b="0">
                <a:solidFill>
                  <a:srgbClr val="5F6F85"/>
                </a:solidFill>
                <a:latin typeface="Manrope"/>
              </a:rPr>
              <a:t>45 seconds · ask, inspect, follow up</a:t>
            </a:r>
          </a:p>
        </p:txBody>
      </p:sp>
      <p:sp>
        <p:nvSpPr>
          <p:cNvPr id="21" name="Text: Editable storyboard. This is not an app screenshot."/>
          <p:cNvSpPr txBox="1"/>
          <p:nvPr/>
        </p:nvSpPr>
        <p:spPr>
          <a:xfrm>
            <a:off x="960120" y="5303520"/>
            <a:ext cx="6858000" cy="237744"/>
          </a:xfrm>
          <a:prstGeom prst="rect">
            <a:avLst/>
          </a:prstGeom>
          <a:noFill/>
        </p:spPr>
        <p:txBody>
          <a:bodyPr wrap="square" lIns="0" tIns="0" rIns="0" bIns="0" anchor="t">
            <a:spAutoFit/>
          </a:bodyPr>
          <a:lstStyle/>
          <a:p>
            <a:pPr>
              <a:lnSpc>
                <a:spcPct val="105000"/>
              </a:lnSpc>
              <a:spcBef>
                <a:spcPts val="0"/>
              </a:spcBef>
              <a:spcAft>
                <a:spcPts val="0"/>
              </a:spcAft>
            </a:pPr>
            <a:r>
              <a:rPr sz="1200" b="0">
                <a:solidFill>
                  <a:srgbClr val="5F6F85"/>
                </a:solidFill>
                <a:latin typeface="Manrope"/>
              </a:rPr>
              <a:t>Editable storyboard. This is not an app screenshot.</a:t>
            </a:r>
          </a:p>
        </p:txBody>
      </p:sp>
      <p:cxnSp>
        <p:nvCxnSpPr>
          <p:cNvPr id="22" name="Timeline"/>
          <p:cNvCxnSpPr/>
          <p:nvPr/>
        </p:nvCxnSpPr>
        <p:spPr>
          <a:xfrm>
            <a:off x="8796528" y="2487168"/>
            <a:ext cx="0" cy="2980944"/>
          </a:xfrm>
          <a:prstGeom prst="line">
            <a:avLst/>
          </a:prstGeom>
          <a:ln w="15875">
            <a:solidFill>
              <a:srgbClr val="49617A"/>
            </a:solidFill>
          </a:ln>
        </p:spPr>
      </p:cxnSp>
      <p:sp>
        <p:nvSpPr>
          <p:cNvPr id="23" name="Beat dot"/>
          <p:cNvSpPr/>
          <p:nvPr/>
        </p:nvSpPr>
        <p:spPr>
          <a:xfrm>
            <a:off x="8723376" y="2423160"/>
            <a:ext cx="146304" cy="146304"/>
          </a:xfrm>
          <a:prstGeom prst="ellipse">
            <a:avLst/>
          </a:prstGeom>
          <a:solidFill>
            <a:srgbClr val="EE65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 0:00"/>
          <p:cNvSpPr txBox="1"/>
          <p:nvPr/>
        </p:nvSpPr>
        <p:spPr>
          <a:xfrm>
            <a:off x="9070848" y="2331720"/>
            <a:ext cx="685800" cy="274320"/>
          </a:xfrm>
          <a:prstGeom prst="rect">
            <a:avLst/>
          </a:prstGeom>
          <a:noFill/>
        </p:spPr>
        <p:txBody>
          <a:bodyPr wrap="square" lIns="0" tIns="0" rIns="0" bIns="0" anchor="t">
            <a:spAutoFit/>
          </a:bodyPr>
          <a:lstStyle/>
          <a:p>
            <a:pPr>
              <a:lnSpc>
                <a:spcPct val="105000"/>
              </a:lnSpc>
              <a:spcBef>
                <a:spcPts val="0"/>
              </a:spcBef>
              <a:spcAft>
                <a:spcPts val="0"/>
              </a:spcAft>
            </a:pPr>
            <a:r>
              <a:rPr sz="1200" b="1" spc="100">
                <a:solidFill>
                  <a:srgbClr val="F3BA55"/>
                </a:solidFill>
                <a:latin typeface="Manrope"/>
              </a:rPr>
              <a:t>0:00</a:t>
            </a:r>
          </a:p>
        </p:txBody>
      </p:sp>
      <p:sp>
        <p:nvSpPr>
          <p:cNvPr id="25" name="Text: Ask"/>
          <p:cNvSpPr txBox="1"/>
          <p:nvPr/>
        </p:nvSpPr>
        <p:spPr>
          <a:xfrm>
            <a:off x="9710928" y="2304288"/>
            <a:ext cx="1828800" cy="310896"/>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F8F6F1"/>
                </a:solidFill>
                <a:latin typeface="Manrope"/>
              </a:rPr>
              <a:t>Ask</a:t>
            </a:r>
          </a:p>
        </p:txBody>
      </p:sp>
      <p:sp>
        <p:nvSpPr>
          <p:cNvPr id="26" name="Text: Atlas deadline?"/>
          <p:cNvSpPr txBox="1"/>
          <p:nvPr/>
        </p:nvSpPr>
        <p:spPr>
          <a:xfrm>
            <a:off x="9710928" y="2633472"/>
            <a:ext cx="1837943" cy="5029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D6DEE8"/>
                </a:solidFill>
                <a:latin typeface="Manrope"/>
              </a:rPr>
              <a:t>Atlas deadline?</a:t>
            </a:r>
          </a:p>
        </p:txBody>
      </p:sp>
      <p:sp>
        <p:nvSpPr>
          <p:cNvPr id="27" name="Beat dot"/>
          <p:cNvSpPr/>
          <p:nvPr/>
        </p:nvSpPr>
        <p:spPr>
          <a:xfrm>
            <a:off x="8723376" y="3319272"/>
            <a:ext cx="146304" cy="146304"/>
          </a:xfrm>
          <a:prstGeom prst="ellipse">
            <a:avLst/>
          </a:prstGeom>
          <a:solidFill>
            <a:srgbClr val="EE65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 0:10"/>
          <p:cNvSpPr txBox="1"/>
          <p:nvPr/>
        </p:nvSpPr>
        <p:spPr>
          <a:xfrm>
            <a:off x="9070848" y="3227832"/>
            <a:ext cx="685800" cy="274320"/>
          </a:xfrm>
          <a:prstGeom prst="rect">
            <a:avLst/>
          </a:prstGeom>
          <a:noFill/>
        </p:spPr>
        <p:txBody>
          <a:bodyPr wrap="square" lIns="0" tIns="0" rIns="0" bIns="0" anchor="t">
            <a:spAutoFit/>
          </a:bodyPr>
          <a:lstStyle/>
          <a:p>
            <a:pPr>
              <a:lnSpc>
                <a:spcPct val="105000"/>
              </a:lnSpc>
              <a:spcBef>
                <a:spcPts val="0"/>
              </a:spcBef>
              <a:spcAft>
                <a:spcPts val="0"/>
              </a:spcAft>
            </a:pPr>
            <a:r>
              <a:rPr sz="1200" b="1" spc="100">
                <a:solidFill>
                  <a:srgbClr val="F3BA55"/>
                </a:solidFill>
                <a:latin typeface="Manrope"/>
              </a:rPr>
              <a:t>0:10</a:t>
            </a:r>
          </a:p>
        </p:txBody>
      </p:sp>
      <p:sp>
        <p:nvSpPr>
          <p:cNvPr id="29" name="Text: Answer"/>
          <p:cNvSpPr txBox="1"/>
          <p:nvPr/>
        </p:nvSpPr>
        <p:spPr>
          <a:xfrm>
            <a:off x="9710928" y="3200400"/>
            <a:ext cx="1828800" cy="310896"/>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F8F6F1"/>
                </a:solidFill>
                <a:latin typeface="Manrope"/>
              </a:rPr>
              <a:t>Answer</a:t>
            </a:r>
          </a:p>
        </p:txBody>
      </p:sp>
      <p:sp>
        <p:nvSpPr>
          <p:cNvPr id="30" name="Text: 22 October"/>
          <p:cNvSpPr txBox="1"/>
          <p:nvPr/>
        </p:nvSpPr>
        <p:spPr>
          <a:xfrm>
            <a:off x="9710928" y="3529584"/>
            <a:ext cx="1837943" cy="5029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D6DEE8"/>
                </a:solidFill>
                <a:latin typeface="Manrope"/>
              </a:rPr>
              <a:t>22 October</a:t>
            </a:r>
          </a:p>
        </p:txBody>
      </p:sp>
      <p:sp>
        <p:nvSpPr>
          <p:cNvPr id="31" name="Beat dot"/>
          <p:cNvSpPr/>
          <p:nvPr/>
        </p:nvSpPr>
        <p:spPr>
          <a:xfrm>
            <a:off x="8723376" y="4215383"/>
            <a:ext cx="146304" cy="146304"/>
          </a:xfrm>
          <a:prstGeom prst="ellipse">
            <a:avLst/>
          </a:prstGeom>
          <a:solidFill>
            <a:srgbClr val="EE65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0:25"/>
          <p:cNvSpPr txBox="1"/>
          <p:nvPr/>
        </p:nvSpPr>
        <p:spPr>
          <a:xfrm>
            <a:off x="9070848" y="4123944"/>
            <a:ext cx="685800" cy="274320"/>
          </a:xfrm>
          <a:prstGeom prst="rect">
            <a:avLst/>
          </a:prstGeom>
          <a:noFill/>
        </p:spPr>
        <p:txBody>
          <a:bodyPr wrap="square" lIns="0" tIns="0" rIns="0" bIns="0" anchor="t">
            <a:spAutoFit/>
          </a:bodyPr>
          <a:lstStyle/>
          <a:p>
            <a:pPr>
              <a:lnSpc>
                <a:spcPct val="105000"/>
              </a:lnSpc>
              <a:spcBef>
                <a:spcPts val="0"/>
              </a:spcBef>
              <a:spcAft>
                <a:spcPts val="0"/>
              </a:spcAft>
            </a:pPr>
            <a:r>
              <a:rPr sz="1200" b="1" spc="100">
                <a:solidFill>
                  <a:srgbClr val="F3BA55"/>
                </a:solidFill>
                <a:latin typeface="Manrope"/>
              </a:rPr>
              <a:t>0:25</a:t>
            </a:r>
          </a:p>
        </p:txBody>
      </p:sp>
      <p:sp>
        <p:nvSpPr>
          <p:cNvPr id="33" name="Text: Evidence"/>
          <p:cNvSpPr txBox="1"/>
          <p:nvPr/>
        </p:nvSpPr>
        <p:spPr>
          <a:xfrm>
            <a:off x="9710928" y="4096511"/>
            <a:ext cx="1828800" cy="310896"/>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F8F6F1"/>
                </a:solidFill>
                <a:latin typeface="Manrope"/>
              </a:rPr>
              <a:t>Evidence</a:t>
            </a:r>
          </a:p>
        </p:txBody>
      </p:sp>
      <p:sp>
        <p:nvSpPr>
          <p:cNvPr id="34" name="Text: S4 and one rejected source"/>
          <p:cNvSpPr txBox="1"/>
          <p:nvPr/>
        </p:nvSpPr>
        <p:spPr>
          <a:xfrm>
            <a:off x="9710928" y="4425696"/>
            <a:ext cx="1837943" cy="5029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D6DEE8"/>
                </a:solidFill>
                <a:latin typeface="Manrope"/>
              </a:rPr>
              <a:t>S4 and one rejected source</a:t>
            </a:r>
          </a:p>
        </p:txBody>
      </p:sp>
      <p:sp>
        <p:nvSpPr>
          <p:cNvPr id="35" name="Beat dot"/>
          <p:cNvSpPr/>
          <p:nvPr/>
        </p:nvSpPr>
        <p:spPr>
          <a:xfrm>
            <a:off x="8723376" y="5111496"/>
            <a:ext cx="146304" cy="146304"/>
          </a:xfrm>
          <a:prstGeom prst="ellipse">
            <a:avLst/>
          </a:prstGeom>
          <a:solidFill>
            <a:srgbClr val="EE65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0:35"/>
          <p:cNvSpPr txBox="1"/>
          <p:nvPr/>
        </p:nvSpPr>
        <p:spPr>
          <a:xfrm>
            <a:off x="9070848" y="5020056"/>
            <a:ext cx="685800" cy="274320"/>
          </a:xfrm>
          <a:prstGeom prst="rect">
            <a:avLst/>
          </a:prstGeom>
          <a:noFill/>
        </p:spPr>
        <p:txBody>
          <a:bodyPr wrap="square" lIns="0" tIns="0" rIns="0" bIns="0" anchor="t">
            <a:spAutoFit/>
          </a:bodyPr>
          <a:lstStyle/>
          <a:p>
            <a:pPr>
              <a:lnSpc>
                <a:spcPct val="105000"/>
              </a:lnSpc>
              <a:spcBef>
                <a:spcPts val="0"/>
              </a:spcBef>
              <a:spcAft>
                <a:spcPts val="0"/>
              </a:spcAft>
            </a:pPr>
            <a:r>
              <a:rPr sz="1200" b="1" spc="100">
                <a:solidFill>
                  <a:srgbClr val="F3BA55"/>
                </a:solidFill>
                <a:latin typeface="Manrope"/>
              </a:rPr>
              <a:t>0:35</a:t>
            </a:r>
          </a:p>
        </p:txBody>
      </p:sp>
      <p:sp>
        <p:nvSpPr>
          <p:cNvPr id="37" name="Text: Follow up"/>
          <p:cNvSpPr txBox="1"/>
          <p:nvPr/>
        </p:nvSpPr>
        <p:spPr>
          <a:xfrm>
            <a:off x="9710928" y="4992624"/>
            <a:ext cx="1828800" cy="310896"/>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F8F6F1"/>
                </a:solidFill>
                <a:latin typeface="Manrope"/>
              </a:rPr>
              <a:t>Follow up</a:t>
            </a:r>
          </a:p>
        </p:txBody>
      </p:sp>
      <p:sp>
        <p:nvSpPr>
          <p:cNvPr id="38" name="Text: Next month?"/>
          <p:cNvSpPr txBox="1"/>
          <p:nvPr/>
        </p:nvSpPr>
        <p:spPr>
          <a:xfrm>
            <a:off x="9710928" y="5321808"/>
            <a:ext cx="1837943" cy="5029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D6DEE8"/>
                </a:solidFill>
                <a:latin typeface="Manrope"/>
              </a:rPr>
              <a:t>Next month?</a:t>
            </a:r>
          </a:p>
        </p:txBody>
      </p:sp>
      <p:sp>
        <p:nvSpPr>
          <p:cNvPr id="39" name="Demo label"/>
          <p:cNvSpPr txBox="1"/>
          <p:nvPr/>
        </p:nvSpPr>
        <p:spPr>
          <a:xfrm>
            <a:off x="640080" y="6108192"/>
            <a:ext cx="7498079" cy="256032"/>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D6DEE8"/>
                </a:solidFill>
                <a:latin typeface="Manrope"/>
              </a:rPr>
              <a:t>Scripted fixture demo · synthetic records</a:t>
            </a:r>
          </a:p>
        </p:txBody>
      </p:sp>
      <p:pic>
        <p:nvPicPr>
          <p:cNvPr id="41" name="Official SDtrust SVG">
            <a:extLst>
              <a:ext uri="{FF2B5EF4-FFF2-40B4-BE49-F238E27FC236}">
                <a16:creationId xmlns:a16="http://schemas.microsoft.com/office/drawing/2014/main" id="{BC6E1494-7551-7497-94C7-BCE5ADA5EEC6}"/>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457200"/>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Dashboard ambient EE6558"/>
          <p:cNvSpPr/>
          <p:nvPr/>
        </p:nvSpPr>
        <p:spPr>
          <a:xfrm>
            <a:off x="7955279" y="0"/>
            <a:ext cx="4233672" cy="3474720"/>
          </a:xfrm>
          <a:prstGeom prst="ellipse">
            <a:avLst/>
          </a:prstGeom>
          <a:gradFill rotWithShape="1">
            <a:gsLst>
              <a:gs pos="0">
                <a:srgbClr val="EE6558">
                  <a:alpha val="0"/>
                </a:srgbClr>
              </a:gs>
              <a:gs pos="100000">
                <a:srgbClr val="EE6558">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ashboard ambient 6F9BE0"/>
          <p:cNvSpPr/>
          <p:nvPr/>
        </p:nvSpPr>
        <p:spPr>
          <a:xfrm>
            <a:off x="0" y="3474720"/>
            <a:ext cx="4937760" cy="3383280"/>
          </a:xfrm>
          <a:prstGeom prst="ellipse">
            <a:avLst/>
          </a:prstGeom>
          <a:gradFill rotWithShape="1">
            <a:gsLst>
              <a:gs pos="0">
                <a:srgbClr val="6F9BE0">
                  <a:alpha val="0"/>
                </a:srgbClr>
              </a:gs>
              <a:gs pos="100000">
                <a:srgbClr val="6F9BE0">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ashboard ambient F2A55A"/>
          <p:cNvSpPr/>
          <p:nvPr/>
        </p:nvSpPr>
        <p:spPr>
          <a:xfrm>
            <a:off x="6675120" y="3017520"/>
            <a:ext cx="3657600" cy="3383280"/>
          </a:xfrm>
          <a:prstGeom prst="ellipse">
            <a:avLst/>
          </a:prstGeom>
          <a:gradFill rotWithShape="1">
            <a:gsLst>
              <a:gs pos="0">
                <a:srgbClr val="F2A55A">
                  <a:alpha val="0"/>
                </a:srgbClr>
              </a:gs>
              <a:gs pos="100000">
                <a:srgbClr val="F2A55A">
                  <a:alpha val="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ashboard brand strip"/>
          <p:cNvSpPr/>
          <p:nvPr/>
        </p:nvSpPr>
        <p:spPr>
          <a:xfrm>
            <a:off x="484632" y="283464"/>
            <a:ext cx="11201400" cy="685800"/>
          </a:xfrm>
          <a:prstGeom prst="roundRect">
            <a:avLst>
              <a:gd name="adj" fmla="val 24000"/>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SDtrust</a:t>
            </a:r>
          </a:p>
        </p:txBody>
      </p:sp>
      <p:sp>
        <p:nvSpPr>
          <p:cNvPr id="8"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5F6F85"/>
                </a:solidFill>
                <a:latin typeface="Manrope"/>
              </a:rPr>
              <a:t>05 / 08</a:t>
            </a:r>
          </a:p>
        </p:txBody>
      </p:sp>
      <p:sp>
        <p:nvSpPr>
          <p:cNvPr id="9"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ATLAS · OCTOBER 2026</a:t>
            </a:r>
          </a:p>
        </p:txBody>
      </p:sp>
      <p:sp>
        <p:nvSpPr>
          <p:cNvPr id="10"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192D46"/>
                </a:solidFill>
                <a:latin typeface="Manrope"/>
              </a:rPr>
              <a:t>Trust needs a reason.</a:t>
            </a:r>
          </a:p>
        </p:txBody>
      </p:sp>
      <p:sp>
        <p:nvSpPr>
          <p:cNvPr id="11" name="Answer card"/>
          <p:cNvSpPr/>
          <p:nvPr/>
        </p:nvSpPr>
        <p:spPr>
          <a:xfrm>
            <a:off x="640080" y="2240280"/>
            <a:ext cx="4343400" cy="3931920"/>
          </a:xfrm>
          <a:prstGeom prst="roundRect">
            <a:avLst>
              <a:gd name="adj" fmla="val 5116"/>
            </a:avLst>
          </a:prstGeom>
          <a:gradFill rotWithShape="1">
            <a:gsLst>
              <a:gs pos="0">
                <a:srgbClr val="29435F">
                  <a:alpha val="97000"/>
                </a:srgbClr>
              </a:gs>
              <a:gs pos="100000">
                <a:srgbClr val="172637">
                  <a:alpha val="95000"/>
                </a:srgbClr>
              </a:gs>
            </a:gsLst>
            <a:lin ang="6300000" scaled="1"/>
          </a:gradFill>
          <a:ln w="12700">
            <a:solidFill>
              <a:srgbClr val="31475D"/>
            </a:solidFill>
          </a:ln>
          <a:effectLst>
            <a:outerShdw blurRad="177800" dist="4445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ashboard ambient 6F9BE0"/>
          <p:cNvSpPr/>
          <p:nvPr/>
        </p:nvSpPr>
        <p:spPr>
          <a:xfrm>
            <a:off x="777240" y="2377440"/>
            <a:ext cx="3977639" cy="3566160"/>
          </a:xfrm>
          <a:prstGeom prst="ellipse">
            <a:avLst/>
          </a:prstGeom>
          <a:gradFill rotWithShape="1">
            <a:gsLst>
              <a:gs pos="0">
                <a:srgbClr val="6F9BE0">
                  <a:alpha val="0"/>
                </a:srgbClr>
              </a:gs>
              <a:gs pos="100000">
                <a:srgbClr val="6F9BE0">
                  <a:alpha val="15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Dashboard evidence panel"/>
          <p:cNvSpPr/>
          <p:nvPr/>
        </p:nvSpPr>
        <p:spPr>
          <a:xfrm>
            <a:off x="5285232" y="2240280"/>
            <a:ext cx="6400800" cy="3931920"/>
          </a:xfrm>
          <a:prstGeom prst="roundRect">
            <a:avLst>
              <a:gd name="adj" fmla="val 5116"/>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Dashboard icon tile confirmed"/>
          <p:cNvSpPr/>
          <p:nvPr/>
        </p:nvSpPr>
        <p:spPr>
          <a:xfrm>
            <a:off x="960120" y="2523744"/>
            <a:ext cx="402336" cy="402336"/>
          </a:xfrm>
          <a:prstGeom prst="roundRect">
            <a:avLst>
              <a:gd name="adj" fmla="val 25000"/>
            </a:avLst>
          </a:prstGeom>
          <a:gradFill rotWithShape="1">
            <a:gsLst>
              <a:gs pos="0">
                <a:srgbClr val="4A74C0">
                  <a:alpha val="100000"/>
                </a:srgbClr>
              </a:gs>
              <a:gs pos="100000">
                <a:srgbClr val="6F9BE0">
                  <a:alpha val="100000"/>
                </a:srgbClr>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Rule"/>
          <p:cNvCxnSpPr/>
          <p:nvPr/>
        </p:nvCxnSpPr>
        <p:spPr>
          <a:xfrm>
            <a:off x="1060704" y="2724912"/>
            <a:ext cx="77724" cy="73151"/>
          </a:xfrm>
          <a:prstGeom prst="line">
            <a:avLst/>
          </a:prstGeom>
          <a:ln w="20320">
            <a:solidFill>
              <a:srgbClr val="FFFFFF"/>
            </a:solidFill>
          </a:ln>
        </p:spPr>
      </p:cxnSp>
      <p:cxnSp>
        <p:nvCxnSpPr>
          <p:cNvPr id="16" name="Rule"/>
          <p:cNvCxnSpPr/>
          <p:nvPr/>
        </p:nvCxnSpPr>
        <p:spPr>
          <a:xfrm flipV="1">
            <a:off x="1138428" y="2642615"/>
            <a:ext cx="132588" cy="155448"/>
          </a:xfrm>
          <a:prstGeom prst="line">
            <a:avLst/>
          </a:prstGeom>
          <a:ln w="20320">
            <a:solidFill>
              <a:srgbClr val="FFFFFF"/>
            </a:solidFill>
          </a:ln>
        </p:spPr>
      </p:cxnSp>
      <p:sp>
        <p:nvSpPr>
          <p:cNvPr id="17" name="Text: THE ANSWER"/>
          <p:cNvSpPr txBox="1"/>
          <p:nvPr/>
        </p:nvSpPr>
        <p:spPr>
          <a:xfrm>
            <a:off x="1536192" y="2615184"/>
            <a:ext cx="2743200" cy="237744"/>
          </a:xfrm>
          <a:prstGeom prst="rect">
            <a:avLst/>
          </a:prstGeom>
          <a:noFill/>
        </p:spPr>
        <p:txBody>
          <a:bodyPr wrap="square" lIns="0" tIns="0" rIns="0" bIns="0" anchor="t">
            <a:spAutoFit/>
          </a:bodyPr>
          <a:lstStyle/>
          <a:p>
            <a:pPr>
              <a:lnSpc>
                <a:spcPct val="105000"/>
              </a:lnSpc>
              <a:spcBef>
                <a:spcPts val="0"/>
              </a:spcBef>
              <a:spcAft>
                <a:spcPts val="0"/>
              </a:spcAft>
            </a:pPr>
            <a:r>
              <a:rPr sz="1100" b="1" spc="200">
                <a:solidFill>
                  <a:srgbClr val="F3BA55"/>
                </a:solidFill>
                <a:latin typeface="Manrope"/>
              </a:rPr>
              <a:t>THE ANSWER</a:t>
            </a:r>
          </a:p>
        </p:txBody>
      </p:sp>
      <p:sp>
        <p:nvSpPr>
          <p:cNvPr id="18" name="Text: 22 October"/>
          <p:cNvSpPr txBox="1"/>
          <p:nvPr/>
        </p:nvSpPr>
        <p:spPr>
          <a:xfrm>
            <a:off x="960120" y="2852928"/>
            <a:ext cx="3840480" cy="685800"/>
          </a:xfrm>
          <a:prstGeom prst="rect">
            <a:avLst/>
          </a:prstGeom>
          <a:noFill/>
        </p:spPr>
        <p:txBody>
          <a:bodyPr wrap="square" lIns="0" tIns="0" rIns="0" bIns="0" anchor="t">
            <a:spAutoFit/>
          </a:bodyPr>
          <a:lstStyle/>
          <a:p>
            <a:pPr>
              <a:lnSpc>
                <a:spcPct val="100000"/>
              </a:lnSpc>
              <a:spcBef>
                <a:spcPts val="0"/>
              </a:spcBef>
              <a:spcAft>
                <a:spcPts val="0"/>
              </a:spcAft>
            </a:pPr>
            <a:r>
              <a:rPr sz="4600" b="1">
                <a:solidFill>
                  <a:srgbClr val="F8F6F1"/>
                </a:solidFill>
                <a:latin typeface="Manrope"/>
              </a:rPr>
              <a:t>22 October</a:t>
            </a:r>
          </a:p>
        </p:txBody>
      </p:sp>
      <p:sp>
        <p:nvSpPr>
          <p:cNvPr id="19" name="Text: 2026"/>
          <p:cNvSpPr txBox="1"/>
          <p:nvPr/>
        </p:nvSpPr>
        <p:spPr>
          <a:xfrm>
            <a:off x="978408" y="3566160"/>
            <a:ext cx="1828800" cy="329184"/>
          </a:xfrm>
          <a:prstGeom prst="rect">
            <a:avLst/>
          </a:prstGeom>
          <a:noFill/>
        </p:spPr>
        <p:txBody>
          <a:bodyPr wrap="square" lIns="0" tIns="0" rIns="0" bIns="0" anchor="t">
            <a:spAutoFit/>
          </a:bodyPr>
          <a:lstStyle/>
          <a:p>
            <a:pPr>
              <a:lnSpc>
                <a:spcPct val="105000"/>
              </a:lnSpc>
              <a:spcBef>
                <a:spcPts val="0"/>
              </a:spcBef>
              <a:spcAft>
                <a:spcPts val="0"/>
              </a:spcAft>
            </a:pPr>
            <a:r>
              <a:rPr sz="2200" b="0">
                <a:solidFill>
                  <a:srgbClr val="D6DEE8"/>
                </a:solidFill>
                <a:latin typeface="Manrope"/>
              </a:rPr>
              <a:t>2026</a:t>
            </a:r>
          </a:p>
        </p:txBody>
      </p:sp>
      <p:sp>
        <p:nvSpPr>
          <p:cNvPr id="20" name="Text: Approved exception Atlas · Belgium October only"/>
          <p:cNvSpPr txBox="1"/>
          <p:nvPr/>
        </p:nvSpPr>
        <p:spPr>
          <a:xfrm>
            <a:off x="978408" y="4343400"/>
            <a:ext cx="2331720" cy="914400"/>
          </a:xfrm>
          <a:prstGeom prst="rect">
            <a:avLst/>
          </a:prstGeom>
          <a:noFill/>
        </p:spPr>
        <p:txBody>
          <a:bodyPr wrap="square" lIns="0" tIns="0" rIns="0" bIns="0" anchor="t">
            <a:spAutoFit/>
          </a:bodyPr>
          <a:lstStyle/>
          <a:p>
            <a:pPr>
              <a:lnSpc>
                <a:spcPct val="112000"/>
              </a:lnSpc>
              <a:spcBef>
                <a:spcPts val="0"/>
              </a:spcBef>
              <a:spcAft>
                <a:spcPts val="0"/>
              </a:spcAft>
            </a:pPr>
            <a:r>
              <a:rPr sz="1600" b="0">
                <a:solidFill>
                  <a:srgbClr val="F8F6F1"/>
                </a:solidFill>
                <a:latin typeface="Manrope"/>
              </a:rPr>
              <a:t>Approved exception</a:t>
            </a:r>
          </a:p>
          <a:p>
            <a:pPr>
              <a:lnSpc>
                <a:spcPct val="112000"/>
              </a:lnSpc>
              <a:spcBef>
                <a:spcPts val="0"/>
              </a:spcBef>
              <a:spcAft>
                <a:spcPts val="0"/>
              </a:spcAft>
            </a:pPr>
            <a:r>
              <a:rPr sz="1600" b="0">
                <a:solidFill>
                  <a:srgbClr val="F8F6F1"/>
                </a:solidFill>
                <a:latin typeface="Manrope"/>
              </a:rPr>
              <a:t>Atlas · Belgium</a:t>
            </a:r>
          </a:p>
          <a:p>
            <a:pPr>
              <a:lnSpc>
                <a:spcPct val="112000"/>
              </a:lnSpc>
              <a:spcBef>
                <a:spcPts val="0"/>
              </a:spcBef>
              <a:spcAft>
                <a:spcPts val="0"/>
              </a:spcAft>
            </a:pPr>
            <a:r>
              <a:rPr sz="1600" b="0">
                <a:solidFill>
                  <a:srgbClr val="F8F6F1"/>
                </a:solidFill>
                <a:latin typeface="Manrope"/>
              </a:rPr>
              <a:t>October only</a:t>
            </a:r>
          </a:p>
        </p:txBody>
      </p:sp>
      <p:sp>
        <p:nvSpPr>
          <p:cNvPr id="21" name="Chip: Source S4"/>
          <p:cNvSpPr/>
          <p:nvPr/>
        </p:nvSpPr>
        <p:spPr>
          <a:xfrm>
            <a:off x="978408" y="5486400"/>
            <a:ext cx="1161470" cy="310896"/>
          </a:xfrm>
          <a:prstGeom prst="roundRect">
            <a:avLst>
              <a:gd name="adj" fmla="val 50000"/>
            </a:avLst>
          </a:prstGeom>
          <a:solidFill>
            <a:srgbClr val="294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hip text: Source S4"/>
          <p:cNvSpPr txBox="1"/>
          <p:nvPr/>
        </p:nvSpPr>
        <p:spPr>
          <a:xfrm>
            <a:off x="978408" y="5486400"/>
            <a:ext cx="1161470" cy="310896"/>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F8F6F1"/>
                </a:solidFill>
                <a:latin typeface="Manrope"/>
              </a:rPr>
              <a:t>Source S4</a:t>
            </a:r>
          </a:p>
        </p:txBody>
      </p:sp>
      <p:pic>
        <p:nvPicPr>
          <p:cNvPr id="23" name="Approved asset: Finn review approved02" descr="Finn_review.png"/>
          <p:cNvPicPr>
            <a:picLocks noChangeAspect="1"/>
          </p:cNvPicPr>
          <p:nvPr/>
        </p:nvPicPr>
        <p:blipFill>
          <a:blip r:embed="rId3"/>
          <a:stretch>
            <a:fillRect/>
          </a:stretch>
        </p:blipFill>
        <p:spPr>
          <a:xfrm>
            <a:off x="3108960" y="4167377"/>
            <a:ext cx="1783080" cy="1931670"/>
          </a:xfrm>
          <a:prstGeom prst="rect">
            <a:avLst/>
          </a:prstGeom>
        </p:spPr>
      </p:pic>
      <p:sp>
        <p:nvSpPr>
          <p:cNvPr id="24" name="Date 22"/>
          <p:cNvSpPr txBox="1"/>
          <p:nvPr/>
        </p:nvSpPr>
        <p:spPr>
          <a:xfrm>
            <a:off x="5486400" y="2194560"/>
            <a:ext cx="1417320" cy="73152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0F7A3A"/>
                </a:solidFill>
                <a:latin typeface="Manrope"/>
              </a:rPr>
              <a:t>22</a:t>
            </a:r>
          </a:p>
        </p:txBody>
      </p:sp>
      <p:sp>
        <p:nvSpPr>
          <p:cNvPr id="25" name="Text: S4"/>
          <p:cNvSpPr txBox="1"/>
          <p:nvPr/>
        </p:nvSpPr>
        <p:spPr>
          <a:xfrm>
            <a:off x="6949440" y="2286000"/>
            <a:ext cx="1463040" cy="219456"/>
          </a:xfrm>
          <a:prstGeom prst="rect">
            <a:avLst/>
          </a:prstGeom>
          <a:noFill/>
        </p:spPr>
        <p:txBody>
          <a:bodyPr wrap="square" lIns="0" tIns="0" rIns="0" bIns="0" anchor="t">
            <a:spAutoFit/>
          </a:bodyPr>
          <a:lstStyle/>
          <a:p>
            <a:pPr>
              <a:lnSpc>
                <a:spcPct val="105000"/>
              </a:lnSpc>
              <a:spcBef>
                <a:spcPts val="0"/>
              </a:spcBef>
              <a:spcAft>
                <a:spcPts val="0"/>
              </a:spcAft>
            </a:pPr>
            <a:r>
              <a:rPr sz="1100" b="1" spc="100">
                <a:solidFill>
                  <a:srgbClr val="5F6F85"/>
                </a:solidFill>
                <a:latin typeface="Manrope"/>
              </a:rPr>
              <a:t>S4</a:t>
            </a:r>
          </a:p>
        </p:txBody>
      </p:sp>
      <p:sp>
        <p:nvSpPr>
          <p:cNvPr id="26" name="Text: Approved client agreement"/>
          <p:cNvSpPr txBox="1"/>
          <p:nvPr/>
        </p:nvSpPr>
        <p:spPr>
          <a:xfrm>
            <a:off x="6949440" y="2523744"/>
            <a:ext cx="3200400" cy="457200"/>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192D46"/>
                </a:solidFill>
                <a:latin typeface="Manrope"/>
              </a:rPr>
              <a:t>Approved client agreement</a:t>
            </a:r>
          </a:p>
        </p:txBody>
      </p:sp>
      <p:sp>
        <p:nvSpPr>
          <p:cNvPr id="27" name="Text: Roy approved the Atlas exception."/>
          <p:cNvSpPr txBox="1"/>
          <p:nvPr/>
        </p:nvSpPr>
        <p:spPr>
          <a:xfrm>
            <a:off x="6949440" y="2889504"/>
            <a:ext cx="3200400" cy="594360"/>
          </a:xfrm>
          <a:prstGeom prst="rect">
            <a:avLst/>
          </a:prstGeom>
          <a:noFill/>
        </p:spPr>
        <p:txBody>
          <a:bodyPr wrap="square" lIns="0" tIns="0" rIns="0" bIns="0" anchor="t">
            <a:spAutoFit/>
          </a:bodyPr>
          <a:lstStyle/>
          <a:p>
            <a:pPr>
              <a:lnSpc>
                <a:spcPct val="110000"/>
              </a:lnSpc>
              <a:spcBef>
                <a:spcPts val="0"/>
              </a:spcBef>
              <a:spcAft>
                <a:spcPts val="0"/>
              </a:spcAft>
            </a:pPr>
            <a:r>
              <a:rPr sz="1400" b="0">
                <a:solidFill>
                  <a:srgbClr val="5F6F85"/>
                </a:solidFill>
                <a:latin typeface="Manrope"/>
              </a:rPr>
              <a:t>Roy approved the Atlas exception.</a:t>
            </a:r>
          </a:p>
        </p:txBody>
      </p:sp>
      <p:sp>
        <p:nvSpPr>
          <p:cNvPr id="28" name="Chip: Applies"/>
          <p:cNvSpPr/>
          <p:nvPr/>
        </p:nvSpPr>
        <p:spPr>
          <a:xfrm>
            <a:off x="10268712" y="2304288"/>
            <a:ext cx="1280160" cy="310896"/>
          </a:xfrm>
          <a:prstGeom prst="roundRect">
            <a:avLst>
              <a:gd name="adj" fmla="val 50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hip text: Applies"/>
          <p:cNvSpPr txBox="1"/>
          <p:nvPr/>
        </p:nvSpPr>
        <p:spPr>
          <a:xfrm>
            <a:off x="10268712" y="2304288"/>
            <a:ext cx="1280160" cy="310896"/>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0F7A3A"/>
                </a:solidFill>
                <a:latin typeface="Manrope"/>
              </a:rPr>
              <a:t>Applies</a:t>
            </a:r>
          </a:p>
        </p:txBody>
      </p:sp>
      <p:cxnSp>
        <p:nvCxnSpPr>
          <p:cNvPr id="30" name="Rule"/>
          <p:cNvCxnSpPr/>
          <p:nvPr/>
        </p:nvCxnSpPr>
        <p:spPr>
          <a:xfrm>
            <a:off x="5486400" y="3410711"/>
            <a:ext cx="6062472" cy="0"/>
          </a:xfrm>
          <a:prstGeom prst="line">
            <a:avLst/>
          </a:prstGeom>
          <a:ln w="12700">
            <a:solidFill>
              <a:srgbClr val="E5E1D8"/>
            </a:solidFill>
          </a:ln>
        </p:spPr>
      </p:cxnSp>
      <p:sp>
        <p:nvSpPr>
          <p:cNvPr id="31" name="Date 20"/>
          <p:cNvSpPr txBox="1"/>
          <p:nvPr/>
        </p:nvSpPr>
        <p:spPr>
          <a:xfrm>
            <a:off x="5486400" y="3502151"/>
            <a:ext cx="1417320" cy="731520"/>
          </a:xfrm>
          <a:prstGeom prst="rect">
            <a:avLst/>
          </a:prstGeom>
          <a:noFill/>
        </p:spPr>
        <p:txBody>
          <a:bodyPr wrap="square" lIns="0" tIns="0" rIns="0" bIns="0" anchor="t">
            <a:spAutoFit/>
          </a:bodyPr>
          <a:lstStyle/>
          <a:p>
            <a:pPr>
              <a:lnSpc>
                <a:spcPct val="100000"/>
              </a:lnSpc>
              <a:spcBef>
                <a:spcPts val="0"/>
              </a:spcBef>
              <a:spcAft>
                <a:spcPts val="0"/>
              </a:spcAft>
            </a:pPr>
            <a:r>
              <a:rPr sz="4000" b="1" strike="sngStrike">
                <a:solidFill>
                  <a:srgbClr val="5F6F85"/>
                </a:solidFill>
                <a:latin typeface="Manrope"/>
              </a:rPr>
              <a:t>20</a:t>
            </a:r>
          </a:p>
        </p:txBody>
      </p:sp>
      <p:sp>
        <p:nvSpPr>
          <p:cNvPr id="32" name="Text: S1"/>
          <p:cNvSpPr txBox="1"/>
          <p:nvPr/>
        </p:nvSpPr>
        <p:spPr>
          <a:xfrm>
            <a:off x="6949440" y="3593591"/>
            <a:ext cx="1463040" cy="219456"/>
          </a:xfrm>
          <a:prstGeom prst="rect">
            <a:avLst/>
          </a:prstGeom>
          <a:noFill/>
        </p:spPr>
        <p:txBody>
          <a:bodyPr wrap="square" lIns="0" tIns="0" rIns="0" bIns="0" anchor="t">
            <a:spAutoFit/>
          </a:bodyPr>
          <a:lstStyle/>
          <a:p>
            <a:pPr>
              <a:lnSpc>
                <a:spcPct val="105000"/>
              </a:lnSpc>
              <a:spcBef>
                <a:spcPts val="0"/>
              </a:spcBef>
              <a:spcAft>
                <a:spcPts val="0"/>
              </a:spcAft>
            </a:pPr>
            <a:r>
              <a:rPr sz="1100" b="1" spc="100">
                <a:solidFill>
                  <a:srgbClr val="5F6F85"/>
                </a:solidFill>
                <a:latin typeface="Manrope"/>
              </a:rPr>
              <a:t>S1</a:t>
            </a:r>
          </a:p>
        </p:txBody>
      </p:sp>
      <p:sp>
        <p:nvSpPr>
          <p:cNvPr id="33" name="Text: General procedure"/>
          <p:cNvSpPr txBox="1"/>
          <p:nvPr/>
        </p:nvSpPr>
        <p:spPr>
          <a:xfrm>
            <a:off x="6949440" y="3831335"/>
            <a:ext cx="3200400" cy="457200"/>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192D46"/>
                </a:solidFill>
                <a:latin typeface="Manrope"/>
              </a:rPr>
              <a:t>General procedure</a:t>
            </a:r>
          </a:p>
        </p:txBody>
      </p:sp>
      <p:sp>
        <p:nvSpPr>
          <p:cNvPr id="34" name="Text: The client exception takes precedence."/>
          <p:cNvSpPr txBox="1"/>
          <p:nvPr/>
        </p:nvSpPr>
        <p:spPr>
          <a:xfrm>
            <a:off x="6949440" y="4197096"/>
            <a:ext cx="3200400" cy="594360"/>
          </a:xfrm>
          <a:prstGeom prst="rect">
            <a:avLst/>
          </a:prstGeom>
          <a:noFill/>
        </p:spPr>
        <p:txBody>
          <a:bodyPr wrap="square" lIns="0" tIns="0" rIns="0" bIns="0" anchor="t">
            <a:spAutoFit/>
          </a:bodyPr>
          <a:lstStyle/>
          <a:p>
            <a:pPr>
              <a:lnSpc>
                <a:spcPct val="110000"/>
              </a:lnSpc>
              <a:spcBef>
                <a:spcPts val="0"/>
              </a:spcBef>
              <a:spcAft>
                <a:spcPts val="0"/>
              </a:spcAft>
            </a:pPr>
            <a:r>
              <a:rPr sz="1400" b="0">
                <a:solidFill>
                  <a:srgbClr val="5F6F85"/>
                </a:solidFill>
                <a:latin typeface="Manrope"/>
              </a:rPr>
              <a:t>The client exception takes precedence.</a:t>
            </a:r>
          </a:p>
        </p:txBody>
      </p:sp>
      <p:sp>
        <p:nvSpPr>
          <p:cNvPr id="35" name="Chip: Overridden"/>
          <p:cNvSpPr/>
          <p:nvPr/>
        </p:nvSpPr>
        <p:spPr>
          <a:xfrm>
            <a:off x="10268712" y="3611879"/>
            <a:ext cx="1280160" cy="310896"/>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hip text: Overridden"/>
          <p:cNvSpPr txBox="1"/>
          <p:nvPr/>
        </p:nvSpPr>
        <p:spPr>
          <a:xfrm>
            <a:off x="10268712" y="3611879"/>
            <a:ext cx="1280160" cy="310896"/>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5F6F85"/>
                </a:solidFill>
                <a:latin typeface="Manrope"/>
              </a:rPr>
              <a:t>Overridden</a:t>
            </a:r>
          </a:p>
        </p:txBody>
      </p:sp>
      <p:cxnSp>
        <p:nvCxnSpPr>
          <p:cNvPr id="37" name="Rule"/>
          <p:cNvCxnSpPr/>
          <p:nvPr/>
        </p:nvCxnSpPr>
        <p:spPr>
          <a:xfrm>
            <a:off x="5486400" y="4718303"/>
            <a:ext cx="6062472" cy="0"/>
          </a:xfrm>
          <a:prstGeom prst="line">
            <a:avLst/>
          </a:prstGeom>
          <a:ln w="12700">
            <a:solidFill>
              <a:srgbClr val="E5E1D8"/>
            </a:solidFill>
          </a:ln>
        </p:spPr>
      </p:cxnSp>
      <p:sp>
        <p:nvSpPr>
          <p:cNvPr id="38" name="Date 23 25"/>
          <p:cNvSpPr txBox="1"/>
          <p:nvPr/>
        </p:nvSpPr>
        <p:spPr>
          <a:xfrm>
            <a:off x="5486400" y="4809744"/>
            <a:ext cx="1417320" cy="731520"/>
          </a:xfrm>
          <a:prstGeom prst="rect">
            <a:avLst/>
          </a:prstGeom>
          <a:noFill/>
        </p:spPr>
        <p:txBody>
          <a:bodyPr wrap="square" lIns="0" tIns="0" rIns="0" bIns="0" anchor="t">
            <a:spAutoFit/>
          </a:bodyPr>
          <a:lstStyle/>
          <a:p>
            <a:pPr>
              <a:lnSpc>
                <a:spcPct val="100000"/>
              </a:lnSpc>
              <a:spcBef>
                <a:spcPts val="0"/>
              </a:spcBef>
              <a:spcAft>
                <a:spcPts val="0"/>
              </a:spcAft>
            </a:pPr>
            <a:r>
              <a:rPr sz="4000" b="1" strike="sngStrike">
                <a:solidFill>
                  <a:srgbClr val="5F6F85"/>
                </a:solidFill>
                <a:latin typeface="Manrope"/>
              </a:rPr>
              <a:t>23 25</a:t>
            </a:r>
          </a:p>
        </p:txBody>
      </p:sp>
      <p:sp>
        <p:nvSpPr>
          <p:cNvPr id="39" name="Text: S10 / S3"/>
          <p:cNvSpPr txBox="1"/>
          <p:nvPr/>
        </p:nvSpPr>
        <p:spPr>
          <a:xfrm>
            <a:off x="6949440" y="4901183"/>
            <a:ext cx="1463040" cy="219456"/>
          </a:xfrm>
          <a:prstGeom prst="rect">
            <a:avLst/>
          </a:prstGeom>
          <a:noFill/>
        </p:spPr>
        <p:txBody>
          <a:bodyPr wrap="square" lIns="0" tIns="0" rIns="0" bIns="0" anchor="t">
            <a:spAutoFit/>
          </a:bodyPr>
          <a:lstStyle/>
          <a:p>
            <a:pPr>
              <a:lnSpc>
                <a:spcPct val="105000"/>
              </a:lnSpc>
              <a:spcBef>
                <a:spcPts val="0"/>
              </a:spcBef>
              <a:spcAft>
                <a:spcPts val="0"/>
              </a:spcAft>
            </a:pPr>
            <a:r>
              <a:rPr sz="1100" b="1" spc="100">
                <a:solidFill>
                  <a:srgbClr val="5F6F85"/>
                </a:solidFill>
                <a:latin typeface="Manrope"/>
              </a:rPr>
              <a:t>S10 / S3</a:t>
            </a:r>
          </a:p>
        </p:txBody>
      </p:sp>
      <p:sp>
        <p:nvSpPr>
          <p:cNvPr id="40" name="Text: Teams proposals"/>
          <p:cNvSpPr txBox="1"/>
          <p:nvPr/>
        </p:nvSpPr>
        <p:spPr>
          <a:xfrm>
            <a:off x="6949440" y="5138927"/>
            <a:ext cx="3200400" cy="457200"/>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192D46"/>
                </a:solidFill>
                <a:latin typeface="Manrope"/>
              </a:rPr>
              <a:t>Teams proposals</a:t>
            </a:r>
          </a:p>
        </p:txBody>
      </p:sp>
      <p:sp>
        <p:nvSpPr>
          <p:cNvPr id="41" name="Text: A proposed 23rd and a recalled 25th. Neither is an approval."/>
          <p:cNvSpPr txBox="1"/>
          <p:nvPr/>
        </p:nvSpPr>
        <p:spPr>
          <a:xfrm>
            <a:off x="6949440" y="5504688"/>
            <a:ext cx="3200400" cy="594360"/>
          </a:xfrm>
          <a:prstGeom prst="rect">
            <a:avLst/>
          </a:prstGeom>
          <a:noFill/>
        </p:spPr>
        <p:txBody>
          <a:bodyPr wrap="square" lIns="0" tIns="0" rIns="0" bIns="0" anchor="t">
            <a:spAutoFit/>
          </a:bodyPr>
          <a:lstStyle/>
          <a:p>
            <a:pPr>
              <a:lnSpc>
                <a:spcPct val="110000"/>
              </a:lnSpc>
              <a:spcBef>
                <a:spcPts val="0"/>
              </a:spcBef>
              <a:spcAft>
                <a:spcPts val="0"/>
              </a:spcAft>
            </a:pPr>
            <a:r>
              <a:rPr sz="1400" b="0">
                <a:solidFill>
                  <a:srgbClr val="5F6F85"/>
                </a:solidFill>
                <a:latin typeface="Manrope"/>
              </a:rPr>
              <a:t>A proposed 23rd and a recalled 25th. Neither is an approval.</a:t>
            </a:r>
          </a:p>
        </p:txBody>
      </p:sp>
      <p:sp>
        <p:nvSpPr>
          <p:cNvPr id="42" name="Chip: Not approved"/>
          <p:cNvSpPr/>
          <p:nvPr/>
        </p:nvSpPr>
        <p:spPr>
          <a:xfrm>
            <a:off x="10268712" y="4919471"/>
            <a:ext cx="1280160" cy="310896"/>
          </a:xfrm>
          <a:prstGeom prst="roundRect">
            <a:avLst>
              <a:gd name="adj" fmla="val 50000"/>
            </a:avLst>
          </a:prstGeom>
          <a:solidFill>
            <a:srgbClr val="FFF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Chip text: Not approved"/>
          <p:cNvSpPr txBox="1"/>
          <p:nvPr/>
        </p:nvSpPr>
        <p:spPr>
          <a:xfrm>
            <a:off x="10268712" y="4919471"/>
            <a:ext cx="1280160" cy="310896"/>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A76400"/>
                </a:solidFill>
                <a:latin typeface="Manrope"/>
              </a:rPr>
              <a:t>Not approved</a:t>
            </a:r>
          </a:p>
        </p:txBody>
      </p:sp>
      <p:pic>
        <p:nvPicPr>
          <p:cNvPr id="45" name="Official SDtrust SVG">
            <a:extLst>
              <a:ext uri="{FF2B5EF4-FFF2-40B4-BE49-F238E27FC236}">
                <a16:creationId xmlns:a16="http://schemas.microsoft.com/office/drawing/2014/main" id="{CD8CBEB7-2383-1C47-B4E7-DDC0D763D6D1}"/>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0080" y="457200"/>
            <a:ext cx="31089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Dashboard ambient EE6558"/>
          <p:cNvSpPr/>
          <p:nvPr/>
        </p:nvSpPr>
        <p:spPr>
          <a:xfrm>
            <a:off x="7955279" y="0"/>
            <a:ext cx="4233672" cy="3474720"/>
          </a:xfrm>
          <a:prstGeom prst="ellipse">
            <a:avLst/>
          </a:prstGeom>
          <a:gradFill rotWithShape="1">
            <a:gsLst>
              <a:gs pos="0">
                <a:srgbClr val="EE6558">
                  <a:alpha val="0"/>
                </a:srgbClr>
              </a:gs>
              <a:gs pos="100000">
                <a:srgbClr val="EE6558">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ashboard ambient 6F9BE0"/>
          <p:cNvSpPr/>
          <p:nvPr/>
        </p:nvSpPr>
        <p:spPr>
          <a:xfrm>
            <a:off x="0" y="3474720"/>
            <a:ext cx="4937760" cy="3383280"/>
          </a:xfrm>
          <a:prstGeom prst="ellipse">
            <a:avLst/>
          </a:prstGeom>
          <a:gradFill rotWithShape="1">
            <a:gsLst>
              <a:gs pos="0">
                <a:srgbClr val="6F9BE0">
                  <a:alpha val="0"/>
                </a:srgbClr>
              </a:gs>
              <a:gs pos="100000">
                <a:srgbClr val="6F9BE0">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ashboard ambient F2A55A"/>
          <p:cNvSpPr/>
          <p:nvPr/>
        </p:nvSpPr>
        <p:spPr>
          <a:xfrm>
            <a:off x="6675120" y="3017520"/>
            <a:ext cx="3657600" cy="3383280"/>
          </a:xfrm>
          <a:prstGeom prst="ellipse">
            <a:avLst/>
          </a:prstGeom>
          <a:gradFill rotWithShape="1">
            <a:gsLst>
              <a:gs pos="0">
                <a:srgbClr val="F2A55A">
                  <a:alpha val="0"/>
                </a:srgbClr>
              </a:gs>
              <a:gs pos="100000">
                <a:srgbClr val="F2A55A">
                  <a:alpha val="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ashboard brand strip"/>
          <p:cNvSpPr/>
          <p:nvPr/>
        </p:nvSpPr>
        <p:spPr>
          <a:xfrm>
            <a:off x="484632" y="283464"/>
            <a:ext cx="11201400" cy="685800"/>
          </a:xfrm>
          <a:prstGeom prst="roundRect">
            <a:avLst>
              <a:gd name="adj" fmla="val 24000"/>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SDtrust</a:t>
            </a:r>
          </a:p>
        </p:txBody>
      </p:sp>
      <p:sp>
        <p:nvSpPr>
          <p:cNvPr id="8"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5F6F85"/>
                </a:solidFill>
                <a:latin typeface="Manrope"/>
              </a:rPr>
              <a:t>06 / 08</a:t>
            </a:r>
          </a:p>
        </p:txBody>
      </p:sp>
      <p:sp>
        <p:nvSpPr>
          <p:cNvPr id="9"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ATLAS · NOVEMBER 2026</a:t>
            </a:r>
          </a:p>
        </p:txBody>
      </p:sp>
      <p:sp>
        <p:nvSpPr>
          <p:cNvPr id="10"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192D46"/>
                </a:solidFill>
                <a:latin typeface="Manrope"/>
              </a:rPr>
              <a:t>No evidence? Make the gap visible.</a:t>
            </a:r>
          </a:p>
        </p:txBody>
      </p:sp>
      <p:sp>
        <p:nvSpPr>
          <p:cNvPr id="11" name="Question"/>
          <p:cNvSpPr txBox="1"/>
          <p:nvPr/>
        </p:nvSpPr>
        <p:spPr>
          <a:xfrm>
            <a:off x="640080" y="2212848"/>
            <a:ext cx="10515600" cy="384048"/>
          </a:xfrm>
          <a:prstGeom prst="rect">
            <a:avLst/>
          </a:prstGeom>
          <a:noFill/>
        </p:spPr>
        <p:txBody>
          <a:bodyPr wrap="square" lIns="0" tIns="0" rIns="0" bIns="0" anchor="t">
            <a:spAutoFit/>
          </a:bodyPr>
          <a:lstStyle/>
          <a:p>
            <a:pPr>
              <a:lnSpc>
                <a:spcPct val="105000"/>
              </a:lnSpc>
              <a:spcBef>
                <a:spcPts val="0"/>
              </a:spcBef>
              <a:spcAft>
                <a:spcPts val="0"/>
              </a:spcAft>
            </a:pPr>
            <a:r>
              <a:rPr sz="2200" b="0">
                <a:solidFill>
                  <a:srgbClr val="5F6F85"/>
                </a:solidFill>
                <a:latin typeface="Manrope"/>
              </a:rPr>
              <a:t>“And for next month?”</a:t>
            </a:r>
          </a:p>
        </p:txBody>
      </p:sp>
      <p:sp>
        <p:nvSpPr>
          <p:cNvPr id="12" name="Evidence glass panel"/>
          <p:cNvSpPr/>
          <p:nvPr/>
        </p:nvSpPr>
        <p:spPr>
          <a:xfrm>
            <a:off x="640080" y="2834640"/>
            <a:ext cx="4526280" cy="2743200"/>
          </a:xfrm>
          <a:prstGeom prst="roundRect">
            <a:avLst>
              <a:gd name="adj" fmla="val 7333"/>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Evidence gap"/>
          <p:cNvSpPr/>
          <p:nvPr/>
        </p:nvSpPr>
        <p:spPr>
          <a:xfrm>
            <a:off x="640080" y="2834640"/>
            <a:ext cx="4526280" cy="2743200"/>
          </a:xfrm>
          <a:prstGeom prst="roundRect">
            <a:avLst>
              <a:gd name="adj" fmla="val 6000"/>
            </a:avLst>
          </a:prstGeom>
          <a:noFill/>
          <a:ln w="19050">
            <a:solidFill>
              <a:srgbClr val="C9CE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Gap mark"/>
          <p:cNvSpPr txBox="1"/>
          <p:nvPr/>
        </p:nvSpPr>
        <p:spPr>
          <a:xfrm>
            <a:off x="960120" y="2880360"/>
            <a:ext cx="1097280" cy="1325880"/>
          </a:xfrm>
          <a:prstGeom prst="rect">
            <a:avLst/>
          </a:prstGeom>
          <a:noFill/>
        </p:spPr>
        <p:txBody>
          <a:bodyPr wrap="square" lIns="0" tIns="0" rIns="0" bIns="0" anchor="t">
            <a:spAutoFit/>
          </a:bodyPr>
          <a:lstStyle/>
          <a:p>
            <a:pPr>
              <a:lnSpc>
                <a:spcPct val="100000"/>
              </a:lnSpc>
              <a:spcBef>
                <a:spcPts val="0"/>
              </a:spcBef>
              <a:spcAft>
                <a:spcPts val="0"/>
              </a:spcAft>
            </a:pPr>
            <a:r>
              <a:rPr sz="8000" b="1">
                <a:solidFill>
                  <a:srgbClr val="C9CED6"/>
                </a:solidFill>
                <a:latin typeface="Manrope"/>
              </a:rPr>
              <a:t>?</a:t>
            </a:r>
          </a:p>
        </p:txBody>
      </p:sp>
      <p:sp>
        <p:nvSpPr>
          <p:cNvPr id="15" name="Text: No substantiated answer"/>
          <p:cNvSpPr txBox="1"/>
          <p:nvPr/>
        </p:nvSpPr>
        <p:spPr>
          <a:xfrm>
            <a:off x="960120" y="4114800"/>
            <a:ext cx="4023360" cy="365760"/>
          </a:xfrm>
          <a:prstGeom prst="rect">
            <a:avLst/>
          </a:prstGeom>
          <a:noFill/>
        </p:spPr>
        <p:txBody>
          <a:bodyPr wrap="square" lIns="0" tIns="0" rIns="0" bIns="0" anchor="t">
            <a:spAutoFit/>
          </a:bodyPr>
          <a:lstStyle/>
          <a:p>
            <a:pPr>
              <a:lnSpc>
                <a:spcPct val="105000"/>
              </a:lnSpc>
              <a:spcBef>
                <a:spcPts val="0"/>
              </a:spcBef>
              <a:spcAft>
                <a:spcPts val="0"/>
              </a:spcAft>
            </a:pPr>
            <a:r>
              <a:rPr sz="2300" b="1">
                <a:solidFill>
                  <a:srgbClr val="192D46"/>
                </a:solidFill>
                <a:latin typeface="Manrope"/>
              </a:rPr>
              <a:t>No substantiated answer</a:t>
            </a:r>
          </a:p>
        </p:txBody>
      </p:sp>
      <p:sp>
        <p:nvSpPr>
          <p:cNvPr id="16" name="Text: October’s agreement does not confirm November’s deadline."/>
          <p:cNvSpPr txBox="1"/>
          <p:nvPr/>
        </p:nvSpPr>
        <p:spPr>
          <a:xfrm>
            <a:off x="960120" y="4572000"/>
            <a:ext cx="4023360" cy="640080"/>
          </a:xfrm>
          <a:prstGeom prst="rect">
            <a:avLst/>
          </a:prstGeom>
          <a:noFill/>
        </p:spPr>
        <p:txBody>
          <a:bodyPr wrap="square" lIns="0" tIns="0" rIns="0" bIns="0" anchor="t">
            <a:spAutoFit/>
          </a:bodyPr>
          <a:lstStyle/>
          <a:p>
            <a:pPr>
              <a:lnSpc>
                <a:spcPct val="112000"/>
              </a:lnSpc>
              <a:spcBef>
                <a:spcPts val="0"/>
              </a:spcBef>
              <a:spcAft>
                <a:spcPts val="0"/>
              </a:spcAft>
            </a:pPr>
            <a:r>
              <a:rPr sz="1600" b="0">
                <a:solidFill>
                  <a:srgbClr val="5F6F85"/>
                </a:solidFill>
                <a:latin typeface="Manrope"/>
              </a:rPr>
              <a:t>October’s agreement does not</a:t>
            </a:r>
          </a:p>
          <a:p>
            <a:pPr>
              <a:lnSpc>
                <a:spcPct val="112000"/>
              </a:lnSpc>
              <a:spcBef>
                <a:spcPts val="0"/>
              </a:spcBef>
              <a:spcAft>
                <a:spcPts val="0"/>
              </a:spcAft>
            </a:pPr>
            <a:r>
              <a:rPr sz="1600" b="0">
                <a:solidFill>
                  <a:srgbClr val="5F6F85"/>
                </a:solidFill>
                <a:latin typeface="Manrope"/>
              </a:rPr>
              <a:t>confirm November’s deadline.</a:t>
            </a:r>
          </a:p>
        </p:txBody>
      </p:sp>
      <p:pic>
        <p:nvPicPr>
          <p:cNvPr id="17" name="Approved asset: Finn waiting drawn_gesture_03" descr="Finn_waiting.png"/>
          <p:cNvPicPr>
            <a:picLocks noChangeAspect="1"/>
          </p:cNvPicPr>
          <p:nvPr/>
        </p:nvPicPr>
        <p:blipFill>
          <a:blip r:embed="rId3"/>
          <a:stretch>
            <a:fillRect/>
          </a:stretch>
        </p:blipFill>
        <p:spPr>
          <a:xfrm>
            <a:off x="5193792" y="3448049"/>
            <a:ext cx="1965960" cy="2129790"/>
          </a:xfrm>
          <a:prstGeom prst="rect">
            <a:avLst/>
          </a:prstGeom>
        </p:spPr>
      </p:pic>
      <p:sp>
        <p:nvSpPr>
          <p:cNvPr id="18" name="Next step card"/>
          <p:cNvSpPr/>
          <p:nvPr/>
        </p:nvSpPr>
        <p:spPr>
          <a:xfrm>
            <a:off x="7223760" y="2834640"/>
            <a:ext cx="4325112" cy="2743200"/>
          </a:xfrm>
          <a:prstGeom prst="roundRect">
            <a:avLst>
              <a:gd name="adj" fmla="val 7333"/>
            </a:avLst>
          </a:prstGeom>
          <a:gradFill rotWithShape="1">
            <a:gsLst>
              <a:gs pos="0">
                <a:srgbClr val="29435F">
                  <a:alpha val="97000"/>
                </a:srgbClr>
              </a:gs>
              <a:gs pos="100000">
                <a:srgbClr val="172637">
                  <a:alpha val="95000"/>
                </a:srgbClr>
              </a:gs>
            </a:gsLst>
            <a:lin ang="6300000" scaled="1"/>
          </a:gradFill>
          <a:ln w="12700">
            <a:solidFill>
              <a:srgbClr val="31475D"/>
            </a:solidFill>
          </a:ln>
          <a:effectLst>
            <a:outerShdw blurRad="177800" dist="4445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y avatar"/>
          <p:cNvSpPr/>
          <p:nvPr/>
        </p:nvSpPr>
        <p:spPr>
          <a:xfrm>
            <a:off x="7543800" y="3154680"/>
            <a:ext cx="713232" cy="713232"/>
          </a:xfrm>
          <a:prstGeom prst="roundRect">
            <a:avLst>
              <a:gd name="adj" fmla="val 29487"/>
            </a:avLst>
          </a:prstGeom>
          <a:gradFill rotWithShape="1">
            <a:gsLst>
              <a:gs pos="0">
                <a:srgbClr val="D84935">
                  <a:alpha val="100000"/>
                </a:srgbClr>
              </a:gs>
              <a:gs pos="100000">
                <a:srgbClr val="EE6558">
                  <a:alpha val="100000"/>
                </a:srgbClr>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y initial"/>
          <p:cNvSpPr txBox="1"/>
          <p:nvPr/>
        </p:nvSpPr>
        <p:spPr>
          <a:xfrm>
            <a:off x="7543800" y="3154680"/>
            <a:ext cx="713232" cy="713232"/>
          </a:xfrm>
          <a:prstGeom prst="rect">
            <a:avLst/>
          </a:prstGeom>
          <a:noFill/>
        </p:spPr>
        <p:txBody>
          <a:bodyPr wrap="square" lIns="0" tIns="0" rIns="0" bIns="0" anchor="ctr">
            <a:spAutoFit/>
          </a:bodyPr>
          <a:lstStyle/>
          <a:p>
            <a:pPr algn="ctr">
              <a:lnSpc>
                <a:spcPct val="100000"/>
              </a:lnSpc>
              <a:spcBef>
                <a:spcPts val="0"/>
              </a:spcBef>
              <a:spcAft>
                <a:spcPts val="0"/>
              </a:spcAft>
            </a:pPr>
            <a:r>
              <a:rPr sz="2600" b="1">
                <a:solidFill>
                  <a:srgbClr val="F8F6F1"/>
                </a:solidFill>
                <a:latin typeface="Manrope"/>
              </a:rPr>
              <a:t>R</a:t>
            </a:r>
          </a:p>
        </p:txBody>
      </p:sp>
      <p:sp>
        <p:nvSpPr>
          <p:cNvPr id="21" name="Text: NEXT STEP"/>
          <p:cNvSpPr txBox="1"/>
          <p:nvPr/>
        </p:nvSpPr>
        <p:spPr>
          <a:xfrm>
            <a:off x="8458200" y="3200400"/>
            <a:ext cx="2743200" cy="237744"/>
          </a:xfrm>
          <a:prstGeom prst="rect">
            <a:avLst/>
          </a:prstGeom>
          <a:noFill/>
        </p:spPr>
        <p:txBody>
          <a:bodyPr wrap="square" lIns="0" tIns="0" rIns="0" bIns="0" anchor="t">
            <a:spAutoFit/>
          </a:bodyPr>
          <a:lstStyle/>
          <a:p>
            <a:pPr>
              <a:lnSpc>
                <a:spcPct val="105000"/>
              </a:lnSpc>
              <a:spcBef>
                <a:spcPts val="0"/>
              </a:spcBef>
              <a:spcAft>
                <a:spcPts val="0"/>
              </a:spcAft>
            </a:pPr>
            <a:r>
              <a:rPr sz="1100" b="1" spc="200">
                <a:solidFill>
                  <a:srgbClr val="F3BA55"/>
                </a:solidFill>
                <a:latin typeface="Manrope"/>
              </a:rPr>
              <a:t>NEXT STEP</a:t>
            </a:r>
          </a:p>
        </p:txBody>
      </p:sp>
      <p:sp>
        <p:nvSpPr>
          <p:cNvPr id="22" name="Text: Roy"/>
          <p:cNvSpPr txBox="1"/>
          <p:nvPr/>
        </p:nvSpPr>
        <p:spPr>
          <a:xfrm>
            <a:off x="8458200" y="3438144"/>
            <a:ext cx="2743200" cy="457200"/>
          </a:xfrm>
          <a:prstGeom prst="rect">
            <a:avLst/>
          </a:prstGeom>
          <a:noFill/>
        </p:spPr>
        <p:txBody>
          <a:bodyPr wrap="square" lIns="0" tIns="0" rIns="0" bIns="0" anchor="t">
            <a:spAutoFit/>
          </a:bodyPr>
          <a:lstStyle/>
          <a:p>
            <a:pPr>
              <a:lnSpc>
                <a:spcPct val="100000"/>
              </a:lnSpc>
              <a:spcBef>
                <a:spcPts val="0"/>
              </a:spcBef>
              <a:spcAft>
                <a:spcPts val="0"/>
              </a:spcAft>
            </a:pPr>
            <a:r>
              <a:rPr sz="3000" b="1">
                <a:solidFill>
                  <a:srgbClr val="F8F6F1"/>
                </a:solidFill>
                <a:latin typeface="Manrope"/>
              </a:rPr>
              <a:t>Roy</a:t>
            </a:r>
          </a:p>
        </p:txBody>
      </p:sp>
      <p:sp>
        <p:nvSpPr>
          <p:cNvPr id="23" name="Text: Atlas account owner"/>
          <p:cNvSpPr txBox="1"/>
          <p:nvPr/>
        </p:nvSpPr>
        <p:spPr>
          <a:xfrm>
            <a:off x="7543800" y="4160520"/>
            <a:ext cx="3749039" cy="274320"/>
          </a:xfrm>
          <a:prstGeom prst="rect">
            <a:avLst/>
          </a:prstGeom>
          <a:noFill/>
        </p:spPr>
        <p:txBody>
          <a:bodyPr wrap="square" lIns="0" tIns="0" rIns="0" bIns="0" anchor="t">
            <a:spAutoFit/>
          </a:bodyPr>
          <a:lstStyle/>
          <a:p>
            <a:pPr>
              <a:lnSpc>
                <a:spcPct val="105000"/>
              </a:lnSpc>
              <a:spcBef>
                <a:spcPts val="0"/>
              </a:spcBef>
              <a:spcAft>
                <a:spcPts val="0"/>
              </a:spcAft>
            </a:pPr>
            <a:r>
              <a:rPr sz="1500" b="0">
                <a:solidFill>
                  <a:srgbClr val="D6DEE8"/>
                </a:solidFill>
                <a:latin typeface="Manrope"/>
              </a:rPr>
              <a:t>Atlas account owner</a:t>
            </a:r>
          </a:p>
        </p:txBody>
      </p:sp>
      <p:sp>
        <p:nvSpPr>
          <p:cNvPr id="24" name="Text: Ask for a confirmed November date."/>
          <p:cNvSpPr txBox="1"/>
          <p:nvPr/>
        </p:nvSpPr>
        <p:spPr>
          <a:xfrm>
            <a:off x="7543800" y="4572000"/>
            <a:ext cx="3749039" cy="640080"/>
          </a:xfrm>
          <a:prstGeom prst="rect">
            <a:avLst/>
          </a:prstGeom>
          <a:noFill/>
        </p:spPr>
        <p:txBody>
          <a:bodyPr wrap="square" lIns="0" tIns="0" rIns="0" bIns="0" anchor="t">
            <a:spAutoFit/>
          </a:bodyPr>
          <a:lstStyle/>
          <a:p>
            <a:pPr>
              <a:lnSpc>
                <a:spcPct val="112000"/>
              </a:lnSpc>
              <a:spcBef>
                <a:spcPts val="0"/>
              </a:spcBef>
              <a:spcAft>
                <a:spcPts val="0"/>
              </a:spcAft>
            </a:pPr>
            <a:r>
              <a:rPr sz="1800" b="1">
                <a:solidFill>
                  <a:srgbClr val="F8F6F1"/>
                </a:solidFill>
                <a:latin typeface="Manrope"/>
              </a:rPr>
              <a:t>Ask for a confirmed</a:t>
            </a:r>
          </a:p>
          <a:p>
            <a:pPr>
              <a:lnSpc>
                <a:spcPct val="112000"/>
              </a:lnSpc>
              <a:spcBef>
                <a:spcPts val="0"/>
              </a:spcBef>
              <a:spcAft>
                <a:spcPts val="0"/>
              </a:spcAft>
            </a:pPr>
            <a:r>
              <a:rPr sz="1800" b="1">
                <a:solidFill>
                  <a:srgbClr val="F8F6F1"/>
                </a:solidFill>
                <a:latin typeface="Manrope"/>
              </a:rPr>
              <a:t>November date.</a:t>
            </a:r>
          </a:p>
        </p:txBody>
      </p:sp>
      <p:sp>
        <p:nvSpPr>
          <p:cNvPr id="25" name="Simulation banner"/>
          <p:cNvSpPr/>
          <p:nvPr/>
        </p:nvSpPr>
        <p:spPr>
          <a:xfrm>
            <a:off x="640080" y="5870448"/>
            <a:ext cx="10908792" cy="457200"/>
          </a:xfrm>
          <a:prstGeom prst="roundRect">
            <a:avLst>
              <a:gd name="adj" fmla="val 50000"/>
            </a:avLst>
          </a:prstGeom>
          <a:solidFill>
            <a:srgbClr val="FFF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imulation note"/>
          <p:cNvSpPr txBox="1"/>
          <p:nvPr/>
        </p:nvSpPr>
        <p:spPr>
          <a:xfrm>
            <a:off x="914400" y="5870448"/>
            <a:ext cx="10424160" cy="457200"/>
          </a:xfrm>
          <a:prstGeom prst="rect">
            <a:avLst/>
          </a:prstGeom>
          <a:noFill/>
        </p:spPr>
        <p:txBody>
          <a:bodyPr wrap="square" lIns="0" tIns="0" rIns="0" bIns="0" anchor="ctr">
            <a:spAutoFit/>
          </a:bodyPr>
          <a:lstStyle/>
          <a:p>
            <a:pPr>
              <a:lnSpc>
                <a:spcPct val="105000"/>
              </a:lnSpc>
              <a:spcBef>
                <a:spcPts val="0"/>
              </a:spcBef>
              <a:spcAft>
                <a:spcPts val="0"/>
              </a:spcAft>
            </a:pPr>
            <a:r>
              <a:rPr sz="1500" b="1">
                <a:solidFill>
                  <a:srgbClr val="A76400"/>
                </a:solidFill>
                <a:latin typeface="Manrope"/>
              </a:rPr>
              <a:t>Contact is simulated in this prototype. No message is sent.</a:t>
            </a:r>
          </a:p>
        </p:txBody>
      </p:sp>
      <p:pic>
        <p:nvPicPr>
          <p:cNvPr id="28" name="Official SDtrust SVG">
            <a:extLst>
              <a:ext uri="{FF2B5EF4-FFF2-40B4-BE49-F238E27FC236}">
                <a16:creationId xmlns:a16="http://schemas.microsoft.com/office/drawing/2014/main" id="{8869948F-543F-0A0C-268B-D448878BE9E4}"/>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0080" y="457200"/>
            <a:ext cx="310896"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Dashboard ambient EE6558"/>
          <p:cNvSpPr/>
          <p:nvPr/>
        </p:nvSpPr>
        <p:spPr>
          <a:xfrm>
            <a:off x="7955279" y="0"/>
            <a:ext cx="4233672" cy="3474720"/>
          </a:xfrm>
          <a:prstGeom prst="ellipse">
            <a:avLst/>
          </a:prstGeom>
          <a:gradFill rotWithShape="1">
            <a:gsLst>
              <a:gs pos="0">
                <a:srgbClr val="EE6558">
                  <a:alpha val="0"/>
                </a:srgbClr>
              </a:gs>
              <a:gs pos="100000">
                <a:srgbClr val="EE6558">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ashboard ambient 6F9BE0"/>
          <p:cNvSpPr/>
          <p:nvPr/>
        </p:nvSpPr>
        <p:spPr>
          <a:xfrm>
            <a:off x="0" y="3474720"/>
            <a:ext cx="4937760" cy="3383280"/>
          </a:xfrm>
          <a:prstGeom prst="ellipse">
            <a:avLst/>
          </a:prstGeom>
          <a:gradFill rotWithShape="1">
            <a:gsLst>
              <a:gs pos="0">
                <a:srgbClr val="6F9BE0">
                  <a:alpha val="0"/>
                </a:srgbClr>
              </a:gs>
              <a:gs pos="100000">
                <a:srgbClr val="6F9BE0">
                  <a:alpha val="13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ashboard ambient F2A55A"/>
          <p:cNvSpPr/>
          <p:nvPr/>
        </p:nvSpPr>
        <p:spPr>
          <a:xfrm>
            <a:off x="6675120" y="3017520"/>
            <a:ext cx="3657600" cy="3383280"/>
          </a:xfrm>
          <a:prstGeom prst="ellipse">
            <a:avLst/>
          </a:prstGeom>
          <a:gradFill rotWithShape="1">
            <a:gsLst>
              <a:gs pos="0">
                <a:srgbClr val="F2A55A">
                  <a:alpha val="0"/>
                </a:srgbClr>
              </a:gs>
              <a:gs pos="100000">
                <a:srgbClr val="F2A55A">
                  <a:alpha val="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ashboard brand strip"/>
          <p:cNvSpPr/>
          <p:nvPr/>
        </p:nvSpPr>
        <p:spPr>
          <a:xfrm>
            <a:off x="484632" y="283464"/>
            <a:ext cx="11201400" cy="685800"/>
          </a:xfrm>
          <a:prstGeom prst="roundRect">
            <a:avLst>
              <a:gd name="adj" fmla="val 24000"/>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SDtrust</a:t>
            </a:r>
          </a:p>
        </p:txBody>
      </p:sp>
      <p:sp>
        <p:nvSpPr>
          <p:cNvPr id="8"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5F6F85"/>
                </a:solidFill>
                <a:latin typeface="Manrope"/>
              </a:rPr>
              <a:t>07 / 08</a:t>
            </a:r>
          </a:p>
        </p:txBody>
      </p:sp>
      <p:sp>
        <p:nvSpPr>
          <p:cNvPr id="9"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SICK LEAVE EXAMPLE</a:t>
            </a:r>
          </a:p>
        </p:txBody>
      </p:sp>
      <p:sp>
        <p:nvSpPr>
          <p:cNvPr id="10"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192D46"/>
                </a:solidFill>
                <a:latin typeface="Manrope"/>
              </a:rPr>
              <a:t>Same principle. Another HR question.</a:t>
            </a:r>
          </a:p>
        </p:txBody>
      </p:sp>
      <p:sp>
        <p:nvSpPr>
          <p:cNvPr id="11" name="Question"/>
          <p:cNvSpPr txBox="1"/>
          <p:nvPr/>
        </p:nvSpPr>
        <p:spPr>
          <a:xfrm>
            <a:off x="640080" y="2212848"/>
            <a:ext cx="10515600" cy="384048"/>
          </a:xfrm>
          <a:prstGeom prst="rect">
            <a:avLst/>
          </a:prstGeom>
          <a:noFill/>
        </p:spPr>
        <p:txBody>
          <a:bodyPr wrap="square" lIns="0" tIns="0" rIns="0" bIns="0" anchor="t">
            <a:spAutoFit/>
          </a:bodyPr>
          <a:lstStyle/>
          <a:p>
            <a:pPr>
              <a:lnSpc>
                <a:spcPct val="105000"/>
              </a:lnSpc>
              <a:spcBef>
                <a:spcPts val="0"/>
              </a:spcBef>
              <a:spcAft>
                <a:spcPts val="0"/>
              </a:spcAft>
            </a:pPr>
            <a:r>
              <a:rPr sz="2200" b="0">
                <a:solidFill>
                  <a:srgbClr val="5F6F85"/>
                </a:solidFill>
                <a:latin typeface="Manrope"/>
              </a:rPr>
              <a:t>“When must a sick leave notice be passed on?”</a:t>
            </a:r>
          </a:p>
        </p:txBody>
      </p:sp>
      <p:sp>
        <p:nvSpPr>
          <p:cNvPr id="12" name="Dashboard policy panel 24"/>
          <p:cNvSpPr/>
          <p:nvPr/>
        </p:nvSpPr>
        <p:spPr>
          <a:xfrm>
            <a:off x="512063" y="2788920"/>
            <a:ext cx="4096512" cy="3200400"/>
          </a:xfrm>
          <a:prstGeom prst="roundRect">
            <a:avLst>
              <a:gd name="adj" fmla="val 6285"/>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Hours 24"/>
          <p:cNvSpPr txBox="1"/>
          <p:nvPr/>
        </p:nvSpPr>
        <p:spPr>
          <a:xfrm>
            <a:off x="612647" y="2697480"/>
            <a:ext cx="4114800" cy="2103120"/>
          </a:xfrm>
          <a:prstGeom prst="rect">
            <a:avLst/>
          </a:prstGeom>
          <a:noFill/>
        </p:spPr>
        <p:txBody>
          <a:bodyPr wrap="square" lIns="0" tIns="0" rIns="0" bIns="0" anchor="b">
            <a:spAutoFit/>
          </a:bodyPr>
          <a:lstStyle/>
          <a:p>
            <a:pPr>
              <a:lnSpc>
                <a:spcPct val="90000"/>
              </a:lnSpc>
              <a:spcBef>
                <a:spcPts val="0"/>
              </a:spcBef>
              <a:spcAft>
                <a:spcPts val="0"/>
              </a:spcAft>
            </a:pPr>
            <a:r>
              <a:rPr sz="13200" b="1">
                <a:solidFill>
                  <a:srgbClr val="192D46"/>
                </a:solidFill>
                <a:latin typeface="Manrope"/>
              </a:rPr>
              <a:t>24</a:t>
            </a:r>
            <a:r>
              <a:rPr sz="3300" b="1">
                <a:solidFill>
                  <a:srgbClr val="192D46"/>
                </a:solidFill>
                <a:latin typeface="Manrope"/>
              </a:rPr>
              <a:t> hours</a:t>
            </a:r>
          </a:p>
        </p:txBody>
      </p:sp>
      <p:sp>
        <p:nvSpPr>
          <p:cNvPr id="14" name="Chip: S6 · Approved"/>
          <p:cNvSpPr/>
          <p:nvPr/>
        </p:nvSpPr>
        <p:spPr>
          <a:xfrm>
            <a:off x="640080" y="5010912"/>
            <a:ext cx="1672254" cy="329184"/>
          </a:xfrm>
          <a:prstGeom prst="roundRect">
            <a:avLst>
              <a:gd name="adj" fmla="val 50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hip text: S6 · Approved"/>
          <p:cNvSpPr txBox="1"/>
          <p:nvPr/>
        </p:nvSpPr>
        <p:spPr>
          <a:xfrm>
            <a:off x="640080" y="5010912"/>
            <a:ext cx="1672254" cy="329184"/>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0F7A3A"/>
                </a:solidFill>
                <a:latin typeface="Manrope"/>
              </a:rPr>
              <a:t>S6 · Approved</a:t>
            </a:r>
          </a:p>
        </p:txBody>
      </p:sp>
      <p:sp>
        <p:nvSpPr>
          <p:cNvPr id="16" name="Text: Current Belgian procedure"/>
          <p:cNvSpPr txBox="1"/>
          <p:nvPr/>
        </p:nvSpPr>
        <p:spPr>
          <a:xfrm>
            <a:off x="640080" y="5486400"/>
            <a:ext cx="3931920" cy="548640"/>
          </a:xfrm>
          <a:prstGeom prst="rect">
            <a:avLst/>
          </a:prstGeom>
          <a:noFill/>
        </p:spPr>
        <p:txBody>
          <a:bodyPr wrap="square" lIns="0" tIns="0" rIns="0" bIns="0" anchor="t">
            <a:spAutoFit/>
          </a:bodyPr>
          <a:lstStyle/>
          <a:p>
            <a:pPr>
              <a:lnSpc>
                <a:spcPct val="105000"/>
              </a:lnSpc>
              <a:spcBef>
                <a:spcPts val="0"/>
              </a:spcBef>
              <a:spcAft>
                <a:spcPts val="0"/>
              </a:spcAft>
            </a:pPr>
            <a:r>
              <a:rPr sz="1500" b="0">
                <a:solidFill>
                  <a:srgbClr val="5F6F85"/>
                </a:solidFill>
                <a:latin typeface="Manrope"/>
              </a:rPr>
              <a:t>Current Belgian procedure</a:t>
            </a:r>
          </a:p>
        </p:txBody>
      </p:sp>
      <p:sp>
        <p:nvSpPr>
          <p:cNvPr id="17" name="Dashboard policy panel 48"/>
          <p:cNvSpPr/>
          <p:nvPr/>
        </p:nvSpPr>
        <p:spPr>
          <a:xfrm>
            <a:off x="4901184" y="2788920"/>
            <a:ext cx="3273552" cy="3200400"/>
          </a:xfrm>
          <a:prstGeom prst="roundRect">
            <a:avLst>
              <a:gd name="adj" fmla="val 6285"/>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Hours 48"/>
          <p:cNvSpPr txBox="1"/>
          <p:nvPr/>
        </p:nvSpPr>
        <p:spPr>
          <a:xfrm>
            <a:off x="5001768" y="2697480"/>
            <a:ext cx="3291840" cy="2103120"/>
          </a:xfrm>
          <a:prstGeom prst="rect">
            <a:avLst/>
          </a:prstGeom>
          <a:noFill/>
        </p:spPr>
        <p:txBody>
          <a:bodyPr wrap="square" lIns="0" tIns="0" rIns="0" bIns="0" anchor="b">
            <a:spAutoFit/>
          </a:bodyPr>
          <a:lstStyle/>
          <a:p>
            <a:pPr>
              <a:lnSpc>
                <a:spcPct val="90000"/>
              </a:lnSpc>
              <a:spcBef>
                <a:spcPts val="0"/>
              </a:spcBef>
              <a:spcAft>
                <a:spcPts val="0"/>
              </a:spcAft>
            </a:pPr>
            <a:r>
              <a:rPr sz="8400" b="1">
                <a:solidFill>
                  <a:srgbClr val="A76400"/>
                </a:solidFill>
                <a:latin typeface="Manrope"/>
              </a:rPr>
              <a:t>48</a:t>
            </a:r>
            <a:r>
              <a:rPr sz="2100" b="1">
                <a:solidFill>
                  <a:srgbClr val="A76400"/>
                </a:solidFill>
                <a:latin typeface="Manrope"/>
              </a:rPr>
              <a:t> hours</a:t>
            </a:r>
          </a:p>
        </p:txBody>
      </p:sp>
      <p:sp>
        <p:nvSpPr>
          <p:cNvPr id="19" name="Chip: S7 · Unconfirmed"/>
          <p:cNvSpPr/>
          <p:nvPr/>
        </p:nvSpPr>
        <p:spPr>
          <a:xfrm>
            <a:off x="5029200" y="5010912"/>
            <a:ext cx="1994855" cy="329184"/>
          </a:xfrm>
          <a:prstGeom prst="roundRect">
            <a:avLst>
              <a:gd name="adj" fmla="val 50000"/>
            </a:avLst>
          </a:prstGeom>
          <a:solidFill>
            <a:srgbClr val="FFF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hip text: S7 · Unconfirmed"/>
          <p:cNvSpPr txBox="1"/>
          <p:nvPr/>
        </p:nvSpPr>
        <p:spPr>
          <a:xfrm>
            <a:off x="5029200" y="5010912"/>
            <a:ext cx="1994855" cy="329184"/>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A76400"/>
                </a:solidFill>
                <a:latin typeface="Manrope"/>
              </a:rPr>
              <a:t>S7 · Unconfirmed</a:t>
            </a:r>
          </a:p>
        </p:txBody>
      </p:sp>
      <p:sp>
        <p:nvSpPr>
          <p:cNvPr id="21" name="Text: A Teams message without approval"/>
          <p:cNvSpPr txBox="1"/>
          <p:nvPr/>
        </p:nvSpPr>
        <p:spPr>
          <a:xfrm>
            <a:off x="5029200" y="5486400"/>
            <a:ext cx="3108960" cy="548640"/>
          </a:xfrm>
          <a:prstGeom prst="rect">
            <a:avLst/>
          </a:prstGeom>
          <a:noFill/>
        </p:spPr>
        <p:txBody>
          <a:bodyPr wrap="square" lIns="0" tIns="0" rIns="0" bIns="0" anchor="t">
            <a:spAutoFit/>
          </a:bodyPr>
          <a:lstStyle/>
          <a:p>
            <a:pPr>
              <a:lnSpc>
                <a:spcPct val="105000"/>
              </a:lnSpc>
              <a:spcBef>
                <a:spcPts val="0"/>
              </a:spcBef>
              <a:spcAft>
                <a:spcPts val="0"/>
              </a:spcAft>
            </a:pPr>
            <a:r>
              <a:rPr sz="1500" b="0">
                <a:solidFill>
                  <a:srgbClr val="5F6F85"/>
                </a:solidFill>
                <a:latin typeface="Manrope"/>
              </a:rPr>
              <a:t>A Teams message without approval</a:t>
            </a:r>
          </a:p>
        </p:txBody>
      </p:sp>
      <p:sp>
        <p:nvSpPr>
          <p:cNvPr id="22" name="Dashboard policy panel 72"/>
          <p:cNvSpPr/>
          <p:nvPr/>
        </p:nvSpPr>
        <p:spPr>
          <a:xfrm>
            <a:off x="8467344" y="2788920"/>
            <a:ext cx="2935224" cy="3200400"/>
          </a:xfrm>
          <a:prstGeom prst="roundRect">
            <a:avLst>
              <a:gd name="adj" fmla="val 6853"/>
            </a:avLst>
          </a:prstGeom>
          <a:gradFill rotWithShape="1">
            <a:gsLst>
              <a:gs pos="0">
                <a:srgbClr val="FFFFFF">
                  <a:alpha val="90000"/>
                </a:srgbClr>
              </a:gs>
              <a:gs pos="100000">
                <a:srgbClr val="FFFEFD">
                  <a:alpha val="68000"/>
                </a:srgbClr>
              </a:gs>
            </a:gsLst>
            <a:lin ang="6300000" scaled="1"/>
          </a:gradFill>
          <a:ln w="12700">
            <a:solidFill>
              <a:srgbClr val="FFFFFF"/>
            </a:solidFill>
          </a:ln>
          <a:effectLst>
            <a:outerShdw blurRad="177800" dist="44450" dir="5400000" algn="ctr" rotWithShape="0">
              <a:srgbClr val="192D46">
                <a:alpha val="6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Hours 72"/>
          <p:cNvSpPr txBox="1"/>
          <p:nvPr/>
        </p:nvSpPr>
        <p:spPr>
          <a:xfrm>
            <a:off x="8567928" y="2697480"/>
            <a:ext cx="2953512" cy="2103120"/>
          </a:xfrm>
          <a:prstGeom prst="rect">
            <a:avLst/>
          </a:prstGeom>
          <a:noFill/>
        </p:spPr>
        <p:txBody>
          <a:bodyPr wrap="square" lIns="0" tIns="0" rIns="0" bIns="0" anchor="b">
            <a:spAutoFit/>
          </a:bodyPr>
          <a:lstStyle/>
          <a:p>
            <a:pPr>
              <a:lnSpc>
                <a:spcPct val="90000"/>
              </a:lnSpc>
              <a:spcBef>
                <a:spcPts val="0"/>
              </a:spcBef>
              <a:spcAft>
                <a:spcPts val="0"/>
              </a:spcAft>
            </a:pPr>
            <a:r>
              <a:rPr sz="6000" b="1" strike="sngStrike">
                <a:solidFill>
                  <a:srgbClr val="6F7E91"/>
                </a:solidFill>
                <a:latin typeface="Manrope"/>
              </a:rPr>
              <a:t>72</a:t>
            </a:r>
            <a:r>
              <a:rPr sz="1800" b="1">
                <a:solidFill>
                  <a:srgbClr val="6F7E91"/>
                </a:solidFill>
                <a:latin typeface="Manrope"/>
              </a:rPr>
              <a:t> hours</a:t>
            </a:r>
          </a:p>
        </p:txBody>
      </p:sp>
      <p:sp>
        <p:nvSpPr>
          <p:cNvPr id="24" name="Chip: S34 · Expired"/>
          <p:cNvSpPr/>
          <p:nvPr/>
        </p:nvSpPr>
        <p:spPr>
          <a:xfrm>
            <a:off x="8595360" y="5010912"/>
            <a:ext cx="1672254" cy="329184"/>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hip text: S34 · Expired"/>
          <p:cNvSpPr txBox="1"/>
          <p:nvPr/>
        </p:nvSpPr>
        <p:spPr>
          <a:xfrm>
            <a:off x="8595360" y="5010912"/>
            <a:ext cx="1672254" cy="329184"/>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5F6F85"/>
                </a:solidFill>
                <a:latin typeface="Manrope"/>
              </a:rPr>
              <a:t>S34 · Expired</a:t>
            </a:r>
          </a:p>
        </p:txBody>
      </p:sp>
      <p:sp>
        <p:nvSpPr>
          <p:cNvPr id="26" name="Text: Older procedure, valid until 2025"/>
          <p:cNvSpPr txBox="1"/>
          <p:nvPr/>
        </p:nvSpPr>
        <p:spPr>
          <a:xfrm>
            <a:off x="8595360" y="5486400"/>
            <a:ext cx="2770632" cy="548640"/>
          </a:xfrm>
          <a:prstGeom prst="rect">
            <a:avLst/>
          </a:prstGeom>
          <a:noFill/>
        </p:spPr>
        <p:txBody>
          <a:bodyPr wrap="square" lIns="0" tIns="0" rIns="0" bIns="0" anchor="t">
            <a:spAutoFit/>
          </a:bodyPr>
          <a:lstStyle/>
          <a:p>
            <a:pPr>
              <a:lnSpc>
                <a:spcPct val="105000"/>
              </a:lnSpc>
              <a:spcBef>
                <a:spcPts val="0"/>
              </a:spcBef>
              <a:spcAft>
                <a:spcPts val="0"/>
              </a:spcAft>
            </a:pPr>
            <a:r>
              <a:rPr sz="1500" b="0">
                <a:solidFill>
                  <a:srgbClr val="5F6F85"/>
                </a:solidFill>
                <a:latin typeface="Manrope"/>
              </a:rPr>
              <a:t>Older procedure, valid until 2025</a:t>
            </a:r>
          </a:p>
        </p:txBody>
      </p:sp>
      <p:sp>
        <p:nvSpPr>
          <p:cNvPr id="27" name="Synthetic note"/>
          <p:cNvSpPr txBox="1"/>
          <p:nvPr/>
        </p:nvSpPr>
        <p:spPr>
          <a:xfrm>
            <a:off x="640080" y="6144768"/>
            <a:ext cx="10881360" cy="256032"/>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5F6F85"/>
                </a:solidFill>
                <a:latin typeface="Manrope"/>
              </a:rPr>
              <a:t>Synthetic demo policy · this is not payroll or legal advice</a:t>
            </a:r>
          </a:p>
        </p:txBody>
      </p:sp>
      <p:pic>
        <p:nvPicPr>
          <p:cNvPr id="29" name="Official SDtrust SVG">
            <a:extLst>
              <a:ext uri="{FF2B5EF4-FFF2-40B4-BE49-F238E27FC236}">
                <a16:creationId xmlns:a16="http://schemas.microsoft.com/office/drawing/2014/main" id="{4E6C3B19-EDC5-F08E-314B-1622FEC8D35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457200"/>
            <a:ext cx="310896" cy="310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2D46"/>
        </a:solidFill>
        <a:effectLst/>
      </p:bgPr>
    </p:bg>
    <p:spTree>
      <p:nvGrpSpPr>
        <p:cNvPr id="1" name=""/>
        <p:cNvGrpSpPr/>
        <p:nvPr/>
      </p:nvGrpSpPr>
      <p:grpSpPr>
        <a:xfrm>
          <a:off x="0" y="0"/>
          <a:ext cx="0" cy="0"/>
          <a:chOff x="0" y="0"/>
          <a:chExt cx="0" cy="0"/>
        </a:xfrm>
      </p:grpSpPr>
      <p:sp>
        <p:nvSpPr>
          <p:cNvPr id="2" name="Dashboard ambient EE6558"/>
          <p:cNvSpPr/>
          <p:nvPr/>
        </p:nvSpPr>
        <p:spPr>
          <a:xfrm>
            <a:off x="7955279" y="0"/>
            <a:ext cx="4233672" cy="3474720"/>
          </a:xfrm>
          <a:prstGeom prst="ellipse">
            <a:avLst/>
          </a:prstGeom>
          <a:gradFill rotWithShape="1">
            <a:gsLst>
              <a:gs pos="0">
                <a:srgbClr val="EE6558">
                  <a:alpha val="0"/>
                </a:srgbClr>
              </a:gs>
              <a:gs pos="100000">
                <a:srgbClr val="EE6558">
                  <a:alpha val="1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ashboard ambient 6F9BE0"/>
          <p:cNvSpPr/>
          <p:nvPr/>
        </p:nvSpPr>
        <p:spPr>
          <a:xfrm>
            <a:off x="0" y="3474720"/>
            <a:ext cx="4937760" cy="3383280"/>
          </a:xfrm>
          <a:prstGeom prst="ellipse">
            <a:avLst/>
          </a:prstGeom>
          <a:gradFill rotWithShape="1">
            <a:gsLst>
              <a:gs pos="0">
                <a:srgbClr val="6F9BE0">
                  <a:alpha val="0"/>
                </a:srgbClr>
              </a:gs>
              <a:gs pos="100000">
                <a:srgbClr val="6F9BE0">
                  <a:alpha val="17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ashboard ambient F2A55A"/>
          <p:cNvSpPr/>
          <p:nvPr/>
        </p:nvSpPr>
        <p:spPr>
          <a:xfrm>
            <a:off x="6675120" y="3017520"/>
            <a:ext cx="3657600" cy="3383280"/>
          </a:xfrm>
          <a:prstGeom prst="ellipse">
            <a:avLst/>
          </a:prstGeom>
          <a:gradFill rotWithShape="1">
            <a:gsLst>
              <a:gs pos="0">
                <a:srgbClr val="F2A55A">
                  <a:alpha val="0"/>
                </a:srgbClr>
              </a:gs>
              <a:gs pos="100000">
                <a:srgbClr val="F2A55A">
                  <a:alpha val="8000"/>
                </a:srgbClr>
              </a:gs>
            </a:gsLst>
            <a:path path="circle">
              <a:fillToRect l="50000" t="50000" r="50000" b="50000"/>
            </a:path>
          </a:gradFill>
          <a:ln>
            <a:noFill/>
          </a:ln>
          <a:effectLst>
            <a:softEdge rad="508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ashboard brand strip"/>
          <p:cNvSpPr/>
          <p:nvPr/>
        </p:nvSpPr>
        <p:spPr>
          <a:xfrm>
            <a:off x="484632" y="283464"/>
            <a:ext cx="11201400" cy="685800"/>
          </a:xfrm>
          <a:prstGeom prst="roundRect">
            <a:avLst>
              <a:gd name="adj" fmla="val 24000"/>
            </a:avLst>
          </a:prstGeom>
          <a:gradFill rotWithShape="1">
            <a:gsLst>
              <a:gs pos="0">
                <a:srgbClr val="29435F">
                  <a:alpha val="97000"/>
                </a:srgbClr>
              </a:gs>
              <a:gs pos="100000">
                <a:srgbClr val="172637">
                  <a:alpha val="95000"/>
                </a:srgbClr>
              </a:gs>
            </a:gsLst>
            <a:lin ang="6300000" scaled="1"/>
          </a:gradFill>
          <a:ln w="12700">
            <a:solidFill>
              <a:srgbClr val="31475D"/>
            </a:solidFill>
          </a:ln>
          <a:effectLst>
            <a:outerShdw blurRad="177800" dist="4445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F8F6F1"/>
                </a:solidFill>
                <a:latin typeface="Manrope"/>
              </a:rPr>
              <a:t>SDtrust</a:t>
            </a:r>
          </a:p>
        </p:txBody>
      </p:sp>
      <p:sp>
        <p:nvSpPr>
          <p:cNvPr id="8"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D6DEE8"/>
                </a:solidFill>
                <a:latin typeface="Manrope"/>
              </a:rPr>
              <a:t>08 / 08</a:t>
            </a:r>
          </a:p>
        </p:txBody>
      </p:sp>
      <p:sp>
        <p:nvSpPr>
          <p:cNvPr id="9"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F3BA55"/>
                </a:solidFill>
                <a:latin typeface="Manrope"/>
              </a:rPr>
              <a:t>VALUE FOR SD WORX</a:t>
            </a:r>
          </a:p>
        </p:txBody>
      </p:sp>
      <p:sp>
        <p:nvSpPr>
          <p:cNvPr id="10" name="Title"/>
          <p:cNvSpPr txBox="1"/>
          <p:nvPr/>
        </p:nvSpPr>
        <p:spPr>
          <a:xfrm>
            <a:off x="640080" y="1444752"/>
            <a:ext cx="10881360" cy="859536"/>
          </a:xfrm>
          <a:prstGeom prst="rect">
            <a:avLst/>
          </a:prstGeom>
          <a:noFill/>
        </p:spPr>
        <p:txBody>
          <a:bodyPr wrap="square" lIns="0" tIns="0" rIns="0" bIns="0" anchor="t">
            <a:spAutoFit/>
          </a:bodyPr>
          <a:lstStyle/>
          <a:p>
            <a:pPr>
              <a:lnSpc>
                <a:spcPct val="98000"/>
              </a:lnSpc>
              <a:spcBef>
                <a:spcPts val="0"/>
              </a:spcBef>
              <a:spcAft>
                <a:spcPts val="0"/>
              </a:spcAft>
            </a:pPr>
            <a:r>
              <a:rPr sz="5400" b="1">
                <a:solidFill>
                  <a:srgbClr val="F8F6F1"/>
                </a:solidFill>
                <a:latin typeface="Manrope"/>
              </a:rPr>
              <a:t>Less searching.</a:t>
            </a:r>
          </a:p>
        </p:txBody>
      </p:sp>
      <p:sp>
        <p:nvSpPr>
          <p:cNvPr id="11" name="Closing promise"/>
          <p:cNvSpPr txBox="1"/>
          <p:nvPr/>
        </p:nvSpPr>
        <p:spPr>
          <a:xfrm>
            <a:off x="640080" y="2267712"/>
            <a:ext cx="10881360" cy="859536"/>
          </a:xfrm>
          <a:prstGeom prst="rect">
            <a:avLst/>
          </a:prstGeom>
          <a:noFill/>
        </p:spPr>
        <p:txBody>
          <a:bodyPr wrap="square" lIns="0" tIns="0" rIns="0" bIns="0" anchor="t">
            <a:spAutoFit/>
          </a:bodyPr>
          <a:lstStyle/>
          <a:p>
            <a:pPr>
              <a:lnSpc>
                <a:spcPct val="98000"/>
              </a:lnSpc>
              <a:spcBef>
                <a:spcPts val="0"/>
              </a:spcBef>
              <a:spcAft>
                <a:spcPts val="0"/>
              </a:spcAft>
            </a:pPr>
            <a:r>
              <a:rPr sz="5400" b="1">
                <a:solidFill>
                  <a:srgbClr val="F8F6F1"/>
                </a:solidFill>
                <a:latin typeface="Manrope"/>
              </a:rPr>
              <a:t>Better judgement.</a:t>
            </a:r>
          </a:p>
        </p:txBody>
      </p:sp>
      <p:sp>
        <p:nvSpPr>
          <p:cNvPr id="12" name="Value line"/>
          <p:cNvSpPr txBox="1"/>
          <p:nvPr/>
        </p:nvSpPr>
        <p:spPr>
          <a:xfrm>
            <a:off x="640080" y="3200400"/>
            <a:ext cx="7863840" cy="731520"/>
          </a:xfrm>
          <a:prstGeom prst="rect">
            <a:avLst/>
          </a:prstGeom>
          <a:noFill/>
        </p:spPr>
        <p:txBody>
          <a:bodyPr wrap="square" lIns="0" tIns="0" rIns="0" bIns="0" anchor="t">
            <a:spAutoFit/>
          </a:bodyPr>
          <a:lstStyle/>
          <a:p>
            <a:pPr>
              <a:lnSpc>
                <a:spcPct val="112000"/>
              </a:lnSpc>
              <a:spcBef>
                <a:spcPts val="0"/>
              </a:spcBef>
              <a:spcAft>
                <a:spcPts val="0"/>
              </a:spcAft>
            </a:pPr>
            <a:r>
              <a:rPr sz="2100" b="0">
                <a:solidFill>
                  <a:srgbClr val="D6DEE8"/>
                </a:solidFill>
                <a:latin typeface="Manrope"/>
              </a:rPr>
              <a:t>Help people use the right context without maintaining another knowledge portal.</a:t>
            </a:r>
          </a:p>
        </p:txBody>
      </p:sp>
      <p:sp>
        <p:nvSpPr>
          <p:cNvPr id="13" name="Text: NEXT STEP · A FOCUSED PILOT"/>
          <p:cNvSpPr txBox="1"/>
          <p:nvPr/>
        </p:nvSpPr>
        <p:spPr>
          <a:xfrm>
            <a:off x="640080" y="4544568"/>
            <a:ext cx="54864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F3BA55"/>
                </a:solidFill>
                <a:latin typeface="Manrope"/>
              </a:rPr>
              <a:t>NEXT STEP · A FOCUSED PILOT</a:t>
            </a:r>
          </a:p>
        </p:txBody>
      </p:sp>
      <p:sp>
        <p:nvSpPr>
          <p:cNvPr id="14" name="Chip: Future pilot, not yet measured"/>
          <p:cNvSpPr/>
          <p:nvPr/>
        </p:nvSpPr>
        <p:spPr>
          <a:xfrm>
            <a:off x="8988552" y="4498848"/>
            <a:ext cx="2560320" cy="310896"/>
          </a:xfrm>
          <a:prstGeom prst="roundRect">
            <a:avLst>
              <a:gd name="adj" fmla="val 50000"/>
            </a:avLst>
          </a:prstGeom>
          <a:noFill/>
          <a:ln w="12700">
            <a:solidFill>
              <a:srgbClr val="4961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hip text: Future pilot, not yet measured"/>
          <p:cNvSpPr txBox="1"/>
          <p:nvPr/>
        </p:nvSpPr>
        <p:spPr>
          <a:xfrm>
            <a:off x="8988552" y="4498848"/>
            <a:ext cx="2560320" cy="310896"/>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D6DEE8"/>
                </a:solidFill>
                <a:latin typeface="Manrope"/>
              </a:rPr>
              <a:t>Future pilot, not yet measured</a:t>
            </a:r>
          </a:p>
        </p:txBody>
      </p:sp>
      <p:sp>
        <p:nvSpPr>
          <p:cNvPr id="16" name="Pilot glass panel"/>
          <p:cNvSpPr/>
          <p:nvPr/>
        </p:nvSpPr>
        <p:spPr>
          <a:xfrm>
            <a:off x="548640" y="4837176"/>
            <a:ext cx="3767328" cy="1417320"/>
          </a:xfrm>
          <a:prstGeom prst="roundRect">
            <a:avLst>
              <a:gd name="adj" fmla="val 12258"/>
            </a:avLst>
          </a:prstGeom>
          <a:gradFill rotWithShape="1">
            <a:gsLst>
              <a:gs pos="0">
                <a:srgbClr val="29435F">
                  <a:alpha val="97000"/>
                </a:srgbClr>
              </a:gs>
              <a:gs pos="100000">
                <a:srgbClr val="172637">
                  <a:alpha val="95000"/>
                </a:srgbClr>
              </a:gs>
            </a:gsLst>
            <a:lin ang="6300000" scaled="1"/>
          </a:gradFill>
          <a:ln w="12700">
            <a:solidFill>
              <a:srgbClr val="31475D"/>
            </a:solidFill>
          </a:ln>
          <a:effectLst>
            <a:outerShdw blurRad="177800" dist="4445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Pilot glass panel"/>
          <p:cNvSpPr/>
          <p:nvPr/>
        </p:nvSpPr>
        <p:spPr>
          <a:xfrm>
            <a:off x="4389120" y="4837176"/>
            <a:ext cx="3767328" cy="1417320"/>
          </a:xfrm>
          <a:prstGeom prst="roundRect">
            <a:avLst>
              <a:gd name="adj" fmla="val 12258"/>
            </a:avLst>
          </a:prstGeom>
          <a:gradFill rotWithShape="1">
            <a:gsLst>
              <a:gs pos="0">
                <a:srgbClr val="29435F">
                  <a:alpha val="97000"/>
                </a:srgbClr>
              </a:gs>
              <a:gs pos="100000">
                <a:srgbClr val="172637">
                  <a:alpha val="95000"/>
                </a:srgbClr>
              </a:gs>
            </a:gsLst>
            <a:lin ang="6300000" scaled="1"/>
          </a:gradFill>
          <a:ln w="12700">
            <a:solidFill>
              <a:srgbClr val="31475D"/>
            </a:solidFill>
          </a:ln>
          <a:effectLst>
            <a:outerShdw blurRad="177800" dist="4445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ilot glass panel"/>
          <p:cNvSpPr/>
          <p:nvPr/>
        </p:nvSpPr>
        <p:spPr>
          <a:xfrm>
            <a:off x="8229600" y="4837176"/>
            <a:ext cx="3767328" cy="1417320"/>
          </a:xfrm>
          <a:prstGeom prst="roundRect">
            <a:avLst>
              <a:gd name="adj" fmla="val 12258"/>
            </a:avLst>
          </a:prstGeom>
          <a:gradFill rotWithShape="1">
            <a:gsLst>
              <a:gs pos="0">
                <a:srgbClr val="29435F">
                  <a:alpha val="97000"/>
                </a:srgbClr>
              </a:gs>
              <a:gs pos="100000">
                <a:srgbClr val="172637">
                  <a:alpha val="95000"/>
                </a:srgbClr>
              </a:gs>
            </a:gsLst>
            <a:lin ang="6300000" scaled="1"/>
          </a:gradFill>
          <a:ln w="12700">
            <a:solidFill>
              <a:srgbClr val="31475D"/>
            </a:solidFill>
          </a:ln>
          <a:effectLst>
            <a:outerShdw blurRad="177800" dist="4445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ilot dot 1"/>
          <p:cNvSpPr/>
          <p:nvPr/>
        </p:nvSpPr>
        <p:spPr>
          <a:xfrm>
            <a:off x="640080" y="4983480"/>
            <a:ext cx="512064" cy="512064"/>
          </a:xfrm>
          <a:prstGeom prst="ellipse">
            <a:avLst/>
          </a:prstGeom>
          <a:solidFill>
            <a:srgbClr val="EE6558"/>
          </a:solidFill>
          <a:ln w="12700">
            <a:solidFill>
              <a:srgbClr val="EE6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 1"/>
          <p:cNvSpPr txBox="1"/>
          <p:nvPr/>
        </p:nvSpPr>
        <p:spPr>
          <a:xfrm>
            <a:off x="640080" y="4983480"/>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F8F6F1"/>
                </a:solidFill>
                <a:latin typeface="Manrope"/>
              </a:rPr>
              <a:t>1</a:t>
            </a:r>
          </a:p>
        </p:txBody>
      </p:sp>
      <p:sp>
        <p:nvSpPr>
          <p:cNvPr id="21" name="Text: Connect safely"/>
          <p:cNvSpPr txBox="1"/>
          <p:nvPr/>
        </p:nvSpPr>
        <p:spPr>
          <a:xfrm>
            <a:off x="1325880" y="5001768"/>
            <a:ext cx="2926080" cy="365760"/>
          </a:xfrm>
          <a:prstGeom prst="rect">
            <a:avLst/>
          </a:prstGeom>
          <a:noFill/>
        </p:spPr>
        <p:txBody>
          <a:bodyPr wrap="square" lIns="0" tIns="0" rIns="0" bIns="0" anchor="t">
            <a:spAutoFit/>
          </a:bodyPr>
          <a:lstStyle/>
          <a:p>
            <a:pPr>
              <a:lnSpc>
                <a:spcPct val="105000"/>
              </a:lnSpc>
              <a:spcBef>
                <a:spcPts val="0"/>
              </a:spcBef>
              <a:spcAft>
                <a:spcPts val="0"/>
              </a:spcAft>
            </a:pPr>
            <a:r>
              <a:rPr sz="2000" b="1">
                <a:solidFill>
                  <a:srgbClr val="F8F6F1"/>
                </a:solidFill>
                <a:latin typeface="Manrope"/>
              </a:rPr>
              <a:t>Connect safely</a:t>
            </a:r>
          </a:p>
        </p:txBody>
      </p:sp>
      <p:sp>
        <p:nvSpPr>
          <p:cNvPr id="22" name="Text: Authorised sources and access controls"/>
          <p:cNvSpPr txBox="1"/>
          <p:nvPr/>
        </p:nvSpPr>
        <p:spPr>
          <a:xfrm>
            <a:off x="1325880" y="5413248"/>
            <a:ext cx="3017520" cy="603504"/>
          </a:xfrm>
          <a:prstGeom prst="rect">
            <a:avLst/>
          </a:prstGeom>
          <a:noFill/>
        </p:spPr>
        <p:txBody>
          <a:bodyPr wrap="square" lIns="0" tIns="0" rIns="0" bIns="0" anchor="t">
            <a:spAutoFit/>
          </a:bodyPr>
          <a:lstStyle/>
          <a:p>
            <a:pPr>
              <a:lnSpc>
                <a:spcPct val="112000"/>
              </a:lnSpc>
              <a:spcBef>
                <a:spcPts val="0"/>
              </a:spcBef>
              <a:spcAft>
                <a:spcPts val="0"/>
              </a:spcAft>
            </a:pPr>
            <a:r>
              <a:rPr sz="1400" b="0">
                <a:solidFill>
                  <a:srgbClr val="D6DEE8"/>
                </a:solidFill>
                <a:latin typeface="Manrope"/>
              </a:rPr>
              <a:t>Authorised sources</a:t>
            </a:r>
          </a:p>
          <a:p>
            <a:pPr>
              <a:lnSpc>
                <a:spcPct val="112000"/>
              </a:lnSpc>
              <a:spcBef>
                <a:spcPts val="0"/>
              </a:spcBef>
              <a:spcAft>
                <a:spcPts val="0"/>
              </a:spcAft>
            </a:pPr>
            <a:r>
              <a:rPr sz="1400" b="0">
                <a:solidFill>
                  <a:srgbClr val="D6DEE8"/>
                </a:solidFill>
                <a:latin typeface="Manrope"/>
              </a:rPr>
              <a:t>and access controls</a:t>
            </a:r>
          </a:p>
        </p:txBody>
      </p:sp>
      <p:sp>
        <p:nvSpPr>
          <p:cNvPr id="23" name="Pilot dot 2"/>
          <p:cNvSpPr/>
          <p:nvPr/>
        </p:nvSpPr>
        <p:spPr>
          <a:xfrm>
            <a:off x="4480560" y="4983480"/>
            <a:ext cx="512064" cy="512064"/>
          </a:xfrm>
          <a:prstGeom prst="ellipse">
            <a:avLst/>
          </a:prstGeom>
          <a:solidFill>
            <a:srgbClr val="29435F"/>
          </a:solidFill>
          <a:ln w="12700">
            <a:solidFill>
              <a:srgbClr val="4961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 2"/>
          <p:cNvSpPr txBox="1"/>
          <p:nvPr/>
        </p:nvSpPr>
        <p:spPr>
          <a:xfrm>
            <a:off x="4480560" y="4983480"/>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F8F6F1"/>
                </a:solidFill>
                <a:latin typeface="Manrope"/>
              </a:rPr>
              <a:t>2</a:t>
            </a:r>
          </a:p>
        </p:txBody>
      </p:sp>
      <p:sp>
        <p:nvSpPr>
          <p:cNvPr id="25" name="Text: Close the loop"/>
          <p:cNvSpPr txBox="1"/>
          <p:nvPr/>
        </p:nvSpPr>
        <p:spPr>
          <a:xfrm>
            <a:off x="5166360" y="5001768"/>
            <a:ext cx="2926080" cy="365760"/>
          </a:xfrm>
          <a:prstGeom prst="rect">
            <a:avLst/>
          </a:prstGeom>
          <a:noFill/>
        </p:spPr>
        <p:txBody>
          <a:bodyPr wrap="square" lIns="0" tIns="0" rIns="0" bIns="0" anchor="t">
            <a:spAutoFit/>
          </a:bodyPr>
          <a:lstStyle/>
          <a:p>
            <a:pPr>
              <a:lnSpc>
                <a:spcPct val="105000"/>
              </a:lnSpc>
              <a:spcBef>
                <a:spcPts val="0"/>
              </a:spcBef>
              <a:spcAft>
                <a:spcPts val="0"/>
              </a:spcAft>
            </a:pPr>
            <a:r>
              <a:rPr sz="2000" b="1">
                <a:solidFill>
                  <a:srgbClr val="F8F6F1"/>
                </a:solidFill>
                <a:latin typeface="Manrope"/>
              </a:rPr>
              <a:t>Close the loop</a:t>
            </a:r>
          </a:p>
        </p:txBody>
      </p:sp>
      <p:sp>
        <p:nvSpPr>
          <p:cNvPr id="26" name="Text: Real colleague confirmation when evidence is missing"/>
          <p:cNvSpPr txBox="1"/>
          <p:nvPr/>
        </p:nvSpPr>
        <p:spPr>
          <a:xfrm>
            <a:off x="5166360" y="5413248"/>
            <a:ext cx="3017520" cy="603504"/>
          </a:xfrm>
          <a:prstGeom prst="rect">
            <a:avLst/>
          </a:prstGeom>
          <a:noFill/>
        </p:spPr>
        <p:txBody>
          <a:bodyPr wrap="square" lIns="0" tIns="0" rIns="0" bIns="0" anchor="t">
            <a:spAutoFit/>
          </a:bodyPr>
          <a:lstStyle/>
          <a:p>
            <a:pPr>
              <a:lnSpc>
                <a:spcPct val="112000"/>
              </a:lnSpc>
              <a:spcBef>
                <a:spcPts val="0"/>
              </a:spcBef>
              <a:spcAft>
                <a:spcPts val="0"/>
              </a:spcAft>
            </a:pPr>
            <a:r>
              <a:rPr sz="1400" b="0">
                <a:solidFill>
                  <a:srgbClr val="D6DEE8"/>
                </a:solidFill>
                <a:latin typeface="Manrope"/>
              </a:rPr>
              <a:t>Real colleague confirmation</a:t>
            </a:r>
          </a:p>
          <a:p>
            <a:pPr>
              <a:lnSpc>
                <a:spcPct val="112000"/>
              </a:lnSpc>
              <a:spcBef>
                <a:spcPts val="0"/>
              </a:spcBef>
              <a:spcAft>
                <a:spcPts val="0"/>
              </a:spcAft>
            </a:pPr>
            <a:r>
              <a:rPr sz="1400" b="0">
                <a:solidFill>
                  <a:srgbClr val="D6DEE8"/>
                </a:solidFill>
                <a:latin typeface="Manrope"/>
              </a:rPr>
              <a:t>when evidence is missing</a:t>
            </a:r>
          </a:p>
        </p:txBody>
      </p:sp>
      <p:sp>
        <p:nvSpPr>
          <p:cNvPr id="27" name="Pilot dot 3"/>
          <p:cNvSpPr/>
          <p:nvPr/>
        </p:nvSpPr>
        <p:spPr>
          <a:xfrm>
            <a:off x="8321040" y="4983480"/>
            <a:ext cx="512064" cy="512064"/>
          </a:xfrm>
          <a:prstGeom prst="ellipse">
            <a:avLst/>
          </a:prstGeom>
          <a:solidFill>
            <a:srgbClr val="29435F"/>
          </a:solidFill>
          <a:ln w="12700">
            <a:solidFill>
              <a:srgbClr val="4961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 3"/>
          <p:cNvSpPr txBox="1"/>
          <p:nvPr/>
        </p:nvSpPr>
        <p:spPr>
          <a:xfrm>
            <a:off x="8321040" y="4983480"/>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F8F6F1"/>
                </a:solidFill>
                <a:latin typeface="Manrope"/>
              </a:rPr>
              <a:t>3</a:t>
            </a:r>
          </a:p>
        </p:txBody>
      </p:sp>
      <p:sp>
        <p:nvSpPr>
          <p:cNvPr id="29" name="Text: Measure value"/>
          <p:cNvSpPr txBox="1"/>
          <p:nvPr/>
        </p:nvSpPr>
        <p:spPr>
          <a:xfrm>
            <a:off x="9006840" y="5001768"/>
            <a:ext cx="2926080" cy="365760"/>
          </a:xfrm>
          <a:prstGeom prst="rect">
            <a:avLst/>
          </a:prstGeom>
          <a:noFill/>
        </p:spPr>
        <p:txBody>
          <a:bodyPr wrap="square" lIns="0" tIns="0" rIns="0" bIns="0" anchor="t">
            <a:spAutoFit/>
          </a:bodyPr>
          <a:lstStyle/>
          <a:p>
            <a:pPr>
              <a:lnSpc>
                <a:spcPct val="105000"/>
              </a:lnSpc>
              <a:spcBef>
                <a:spcPts val="0"/>
              </a:spcBef>
              <a:spcAft>
                <a:spcPts val="0"/>
              </a:spcAft>
            </a:pPr>
            <a:r>
              <a:rPr sz="2000" b="1">
                <a:solidFill>
                  <a:srgbClr val="F8F6F1"/>
                </a:solidFill>
                <a:latin typeface="Manrope"/>
              </a:rPr>
              <a:t>Measure value</a:t>
            </a:r>
          </a:p>
        </p:txBody>
      </p:sp>
      <p:sp>
        <p:nvSpPr>
          <p:cNvPr id="30" name="Text: Time to a supported answer and expert interruptions"/>
          <p:cNvSpPr txBox="1"/>
          <p:nvPr/>
        </p:nvSpPr>
        <p:spPr>
          <a:xfrm>
            <a:off x="9006840" y="5413248"/>
            <a:ext cx="3017520" cy="603504"/>
          </a:xfrm>
          <a:prstGeom prst="rect">
            <a:avLst/>
          </a:prstGeom>
          <a:noFill/>
        </p:spPr>
        <p:txBody>
          <a:bodyPr wrap="square" lIns="0" tIns="0" rIns="0" bIns="0" anchor="t">
            <a:spAutoFit/>
          </a:bodyPr>
          <a:lstStyle/>
          <a:p>
            <a:pPr>
              <a:lnSpc>
                <a:spcPct val="112000"/>
              </a:lnSpc>
              <a:spcBef>
                <a:spcPts val="0"/>
              </a:spcBef>
              <a:spcAft>
                <a:spcPts val="0"/>
              </a:spcAft>
            </a:pPr>
            <a:r>
              <a:rPr sz="1400" b="0">
                <a:solidFill>
                  <a:srgbClr val="D6DEE8"/>
                </a:solidFill>
                <a:latin typeface="Manrope"/>
              </a:rPr>
              <a:t>Time to a supported answer</a:t>
            </a:r>
          </a:p>
          <a:p>
            <a:pPr>
              <a:lnSpc>
                <a:spcPct val="112000"/>
              </a:lnSpc>
              <a:spcBef>
                <a:spcPts val="0"/>
              </a:spcBef>
              <a:spcAft>
                <a:spcPts val="0"/>
              </a:spcAft>
            </a:pPr>
            <a:r>
              <a:rPr sz="1400" b="0">
                <a:solidFill>
                  <a:srgbClr val="D6DEE8"/>
                </a:solidFill>
                <a:latin typeface="Manrope"/>
              </a:rPr>
              <a:t>and expert interruptions</a:t>
            </a:r>
          </a:p>
        </p:txBody>
      </p:sp>
      <p:pic>
        <p:nvPicPr>
          <p:cNvPr id="32" name="Official SDtrust SVG">
            <a:extLst>
              <a:ext uri="{FF2B5EF4-FFF2-40B4-BE49-F238E27FC236}">
                <a16:creationId xmlns:a16="http://schemas.microsoft.com/office/drawing/2014/main" id="{C829FA13-E5B2-28F9-A636-CF640409FAF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457200"/>
            <a:ext cx="310896" cy="3108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1769</Words>
  <Application>Microsoft Office PowerPoint</Application>
  <PresentationFormat>Breedbeeld</PresentationFormat>
  <Paragraphs>269</Paragraphs>
  <Slides>8</Slides>
  <Notes>8</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8</vt:i4>
      </vt:variant>
    </vt:vector>
  </HeadingPairs>
  <TitlesOfParts>
    <vt:vector size="12" baseType="lpstr">
      <vt:lpstr>Calibri</vt:lpstr>
      <vt:lpstr>Manrope</vt:lpstr>
      <vt:lpstr>Arial</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SDtrust | Tectonic Hackathon Finals | Dashboard v3</dc:title>
  <dc:subject>Dashboard visual version of the reviewed v1 pitch, with an editable demo storyboard</dc:subject>
  <dc:creator>Sebastian, Roy and Wanne</dc:creator>
  <cp:keywords>SDtrust, Finn, SD Worx, Tectonic, v3</cp:keywords>
  <dc:description>Synthetic fixture examples. This deck does not certify app runtime or security.</dc:description>
  <cp:lastModifiedBy>Sebastien De Couvreur</cp:lastModifiedBy>
  <cp:revision>2</cp:revision>
  <dcterms:created xsi:type="dcterms:W3CDTF">2013-01-27T09:14:16Z</dcterms:created>
  <dcterms:modified xsi:type="dcterms:W3CDTF">2026-10-20T11:01:35Z</dcterms:modified>
  <cp:category/>
</cp:coreProperties>
</file>